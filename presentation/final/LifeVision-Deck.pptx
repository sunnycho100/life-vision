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292444d45b4feb" /><Relationship Type="http://schemas.openxmlformats.org/officeDocument/2006/relationships/extended-properties" Target="/docProps/app.xml" Id="Rb717a8a5688e4de7" /><Relationship Type="http://schemas.openxmlformats.org/officeDocument/2006/relationships/officeDocument" Target="/ppt/presentation.xml" Id="R9f9b68db114f44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70928fee864022"/>
  </p:sldMasterIdLst>
  <p:notesMasterIdLst>
    <p:notesMasterId xmlns:r="http://schemas.openxmlformats.org/officeDocument/2006/relationships" r:id="R1b2d369f01db4663"/>
  </p:notesMasterIdLst>
  <p:sldIdLst>
    <p:sldId xmlns:r="http://schemas.openxmlformats.org/officeDocument/2006/relationships" id="256" r:id="R37201a5075214f99"/>
    <p:sldId xmlns:r="http://schemas.openxmlformats.org/officeDocument/2006/relationships" id="257" r:id="R429dfb8332b3471b"/>
    <p:sldId xmlns:r="http://schemas.openxmlformats.org/officeDocument/2006/relationships" id="258" r:id="R80978650819c4627"/>
    <p:sldId xmlns:r="http://schemas.openxmlformats.org/officeDocument/2006/relationships" id="259" r:id="R263c05df67f24885"/>
    <p:sldId xmlns:r="http://schemas.openxmlformats.org/officeDocument/2006/relationships" id="260" r:id="R156f8898b0864403"/>
    <p:sldId xmlns:r="http://schemas.openxmlformats.org/officeDocument/2006/relationships" id="261" r:id="Rfcc7fa8fac86453b"/>
    <p:sldId xmlns:r="http://schemas.openxmlformats.org/officeDocument/2006/relationships" id="262" r:id="R20e04ec58ece4a7d"/>
    <p:sldId xmlns:r="http://schemas.openxmlformats.org/officeDocument/2006/relationships" id="263" r:id="R3d5f73d61850497a"/>
    <p:sldId xmlns:r="http://schemas.openxmlformats.org/officeDocument/2006/relationships" id="264" r:id="Ra916d0cd4cee4880"/>
    <p:sldId xmlns:r="http://schemas.openxmlformats.org/officeDocument/2006/relationships" id="265" r:id="R277f590a38f84855"/>
    <p:sldId xmlns:r="http://schemas.openxmlformats.org/officeDocument/2006/relationships" id="266" r:id="R9368a10045a64c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2baa7ee3c34c81" /><Relationship Type="http://schemas.openxmlformats.org/officeDocument/2006/relationships/slideMaster" Target="/ppt/slideMasters/slideMaster1.xml" Id="R8370928fee864022" /><Relationship Type="http://schemas.openxmlformats.org/officeDocument/2006/relationships/notesMaster" Target="/ppt/notesMasters/notesMaster1.xml" Id="R1b2d369f01db4663" /><Relationship Type="http://schemas.openxmlformats.org/officeDocument/2006/relationships/presProps" Target="/ppt/presProps.xml" Id="R5e70917ae5214d9d" /><Relationship Type="http://schemas.openxmlformats.org/officeDocument/2006/relationships/tableStyles" Target="/ppt/tableStyles.xml" Id="Rf24260f9f1e84ab1" /><Relationship Type="http://schemas.openxmlformats.org/officeDocument/2006/relationships/slide" Target="/ppt/slides/slide1.xml" Id="R37201a5075214f99" /><Relationship Type="http://schemas.openxmlformats.org/officeDocument/2006/relationships/slide" Target="/ppt/slides/slide2.xml" Id="R429dfb8332b3471b" /><Relationship Type="http://schemas.openxmlformats.org/officeDocument/2006/relationships/slide" Target="/ppt/slides/slide3.xml" Id="R80978650819c4627" /><Relationship Type="http://schemas.openxmlformats.org/officeDocument/2006/relationships/slide" Target="/ppt/slides/slide4.xml" Id="R263c05df67f24885" /><Relationship Type="http://schemas.openxmlformats.org/officeDocument/2006/relationships/slide" Target="/ppt/slides/slide5.xml" Id="R156f8898b0864403" /><Relationship Type="http://schemas.openxmlformats.org/officeDocument/2006/relationships/slide" Target="/ppt/slides/slide6.xml" Id="Rfcc7fa8fac86453b" /><Relationship Type="http://schemas.openxmlformats.org/officeDocument/2006/relationships/slide" Target="/ppt/slides/slide7.xml" Id="R20e04ec58ece4a7d" /><Relationship Type="http://schemas.openxmlformats.org/officeDocument/2006/relationships/slide" Target="/ppt/slides/slide8.xml" Id="R3d5f73d61850497a" /><Relationship Type="http://schemas.openxmlformats.org/officeDocument/2006/relationships/slide" Target="/ppt/slides/slide9.xml" Id="Ra916d0cd4cee4880" /><Relationship Type="http://schemas.openxmlformats.org/officeDocument/2006/relationships/slide" Target="/ppt/slides/slide10.xml" Id="R277f590a38f84855" /><Relationship Type="http://schemas.openxmlformats.org/officeDocument/2006/relationships/slide" Target="/ppt/slides/slide11.xml" Id="R9368a10045a64c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44a84fb74c4c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33bb548f4e4b7a" /><Relationship Type="http://schemas.openxmlformats.org/officeDocument/2006/relationships/notesMaster" Target="/ppt/notesMasters/notesMaster1.xml" Id="R9ecf0a4f97ca47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5a8fcf4deb41ce" /><Relationship Type="http://schemas.openxmlformats.org/officeDocument/2006/relationships/notesMaster" Target="/ppt/notesMasters/notesMaster1.xml" Id="Rff3013072dc24d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d9de57348942de" /><Relationship Type="http://schemas.openxmlformats.org/officeDocument/2006/relationships/notesMaster" Target="/ppt/notesMasters/notesMaster1.xml" Id="Rc3afb76ff64e48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79e70d2aef4d1a" /><Relationship Type="http://schemas.openxmlformats.org/officeDocument/2006/relationships/notesMaster" Target="/ppt/notesMasters/notesMaster1.xml" Id="R595d498d2f7647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c9f550cd754125" /><Relationship Type="http://schemas.openxmlformats.org/officeDocument/2006/relationships/notesMaster" Target="/ppt/notesMasters/notesMaster1.xml" Id="Rb7a1dff2eca145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60e02ceafb4dd5" /><Relationship Type="http://schemas.openxmlformats.org/officeDocument/2006/relationships/notesMaster" Target="/ppt/notesMasters/notesMaster1.xml" Id="R4c8850ccb1354d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9ba44530aa41a9" /><Relationship Type="http://schemas.openxmlformats.org/officeDocument/2006/relationships/notesMaster" Target="/ppt/notesMasters/notesMaster1.xml" Id="Rb0bbe92e81ac42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8e2af94e654848" /><Relationship Type="http://schemas.openxmlformats.org/officeDocument/2006/relationships/notesMaster" Target="/ppt/notesMasters/notesMaster1.xml" Id="R8b249c603c1447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397fb25e6042de" /><Relationship Type="http://schemas.openxmlformats.org/officeDocument/2006/relationships/notesMaster" Target="/ppt/notesMasters/notesMaster1.xml" Id="R7e39c641c0554b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77a4fb93b543e4" /><Relationship Type="http://schemas.openxmlformats.org/officeDocument/2006/relationships/notesMaster" Target="/ppt/notesMasters/notesMaster1.xml" Id="R643c8b8b171749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40e02649dd4ad2" /><Relationship Type="http://schemas.openxmlformats.org/officeDocument/2006/relationships/notesMaster" Target="/ppt/notesMasters/notesMaster1.xml" Id="Rb3ba6016a5b14d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asset is an AI-generated integration concept, not deployed hardware. Team names supplied by project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CDC Vital Signs May2024: https://www.cdc.gov/vitalsigns/drowning/index.html . +28% compares U.S. ages1–4 rate2022vs2019; no claim of uninterrupted trend after2022. Pool image is a generated illustrative safe scene.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architecture: head not above water primary; lost inside pool backup. 5s and12s are configurable prototype thresholds, not a validated rescue window. Existing provider-camera integration is planned; current build uses prerecorded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graphic supplied by user. Model and deployment branches describe the overall build and proposed provider-camera route. See repository docs/global/architecture.md and presentation/technical-story.md.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sim/README.md: MuJoCo and Isaac Sim support synthetic scenarios. Avoid absolute claim that no drowning dataset exists. NVIDIA logo from https://nvidianews.nvidia.com/multimedia/corporate/nvidia-logos . Google DeepMind logo source: https://storage.googleapis.com/gdm-deepmind-com-prod-public/media/images/0xBk-c8kzB5UTrWs/nav__gdm-lockup__light.height-25.svg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 source model/README.md: stockYOLO11n16% vsIsaac-trainedYOLO11n95% recall headfullyunderwater,20s held-out clip235 submerged boxes. Photos are MuJoCo examples; metric is explicitly Isaac Sim. Synthetic train/test same scene andcharacters; not real pool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editable chart recreates data-results.png in teal/grey using model/README.md exactvalues. RFDETRSmall person threshold.25. Samevideo train+valid: optimistic forotherpools. Original user chart preserved in assets/data-results.png.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18→4 IDs for4realpeople on simulation,resurface scenario. RFDETRN fine-tuned onMuJoCo plus edge logic. Source presentation/data/sim_results.csv and technical-story.md. Dotted hold is a configurable gap grace period, not universal fixed under1s.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supplied by user. Explicitly state liveinference vsprerecordedinference vsscriptedoutput during demo. Title unchanged as requested; app label should read LifeVision.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prerecorded reviewapp implemented. Cloud and camera providerAPI routes futuredeploymentoptions. No evidence forcheaper/faster comparativeclaim. No validatedlifeguardwindow claimed. Asset AI-generated integrationconcept.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scope per suppliedbrief. No detectionofdrowningclaim. Closing supervisioncaveat required. Native nestedcircles are editable requesteddiagram.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2ec55ff504a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752e9858594b1a" /><Relationship Type="http://schemas.openxmlformats.org/officeDocument/2006/relationships/slideLayout" Target="/ppt/slideLayouts/slideLayout1.xml" Id="R1eebe319c78d47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ebe319c78d47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525ad56984a42" /><Relationship Type="http://schemas.openxmlformats.org/officeDocument/2006/relationships/image" Target="/ppt/media/image.png" Id="R20a052d9be734dff" /><Relationship Type="http://schemas.openxmlformats.org/officeDocument/2006/relationships/notesSlide" Target="/ppt/notesSlides/notesSlide1.xml" Id="R947bf16d0b5049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f7b6c7ad24cd4" /><Relationship Type="http://schemas.openxmlformats.org/officeDocument/2006/relationships/image" Target="/ppt/media/image2.png" Id="Re13bfde98123486a" /><Relationship Type="http://schemas.openxmlformats.org/officeDocument/2006/relationships/notesSlide" Target="/ppt/notesSlides/notesSlide2.xml" Id="R490b03ee3edd4e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218b118374853" /><Relationship Type="http://schemas.openxmlformats.org/officeDocument/2006/relationships/image" Target="/ppt/media/image3.png" Id="R99e390263d8f4236" /><Relationship Type="http://schemas.openxmlformats.org/officeDocument/2006/relationships/notesSlide" Target="/ppt/notesSlides/notesSlide3.xml" Id="Rcbe7e9aa0f1c42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998f2a94b4afb" /><Relationship Type="http://schemas.openxmlformats.org/officeDocument/2006/relationships/image" Target="/ppt/media/image4.png" Id="Rf93b886fdde84c81" /><Relationship Type="http://schemas.openxmlformats.org/officeDocument/2006/relationships/notesSlide" Target="/ppt/notesSlides/notesSlide4.xml" Id="Ra7b5dbc428dd4b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fa4c31adf4bc7" /><Relationship Type="http://schemas.openxmlformats.org/officeDocument/2006/relationships/image" Target="/ppt/media/image5.png" Id="Rebda55765f7c45fc" /><Relationship Type="http://schemas.openxmlformats.org/officeDocument/2006/relationships/image" Target="/ppt/media/image6.png" Id="Ra2222016681b4a44" /><Relationship Type="http://schemas.openxmlformats.org/officeDocument/2006/relationships/image" Target="/ppt/media/image7.png" Id="R7bb19cd361f0418a" /><Relationship Type="http://schemas.openxmlformats.org/officeDocument/2006/relationships/notesSlide" Target="/ppt/notesSlides/notesSlide5.xml" Id="R50f6fd1a8f9645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d58de28334649" /><Relationship Type="http://schemas.openxmlformats.org/officeDocument/2006/relationships/image" Target="/ppt/media/image8.png" Id="Rad4fbe56a8ad4ead" /><Relationship Type="http://schemas.openxmlformats.org/officeDocument/2006/relationships/image" Target="/ppt/media/image9.png" Id="Rcf8dc0b3dab64697" /><Relationship Type="http://schemas.openxmlformats.org/officeDocument/2006/relationships/notesSlide" Target="/ppt/notesSlides/notesSlide6.xml" Id="Rf733c578b96d40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159db18854179" /><Relationship Type="http://schemas.openxmlformats.org/officeDocument/2006/relationships/chart" Target="/ppt/slides/charts/chart1.xml" Id="Rb7817d96590c474d" /><Relationship Type="http://schemas.openxmlformats.org/officeDocument/2006/relationships/notesSlide" Target="/ppt/notesSlides/notesSlide7.xml" Id="R035c1055181946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0ea96fbfb4dca" /><Relationship Type="http://schemas.openxmlformats.org/officeDocument/2006/relationships/image" Target="/ppt/media/image10.png" Id="R57f7efc9e5ba4f6b" /><Relationship Type="http://schemas.openxmlformats.org/officeDocument/2006/relationships/notesSlide" Target="/ppt/notesSlides/notesSlide8.xml" Id="Rd1b48cbf0d5847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0822832aa4ee2" /><Relationship Type="http://schemas.openxmlformats.org/officeDocument/2006/relationships/image" Target="/ppt/media/image11.png" Id="R8a7f690f366d415d" /><Relationship Type="http://schemas.openxmlformats.org/officeDocument/2006/relationships/notesSlide" Target="/ppt/notesSlides/notesSlide9.xml" Id="Re66ce5fe5e0f45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8f2b3928d47b3" /><Relationship Type="http://schemas.openxmlformats.org/officeDocument/2006/relationships/image" Target="/ppt/media/image12.png" Id="R895f895d60c3443a" /><Relationship Type="http://schemas.openxmlformats.org/officeDocument/2006/relationships/notesSlide" Target="/ppt/notesSlides/notesSlide10.xml" Id="Rc01ca8d2ceb34e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e9614d5284759" /><Relationship Type="http://schemas.openxmlformats.org/officeDocument/2006/relationships/notesSlide" Target="/ppt/notesSlides/notesSlide11.xml" Id="R4acd58e102614f0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Pretrained</c:v>
          </c:tx>
          <c:spPr>
            <a:solidFill xmlns:a="http://schemas.openxmlformats.org/drawingml/2006/main">
              <a:srgbClr val="C7CED1"/>
            </a:solidFill>
          </c:spPr>
          <c:cat>
            <c:strRef>
              <c:f>'Chart Data'!$A$2:$A$4</c:f>
              <c:strCache>
                <c:ptCount val="3"/>
                <c:pt idx="0">
                  <c:v>AP50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0.569</c:v>
                </c:pt>
                <c:pt idx="1">
                  <c:v>0.266</c:v>
                </c:pt>
                <c:pt idx="2">
                  <c:v>0.393</c:v>
                </c:pt>
              </c:numCache>
            </c:numRef>
          </c:val>
        </c:ser>
        <c:ser>
          <c:idx val="1"/>
          <c:order val="1"/>
          <c:tx>
            <c:v>Fine-tuned</c:v>
          </c:tx>
          <c:spPr>
            <a:solidFill xmlns:a="http://schemas.openxmlformats.org/drawingml/2006/main">
              <a:srgbClr val="0F766E"/>
            </a:solidFill>
          </c:spPr>
          <c:cat>
            <c:strRef>
              <c:f>'Chart Data'!$C$2:$C$4</c:f>
              <c:strCache>
                <c:ptCount val="3"/>
                <c:pt idx="0">
                  <c:v>AP50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0.809</c:v>
                </c:pt>
                <c:pt idx="1">
                  <c:v>0.838</c:v>
                </c:pt>
                <c:pt idx="2">
                  <c:v>0.748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7008C-6127-42B7-B76A-3143F59C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6791D-C6D1-4481-A157-F0B9F44C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B70"/>
                </a:solidFill>
                <a:latin typeface="Arial"/>
                <a:ea typeface="Arial"/>
                <a:cs typeface="Arial"/>
              </a:rPr>
              <a:t>LIFEVISION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7B7F9-00FB-43FE-98A8-9FC0097C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1A1C"/>
                </a:solidFill>
                <a:latin typeface="Arial"/>
                <a:ea typeface="Arial"/>
                <a:cs typeface="Arial"/>
              </a:defRPr>
            </a:pPr>
            <a:r>
              <a:t>A pool camera that </a:t>
            </a:r>
            <a:r>
              <a:rPr>
                <a:solidFill>
                  <a:srgbClr val="0F766E"/>
                </a:solidFill>
              </a:rPr>
              <a:t>notices</a:t>
            </a:r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226A2-FC0B-47AD-BC08-947C4CAF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817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052d9be734dff"/>
          <a:srcRect xmlns:a="http://schemas.openxmlformats.org/drawingml/2006/main" l="23939" t="0" r="239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514350"/>
            <a:ext cx="5133975" cy="5543550"/>
          </a:xfrm>
          <a:prstGeom xmlns:a="http://schemas.openxmlformats.org/drawingml/2006/main" prst="roundRect">
            <a:avLst>
              <a:gd name="adj" fmla="val 222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AF934-08DE-40A4-AE6E-2F39F452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LifeVision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04671-49AF-457D-BF21-0785E36E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5286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Finds people in pool footage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477BA-BDB8-4C01-B06C-75E0E3B4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5286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Keeps one ID on each person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A8660-C66F-4C36-86A9-6E3DDF96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5286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Warns when someone stays out of 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66457-A158-41B4-A60F-321DCE3F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Sunny · David · Rohan · Joanne · Sam</a:t>
            </a:r>
          </a:p>
        </p:txBody>
      </p:sp>
    </p:spTree>
    <p:extLst>
      <p:ext uri="{BB962C8B-B14F-4D97-AF65-F5344CB8AC3E}">
        <p14:creationId xmlns:p14="http://schemas.microsoft.com/office/powerpoint/2010/main" val="18040569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67E08-9256-483F-9C5D-47DB2F57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E6659-9DAC-4428-ACB3-6F0074C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B70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F09D9-7602-49E4-8088-43638116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1A1C"/>
                </a:solidFill>
                <a:latin typeface="Arial"/>
                <a:ea typeface="Arial"/>
                <a:cs typeface="Arial"/>
              </a:defRPr>
            </a:pPr>
            <a:r>
              <a:t>Drowning is </a:t>
            </a:r>
            <a:r>
              <a:rPr>
                <a:solidFill>
                  <a:srgbClr val="0F766E"/>
                </a:solidFill>
              </a:rPr>
              <a:t>silent</a:t>
            </a:r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8A9AE-4D9A-454C-A050-CE6FBB8E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817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bfde98123486a"/>
          <a:srcRect xmlns:a="http://schemas.openxmlformats.org/drawingml/2006/main" l="22144" t="0" r="221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0575" y="2428875"/>
            <a:ext cx="2800350" cy="2828925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99D1D-8657-4A5F-966E-EE05E914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811AC-D4EB-44AB-A9AA-C51CEA53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cause of death</a:t>
            </a:r>
          </a:p>
          <a:p xmlns:a="http://schemas.openxmlformats.org/drawingml/2006/main">
            <a:pPr>
              <a:defRPr sz="1875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for U.S. children ages 1 to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B0DA4-32FD-42B6-9FC4-2CA0525F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76500"/>
            <a:ext cx="3810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+28%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32DF7-053B-42D0-94E9-58701909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higher drowning death rate</a:t>
            </a:r>
          </a:p>
          <a:p xmlns:a="http://schemas.openxmlformats.org/drawingml/2006/main">
            <a:pPr>
              <a:defRPr sz="1875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ages 1 to 4, 2022 vs. 2019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0CFFC-543F-4E88-A1E2-8C335241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We chose pool safety before factory falls</a:t>
            </a:r>
          </a:p>
        </p:txBody>
      </p:sp>
    </p:spTree>
    <p:extLst>
      <p:ext uri="{BB962C8B-B14F-4D97-AF65-F5344CB8AC3E}">
        <p14:creationId xmlns:p14="http://schemas.microsoft.com/office/powerpoint/2010/main" val="631503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81FC2-61A7-4575-BC60-F1871685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63104-BC35-4B58-B956-8A7AC3F8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B70"/>
                </a:solidFill>
                <a:latin typeface="Arial"/>
                <a:ea typeface="Arial"/>
                <a:cs typeface="Arial"/>
              </a:rPr>
              <a:t>OUR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D0E96-F339-4078-B6A9-98606A2C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1A1C"/>
                </a:solidFill>
                <a:latin typeface="Arial"/>
                <a:ea typeface="Arial"/>
                <a:cs typeface="Arial"/>
              </a:defRPr>
            </a:pPr>
            <a:r>
              <a:t>Uses the camera you </a:t>
            </a:r>
            <a:r>
              <a:rPr>
                <a:solidFill>
                  <a:srgbClr val="0F766E"/>
                </a:solidFill>
              </a:rPr>
              <a:t>already own</a:t>
            </a:r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6340A-C57B-4EAA-BFFA-151F2D0E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817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8A9C1-E8D4-4CAA-AB5B-EEC701F2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4476750" cy="447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154D0-3247-47F4-92B4-579B8412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43150"/>
            <a:ext cx="5934075" cy="3438525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181A1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F9D4B-9095-44C3-8E7B-57068ADF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781675"/>
            <a:ext cx="6343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4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390263d8f4236"/>
          <a:stretch xmlns:a="http://schemas.openxmlformats.org/drawingml/2006/main"/>
        </p:blipFill>
        <p:spPr>
          <a:xfrm xmlns:a="http://schemas.openxmlformats.org/drawingml/2006/main">
            <a:off x="5738825" y="2486025"/>
            <a:ext cx="5391125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97B0C-655E-4E99-9C61-9333522D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4552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Finds people and keeps one ID each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529EA-7D48-4F88-A61C-D4F5C61E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4552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Head state drives the alert timer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3F46D-A316-41D8-A0DA-CBA440AE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552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Lost inside the pool is a backup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151CD-5A97-4454-AFAF-EDBBC748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5 s warning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DFC6E-0118-4CE8-AEAD-03C10445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38675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F44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12 s alarm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26132-0349-4ABC-8DF5-BBE90553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Prototype thresholds. An adult responds</a:t>
            </a:r>
          </a:p>
        </p:txBody>
      </p:sp>
    </p:spTree>
    <p:extLst>
      <p:ext uri="{BB962C8B-B14F-4D97-AF65-F5344CB8AC3E}">
        <p14:creationId xmlns:p14="http://schemas.microsoft.com/office/powerpoint/2010/main" val="16803605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0D3A1-E3E8-41EC-A237-C72B3CED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08006-274A-4097-A901-52965C7D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B70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D48A2-3EA7-4CF3-AE57-2BD5B688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1A1C"/>
                </a:solidFill>
                <a:latin typeface="Arial"/>
                <a:ea typeface="Arial"/>
                <a:cs typeface="Arial"/>
              </a:defRPr>
            </a:pPr>
            <a:r>
              <a:t>The </a:t>
            </a:r>
            <a:r>
              <a:rPr>
                <a:solidFill>
                  <a:srgbClr val="0F766E"/>
                </a:solidFill>
              </a:rPr>
              <a:t>full pipeline</a:t>
            </a:r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7B49A-F11A-49F3-B899-6AFBB04A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817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b886fdde84c81"/>
          <a:stretch xmlns:a="http://schemas.openxmlformats.org/drawingml/2006/main"/>
        </p:blipFill>
        <p:spPr>
          <a:xfrm xmlns:a="http://schemas.openxmlformats.org/drawingml/2006/main">
            <a:off x="2163699" y="2076450"/>
            <a:ext cx="7845552" cy="4086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439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5C8B4-D73C-4806-87FA-8A457EDC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3BCE9-51F1-450C-93A3-F78DB949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B70"/>
                </a:solidFill>
                <a:latin typeface="Arial"/>
                <a:ea typeface="Arial"/>
                <a:cs typeface="Arial"/>
              </a:rPr>
              <a:t>THE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267B3-0096-40E1-81AA-E46A269D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1A1C"/>
                </a:solidFill>
                <a:latin typeface="Arial"/>
                <a:ea typeface="Arial"/>
                <a:cs typeface="Arial"/>
              </a:defRPr>
            </a:pPr>
            <a:r>
              <a:t>Bridging </a:t>
            </a:r>
            <a:r>
              <a:rPr>
                <a:solidFill>
                  <a:srgbClr val="0F766E"/>
                </a:solidFill>
              </a:rPr>
              <a:t>simulation and real pools</a:t>
            </a:r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F9123-DDD0-425D-ADA2-D10E9FB3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817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a55765f7c45fc"/>
          <a:stretch xmlns:a="http://schemas.openxmlformats.org/drawingml/2006/main"/>
        </p:blipFill>
        <p:spPr>
          <a:xfrm xmlns:a="http://schemas.openxmlformats.org/drawingml/2006/main">
            <a:off x="6238875" y="2373141"/>
            <a:ext cx="5238750" cy="3092793"/>
          </a:xfrm>
          <a:prstGeom xmlns:a="http://schemas.openxmlformats.org/drawingml/2006/main" prst="roundRect">
            <a:avLst>
              <a:gd name="adj" fmla="val 338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AAF94-7340-41B8-8928-12245D3C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We did not have suitable child footage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AF000-8F81-4198-B641-D4ACE01F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We cannot ethically film drowning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64C92-C12A-4233-8689-84497745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Simulation supplies labeled scenarios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22016681b4a44"/>
          <a:stretch xmlns:a="http://schemas.openxmlformats.org/drawingml/2006/main"/>
        </p:blipFill>
        <p:spPr>
          <a:xfrm xmlns:a="http://schemas.openxmlformats.org/drawingml/2006/main">
            <a:off x="703810" y="4552950"/>
            <a:ext cx="1726104" cy="97155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9E48A-DD96-495A-8A1E-EB543C63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Isaac Sim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19cd361f0418a"/>
          <a:stretch xmlns:a="http://schemas.openxmlformats.org/drawingml/2006/main"/>
        </p:blipFill>
        <p:spPr>
          <a:xfrm xmlns:a="http://schemas.openxmlformats.org/drawingml/2006/main">
            <a:off x="2876550" y="4761433"/>
            <a:ext cx="2476500" cy="345033"/>
          </a:xfrm>
          <a:prstGeom xmlns:a="http://schemas.openxmlformats.org/drawingml/2006/main" prst="roundRect">
            <a:avLst>
              <a:gd name="adj" fmla="val 2307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D19E7-CFC0-4359-8505-C176AC84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911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MuJoCo</a:t>
            </a:r>
          </a:p>
        </p:txBody>
      </p:sp>
    </p:spTree>
    <p:extLst>
      <p:ext uri="{BB962C8B-B14F-4D97-AF65-F5344CB8AC3E}">
        <p14:creationId xmlns:p14="http://schemas.microsoft.com/office/powerpoint/2010/main" val="13120049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0A899-1E2E-4541-A639-BD9D5E3C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B9453-0106-4D4F-9F56-16B9B1E4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B70"/>
                </a:solidFill>
                <a:latin typeface="Arial"/>
                <a:ea typeface="Arial"/>
                <a:cs typeface="Arial"/>
              </a:rPr>
              <a:t>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697B2-22BC-46F3-8418-97C7A9CF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1A1C"/>
                </a:solidFill>
                <a:latin typeface="Arial"/>
                <a:ea typeface="Arial"/>
                <a:cs typeface="Arial"/>
              </a:defRPr>
            </a:pPr>
            <a:r>
              <a:t>Data we </a:t>
            </a:r>
            <a:r>
              <a:rPr>
                <a:solidFill>
                  <a:srgbClr val="0F766E"/>
                </a:solidFill>
              </a:rPr>
              <a:t>could not film</a:t>
            </a:r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779FD-2C27-4988-8F90-0254D057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817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fbe56a8ad4ead"/>
          <a:stretch xmlns:a="http://schemas.openxmlformats.org/drawingml/2006/main"/>
        </p:blipFill>
        <p:spPr>
          <a:xfrm xmlns:a="http://schemas.openxmlformats.org/drawingml/2006/main">
            <a:off x="1149350" y="2257425"/>
            <a:ext cx="4216400" cy="2371725"/>
          </a:xfrm>
          <a:prstGeom xmlns:a="http://schemas.openxmlformats.org/drawingml/2006/main" prst="roundRect">
            <a:avLst>
              <a:gd name="adj" fmla="val 4819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dc0b3dab64697"/>
          <a:stretch xmlns:a="http://schemas.openxmlformats.org/drawingml/2006/main"/>
        </p:blipFill>
        <p:spPr>
          <a:xfrm xmlns:a="http://schemas.openxmlformats.org/drawingml/2006/main">
            <a:off x="6645275" y="2257425"/>
            <a:ext cx="4216400" cy="2371725"/>
          </a:xfrm>
          <a:prstGeom xmlns:a="http://schemas.openxmlformats.org/drawingml/2006/main" prst="roundRect">
            <a:avLst>
              <a:gd name="adj" fmla="val 481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721B8-7BC0-484E-8594-5F62355B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MuJoCo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2EF7D-0F64-48D1-BFE2-BFF9B081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672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Higher-quality simulated scene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513F8-76AF-4595-8715-0BE8A6A2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5143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16%  →  95%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4405E-45D7-4C13-81A4-0DD1075E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72075"/>
            <a:ext cx="5048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Stock YOLO11n vs. our Isaac-trained model</a:t>
            </a:r>
          </a:p>
          <a:p xmlns:a="http://schemas.openxmlformats.org/drawingml/2006/main">
            <a:pPr>
              <a:defRPr sz="1875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Head underwater recall, on simulation</a:t>
            </a:r>
          </a:p>
        </p:txBody>
      </p:sp>
    </p:spTree>
    <p:extLst>
      <p:ext uri="{BB962C8B-B14F-4D97-AF65-F5344CB8AC3E}">
        <p14:creationId xmlns:p14="http://schemas.microsoft.com/office/powerpoint/2010/main" val="18109747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F3A18-9343-43A6-A1CF-BC6C405D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8E341-0E50-49A3-ACF8-5B47C3BE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B70"/>
                </a:solidFill>
                <a:latin typeface="Arial"/>
                <a:ea typeface="Arial"/>
                <a:cs typeface="Arial"/>
              </a:rPr>
              <a:t>FINE-TUNING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CAA79-FE29-4A4C-84AA-4581C47C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1A1C"/>
                </a:solidFill>
                <a:latin typeface="Arial"/>
                <a:ea typeface="Arial"/>
                <a:cs typeface="Arial"/>
              </a:defRPr>
            </a:pPr>
            <a:r>
              <a:t>Trained on a </a:t>
            </a:r>
            <a:r>
              <a:rPr>
                <a:solidFill>
                  <a:srgbClr val="0F766E"/>
                </a:solidFill>
              </a:rPr>
              <a:t>real wave pool</a:t>
            </a:r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40F32-FA75-4F1D-A0FD-C3FDD0F5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817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" y="2352675"/>
          <a:ext xmlns:a="http://schemas.openxmlformats.org/drawingml/2006/main" cx="6762750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817d96590c474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F282A-EFF6-4A25-A92B-7DEDEFBC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384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A7956-0B3D-44C9-B530-74A84D2B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24175"/>
            <a:ext cx="3124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666B70"/>
                </a:solidFill>
                <a:latin typeface="Arial"/>
                <a:ea typeface="Arial"/>
                <a:cs typeface="Arial"/>
              </a:rPr>
              <a:t>0.39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D5557-C08B-482A-AA92-E9C66174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695700"/>
            <a:ext cx="361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→ 0.75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F212E-4BD1-4773-8D2E-BDDB8A24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Hand labels, then Claude Vision with our 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B4BB2-368A-4F5F-AA58-AE687A2A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1028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16 validation frames from the same source video</a:t>
            </a:r>
          </a:p>
        </p:txBody>
      </p:sp>
    </p:spTree>
    <p:extLst>
      <p:ext uri="{BB962C8B-B14F-4D97-AF65-F5344CB8AC3E}">
        <p14:creationId xmlns:p14="http://schemas.microsoft.com/office/powerpoint/2010/main" val="1714145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E73EA-C094-4861-B5A3-FEFE4A76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69AAF-031D-4C4B-97B5-72A9365F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B70"/>
                </a:solidFill>
                <a:latin typeface="Arial"/>
                <a:ea typeface="Arial"/>
                <a:cs typeface="Arial"/>
              </a:rPr>
              <a:t>TRACKING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C430E-378D-43A6-A818-A85FB40F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1A1C"/>
                </a:solidFill>
                <a:latin typeface="Arial"/>
                <a:ea typeface="Arial"/>
                <a:cs typeface="Arial"/>
              </a:defRPr>
            </a:pPr>
            <a:r>
              <a:t/>
            </a:r>
            <a:r>
              <a:rPr>
                <a:solidFill>
                  <a:srgbClr val="0F766E"/>
                </a:solidFill>
              </a:rPr>
              <a:t>One ID</a:t>
            </a:r>
            <a:r>
              <a:t> per person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055F8-FCE9-4385-B614-6630CC07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817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7efc9e5ba4f6b"/>
          <a:stretch xmlns:a="http://schemas.openxmlformats.org/drawingml/2006/main"/>
        </p:blipFill>
        <p:spPr>
          <a:xfrm xmlns:a="http://schemas.openxmlformats.org/drawingml/2006/main">
            <a:off x="1125008" y="2343150"/>
            <a:ext cx="9922933" cy="2790825"/>
          </a:xfrm>
          <a:prstGeom xmlns:a="http://schemas.openxmlformats.org/drawingml/2006/main" prst="roundRect">
            <a:avLst>
              <a:gd name="adj" fmla="val 409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2D02F-7A3A-406F-8ADE-3B889E7D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29225"/>
            <a:ext cx="523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66B70"/>
                </a:solidFill>
                <a:latin typeface="Arial"/>
                <a:ea typeface="Arial"/>
                <a:cs typeface="Arial"/>
              </a:rPr>
              <a:t>Stock model: 18 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6E94B-CA92-40BA-B714-143B1BBD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29225"/>
            <a:ext cx="523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Our tracker: 4 IDs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B480E-A3CA-4EA0-99EB-08714294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Briefly lost boxes stay dotted and keep their ID</a:t>
            </a:r>
          </a:p>
        </p:txBody>
      </p:sp>
    </p:spTree>
    <p:extLst>
      <p:ext uri="{BB962C8B-B14F-4D97-AF65-F5344CB8AC3E}">
        <p14:creationId xmlns:p14="http://schemas.microsoft.com/office/powerpoint/2010/main" val="18901575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59862-7564-4139-AFF0-6BC1EBFE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1DBC2-04E3-4E8F-AE0B-2DC64F08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B70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8773A-8075-46ED-B383-4CE02082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1A1C"/>
                </a:solidFill>
                <a:latin typeface="Arial"/>
                <a:ea typeface="Arial"/>
                <a:cs typeface="Arial"/>
              </a:defRPr>
            </a:pPr>
            <a:r>
              <a:t>See it </a:t>
            </a:r>
            <a:r>
              <a:rPr>
                <a:solidFill>
                  <a:srgbClr val="0F766E"/>
                </a:solidFill>
              </a:rPr>
              <a:t>run</a:t>
            </a:r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ADC3D-66D0-45D9-A7BF-2C1E12D1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817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EB1B0-CC36-493F-B33C-D474E138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4476750" cy="447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6ED00-BC5C-464D-96A2-1AA449DF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43150"/>
            <a:ext cx="5934075" cy="3438525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181A1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A7BF0-DB04-4FE6-A2FD-E7CC7FC9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781675"/>
            <a:ext cx="6343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4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f690f366d415d"/>
          <a:stretch xmlns:a="http://schemas.openxmlformats.org/drawingml/2006/main"/>
        </p:blipFill>
        <p:spPr>
          <a:xfrm xmlns:a="http://schemas.openxmlformats.org/drawingml/2006/main">
            <a:off x="5738825" y="2486025"/>
            <a:ext cx="5391125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DC8F5-70AD-46F2-9BE5-B153EE09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LifeVision review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EC70E-B7F4-4B45-A21A-8E2C30DB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443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Switch to the working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0F6DD-43DC-4FFC-9BED-82E18533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43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Recorded backup ready</a:t>
            </a:r>
          </a:p>
        </p:txBody>
      </p:sp>
    </p:spTree>
    <p:extLst>
      <p:ext uri="{BB962C8B-B14F-4D97-AF65-F5344CB8AC3E}">
        <p14:creationId xmlns:p14="http://schemas.microsoft.com/office/powerpoint/2010/main" val="15824375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F4AA5-C24C-4991-8554-89138CCC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A8DBF-F5E0-4730-8B20-EB0C1407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B70"/>
                </a:solidFill>
                <a:latin typeface="Arial"/>
                <a:ea typeface="Arial"/>
                <a:cs typeface="Arial"/>
              </a:rPr>
              <a:t>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477B8-48F5-4636-AFAF-44310998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1A1C"/>
                </a:solidFill>
                <a:latin typeface="Arial"/>
                <a:ea typeface="Arial"/>
                <a:cs typeface="Arial"/>
              </a:defRPr>
            </a:pPr>
            <a:r>
              <a:t>Two ways to </a:t>
            </a:r>
            <a:r>
              <a:rPr>
                <a:solidFill>
                  <a:srgbClr val="0F766E"/>
                </a:solidFill>
              </a:rPr>
              <a:t>bring it home</a:t>
            </a:r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892D9-95E0-426C-A4EE-091F591F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817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569A8-9837-4127-8EF2-3E159ED8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F2C6A-DB54-49B1-9131-7CC3C23B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62300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Configurable</a:t>
            </a:r>
          </a:p>
          <a:p xmlns:a="http://schemas.openxmlformats.org/drawingml/2006/main">
            <a:pPr>
              <a:defRPr sz="24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alert timer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02F26-F577-409E-9CE7-D1AAF1BC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495550"/>
            <a:ext cx="285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B1041-F890-48C3-9231-BB1512BB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05075"/>
            <a:ext cx="647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Local today: footage stays 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B3CB8-08CD-4C28-A48A-59575F7D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38475"/>
            <a:ext cx="647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Cloud route: proposed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8C4EC-DB9E-4AD5-885A-08A84667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71875"/>
            <a:ext cx="647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Provider camera APIs: planned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f895d60c3443a"/>
          <a:srcRect xmlns:a="http://schemas.openxmlformats.org/drawingml/2006/main" l="0" t="8047" r="0" b="8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72375" y="4410075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</p:spTree>
    <p:extLst>
      <p:ext uri="{BB962C8B-B14F-4D97-AF65-F5344CB8AC3E}">
        <p14:creationId xmlns:p14="http://schemas.microsoft.com/office/powerpoint/2010/main" val="12866979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540FB-8051-4B40-9172-706DEEF5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4448B-8B02-47CC-B7B5-27F5EE34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B70"/>
                </a:solidFill>
                <a:latin typeface="Arial"/>
                <a:ea typeface="Arial"/>
                <a:cs typeface="Arial"/>
              </a:rPr>
              <a:t>WHAT’S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8F89B-1D57-4DD6-8861-D6BEFEC7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1A1C"/>
                </a:solidFill>
                <a:latin typeface="Arial"/>
                <a:ea typeface="Arial"/>
                <a:cs typeface="Arial"/>
              </a:defRPr>
            </a:pPr>
            <a:r>
              <a:t>From pools to </a:t>
            </a:r>
            <a:r>
              <a:rPr>
                <a:solidFill>
                  <a:srgbClr val="0F766E"/>
                </a:solidFill>
              </a:rPr>
              <a:t>every camera</a:t>
            </a:r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B551B-CF75-4426-B952-AAB5D6CB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817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9EB53-06EF-47A4-AC0F-F89695AC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276475"/>
            <a:ext cx="4133850" cy="413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352C1-267E-459F-AFFF-D26442B3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3718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A48E9-2570-4CBC-8F6B-03744E1F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48200"/>
            <a:ext cx="1657350" cy="1657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C2BDB-F888-4B51-B4D0-84BC8B08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Factories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A63A0-B52B-431C-BF0F-2B8D43E3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F766E"/>
                </a:solidFill>
                <a:latin typeface="Arial"/>
                <a:ea typeface="Arial"/>
                <a:cs typeface="Arial"/>
              </a:rPr>
              <a:t>Home cameras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06124-C94D-46CA-9662-0A6D5A0A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2197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Pools today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8967B-77A5-4E11-98F5-CFAD2A7C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633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Keep fine-tuning on real pools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90DF0-C41C-46A5-AC78-73C17DBF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633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More edge cases from Isaac Sim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D292B-A762-40AB-94E1-F1B8EC28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633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B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B70"/>
                </a:solidFill>
                <a:latin typeface="Arial"/>
                <a:ea typeface="Arial"/>
                <a:cs typeface="Arial"/>
              </a:rPr>
              <a:t>→ Camera partners with privacy 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DCE23-3AAC-41EF-8174-6011E28F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1A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1A1C"/>
                </a:solidFill>
                <a:latin typeface="Arial"/>
                <a:ea typeface="Arial"/>
                <a:cs typeface="Arial"/>
              </a:rPr>
              <a:t>A supervision aid, not a replacement</a:t>
            </a:r>
          </a:p>
          <a:p xmlns:a="http://schemas.openxmlformats.org/drawingml/2006/main">
            <a:pPr>
              <a:defRPr sz="2175" b="1">
                <a:solidFill>
                  <a:srgbClr val="181A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1A1C"/>
                </a:solidFill>
                <a:latin typeface="Arial"/>
                <a:ea typeface="Arial"/>
                <a:cs typeface="Arial"/>
              </a:rPr>
              <a:t>for watching children</a:t>
            </a:r>
          </a:p>
        </p:txBody>
      </p:sp>
    </p:spTree>
    <p:extLst>
      <p:ext uri="{BB962C8B-B14F-4D97-AF65-F5344CB8AC3E}">
        <p14:creationId xmlns:p14="http://schemas.microsoft.com/office/powerpoint/2010/main" val="2058390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2026-09-27T18:03:41.1880000Z</dcterms:created>
  <dcterms:modified xsi:type="dcterms:W3CDTF">2026-09-27T18:03:41.1880000Z</dcterms:modified>
</coreProperties>
</file>