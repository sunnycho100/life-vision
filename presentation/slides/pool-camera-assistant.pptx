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Barlow"/>
      <ns0:bold ns1:id="rIdFont17"/>
      <ns0:regular ns1:id="rIdFont18"/>
    </ns0:embeddedFont>
    <ns0:embeddedFont>
      <ns0:font typeface="JetBrains Mono"/>
      <ns0:bold ns1:id="rIdFont19"/>
      <ns0:regular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c0b63c99-86df-4a9d-b467-f27490705ee9.fntdata" /><ns0:Relationship Id="rIdFont18" Type="http://schemas.openxmlformats.org/officeDocument/2006/relationships/font" Target="fonts/31534f28-21f2-4544-a87f-dd47b879e165.fntdata" /><ns0:Relationship Id="rIdFont19" Type="http://schemas.openxmlformats.org/officeDocument/2006/relationships/font" Target="fonts/b4e7a71a-bbf8-4a49-8275-1c7ebad428a3.fntdata" /><ns0:Relationship Id="rIdFont20" Type="http://schemas.openxmlformats.org/officeDocument/2006/relationships/font" Target="fonts/2ba700b2-5f59-43c4-9591-b76319af894a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609600"/>
            <a:ext cx="5334000" cy="5638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5525" y="619125"/>
            <a:ext cx="5314950" cy="5619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575494"/>
            <a:ext cx="6667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Barlow"/>
              </a:rPr>
              <a:t>POOL CAMERA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889819"/>
            <a:ext cx="5700712" cy="9200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2"/>
              </a:lnSpc>
            </a:pPr>
            <a:r>
              <a:rPr b="1" sz="3150" i="0" u="none">
                <a:solidFill>
                  <a:srgbClr val="FFFFFF"/>
                </a:solidFill>
                <a:latin typeface="Barlow"/>
              </a:rPr>
              <a:t>PARENTS LOSE TRACK FOR A FEW SECONDS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120580"/>
            <a:ext cx="6667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Barlow"/>
              </a:rPr>
              <a:t>CPSC, 2020–2022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114675"/>
            <a:ext cx="6667500" cy="9772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694"/>
              </a:lnSpc>
            </a:pPr>
            <a:r>
              <a:rPr b="1" sz="8100" i="0" u="none">
                <a:solidFill>
                  <a:srgbClr val="FFFFFF"/>
                </a:solidFill>
                <a:latin typeface="Barlow"/>
              </a:rPr>
              <a:t>62%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244280"/>
            <a:ext cx="46672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CBD5E1"/>
                </a:solidFill>
                <a:latin typeface="Barlow"/>
              </a:rPr>
              <a:t>of pool deaths of children under 5 happened when the adult lost track of where the child was.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2660749"/>
            <a:ext cx="3168699" cy="152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3DDC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11724" y="2660749"/>
            <a:ext cx="3168699" cy="152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B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61449" y="2660749"/>
            <a:ext cx="3168699" cy="152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199" y="3308449"/>
            <a:ext cx="200025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0924" y="3308449"/>
            <a:ext cx="200025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609600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Barlow"/>
              </a:rPr>
              <a:t>OUR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885825"/>
            <a:ext cx="11430000" cy="4161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77"/>
              </a:lnSpc>
            </a:pPr>
            <a:r>
              <a:rPr b="1" sz="2850" i="0" u="none">
                <a:solidFill>
                  <a:srgbClr val="0B0C0E"/>
                </a:solidFill>
                <a:latin typeface="Barlow"/>
              </a:rPr>
              <a:t>TIME HOW LONG EACH HEAD IS UNDER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95500" y="4489549"/>
            <a:ext cx="8001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B0C0E"/>
                </a:solidFill>
                <a:latin typeface="Barlow"/>
              </a:rPr>
              <a:t>Head comes back up, the timer resets. Also flags someone entering the pool.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07695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Barlow"/>
              </a:rPr>
              <a:t>Pool alarm test standard uses 20 s. CPSC says 20 s is too late.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3179861"/>
            <a:ext cx="26923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16A34A"/>
                </a:solidFill>
                <a:latin typeface="Barlow"/>
              </a:rPr>
              <a:t>HEAD ABOVE WATER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6514" y="3503711"/>
            <a:ext cx="1774589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Barlow"/>
              </a:rPr>
              <a:t>MONITORING ACTIVE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8485" y="3179861"/>
            <a:ext cx="279517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D97706"/>
                </a:solidFill>
                <a:latin typeface="Barlow"/>
              </a:rPr>
              <a:t>5 S UNDER: WARNING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47432" y="3503711"/>
            <a:ext cx="1183034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Barlow"/>
              </a:rPr>
              <a:t>YELLOW BOX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9132" y="3179861"/>
            <a:ext cx="255333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DC2626"/>
                </a:solidFill>
                <a:latin typeface="Barlow"/>
              </a:rPr>
              <a:t>12 S UNDER: ALERT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21675" y="3503711"/>
            <a:ext cx="181030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Barlow"/>
              </a:rPr>
              <a:t>RED AUDIBLE ALARM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2751236"/>
            <a:ext cx="1460450" cy="876300"/>
          </a:xfrm>
          <a:prstGeom prst="rect">
            <a:avLst/>
          </a:prstGeom>
          <a:solidFill>
            <a:srgbClr val="0B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84400" y="2751236"/>
            <a:ext cx="1498550" cy="876300"/>
          </a:xfrm>
          <a:prstGeom prst="rect">
            <a:avLst/>
          </a:prstGeom>
          <a:solidFill>
            <a:srgbClr val="FFFFFF"/>
          </a:solidFill>
          <a:ln w="19050">
            <a:solidFill>
              <a:srgbClr val="0B0C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44900" y="2751236"/>
            <a:ext cx="14795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86351" y="2751236"/>
            <a:ext cx="14795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801" y="2751236"/>
            <a:ext cx="14795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969251" y="2751236"/>
            <a:ext cx="1460450" cy="876300"/>
          </a:xfrm>
          <a:prstGeom prst="rect">
            <a:avLst/>
          </a:prstGeom>
          <a:solidFill>
            <a:srgbClr val="0B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38425" y="3894236"/>
            <a:ext cx="2562225" cy="723900"/>
          </a:xfrm>
          <a:prstGeom prst="rect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86012" y="3894236"/>
            <a:ext cx="19050" cy="2286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750" y="3113186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7250" y="3113186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701" y="3113186"/>
            <a:ext cx="1333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151" y="3113186"/>
            <a:ext cx="1333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1601" y="3113186"/>
            <a:ext cx="13335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150" y="4122836"/>
            <a:ext cx="104775" cy="1333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2000" y="609600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Barlow"/>
              </a:rPr>
              <a:t>HOW IT 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885825"/>
            <a:ext cx="11430000" cy="4161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77"/>
              </a:lnSpc>
            </a:pPr>
            <a:r>
              <a:rPr b="1" sz="2850" i="0" u="none">
                <a:solidFill>
                  <a:srgbClr val="0B0C0E"/>
                </a:solidFill>
                <a:latin typeface="Barlow"/>
              </a:rPr>
              <a:t>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067425"/>
            <a:ext cx="11430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Barlow"/>
              </a:rPr>
              <a:t>Runs locally on a laptop. The video never leaves the device.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0008" y="3098899"/>
            <a:ext cx="142428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Barlow"/>
              </a:rPr>
              <a:t>CAMERA VIDEO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92164" y="3098899"/>
            <a:ext cx="108287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B0C0E"/>
                </a:solidFill>
                <a:latin typeface="Barlow"/>
              </a:rPr>
              <a:t>DETECTOR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0860" y="3098899"/>
            <a:ext cx="136743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B0C0E"/>
                </a:solidFill>
                <a:latin typeface="Barlow"/>
              </a:rPr>
              <a:t>BOX CLEANUP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41" y="3098899"/>
            <a:ext cx="100711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B0C0E"/>
                </a:solidFill>
                <a:latin typeface="Barlow"/>
              </a:rPr>
              <a:t>TRACKER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9622" y="3098899"/>
            <a:ext cx="139571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B0C0E"/>
                </a:solidFill>
                <a:latin typeface="Barlow"/>
              </a:rPr>
              <a:t>EVENT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95198" y="3098899"/>
            <a:ext cx="60855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Barlow"/>
              </a:rPr>
              <a:t>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6075" y="4065686"/>
            <a:ext cx="258365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B0C0E"/>
                </a:solidFill>
                <a:latin typeface="Barlow"/>
              </a:rPr>
              <a:t>SIMULATOR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6075" y="4284761"/>
            <a:ext cx="258365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Barlow"/>
              </a:rPr>
              <a:t>exact labels for training and scoring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24600" y="4594324"/>
            <a:ext cx="5105400" cy="933450"/>
          </a:xfrm>
          <a:prstGeom prst="rect">
            <a:avLst/>
          </a:prstGeom>
          <a:solidFill>
            <a:srgbClr val="F8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3032224"/>
            <a:ext cx="63996" cy="76200"/>
          </a:xfrm>
          <a:prstGeom prst="rect">
            <a:avLst/>
          </a:prstGeom>
          <a:solidFill>
            <a:srgbClr val="0B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3794224"/>
            <a:ext cx="76200" cy="76200"/>
          </a:xfrm>
          <a:prstGeom prst="rect">
            <a:avLst/>
          </a:prstGeom>
          <a:solidFill>
            <a:srgbClr val="0B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4289524"/>
            <a:ext cx="76200" cy="76200"/>
          </a:xfrm>
          <a:prstGeom prst="rect">
            <a:avLst/>
          </a:prstGeom>
          <a:solidFill>
            <a:srgbClr val="0B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1908274"/>
            <a:ext cx="5105400" cy="2571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917799"/>
            <a:ext cx="5086350" cy="2552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525" y="4680049"/>
            <a:ext cx="1047750" cy="762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4680049"/>
            <a:ext cx="1047750" cy="76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609600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Barlow"/>
              </a:rPr>
              <a:t>NO DROWNING FOOTAGE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885825"/>
            <a:ext cx="11430000" cy="4161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77"/>
              </a:lnSpc>
            </a:pPr>
            <a:r>
              <a:rPr b="1" sz="2850" i="0" u="none">
                <a:solidFill>
                  <a:srgbClr val="0B0C0E"/>
                </a:solidFill>
                <a:latin typeface="Barlow"/>
              </a:rPr>
              <a:t>WE BUILT A TEST BENCH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396" y="2956024"/>
            <a:ext cx="4984253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0B0C0E"/>
                </a:solidFill>
                <a:latin typeface="Barlow"/>
              </a:rPr>
              <a:t>Physics simulator (MuJoCo) with a shallow and deep end, and buoyancy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3718024"/>
            <a:ext cx="600075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0B0C0E"/>
                </a:solidFill>
                <a:latin typeface="Barlow"/>
              </a:rPr>
              <a:t>Swim, float, dive, silent sink, collapse, fall in from the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4213324"/>
            <a:ext cx="467915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0B0C0E"/>
                </a:solidFill>
                <a:latin typeface="Barlow"/>
              </a:rPr>
              <a:t>Exact labels for every frame, no hand labeling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48575" y="4975324"/>
            <a:ext cx="1381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64748B"/>
                </a:solidFill>
                <a:latin typeface="Barlow"/>
              </a:rPr>
              <a:t>Isaac Sim version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962775" y="2419945"/>
            <a:ext cx="4467225" cy="1231403"/>
          </a:xfrm>
          <a:prstGeom prst="rect">
            <a:avLst/>
          </a:prstGeom>
          <a:solidFill>
            <a:srgbClr val="F8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62775" y="3803749"/>
            <a:ext cx="4467225" cy="1231403"/>
          </a:xfrm>
          <a:prstGeom prst="rect">
            <a:avLst/>
          </a:prstGeom>
          <a:solidFill>
            <a:srgbClr val="FFFFFF"/>
          </a:solidFill>
          <a:ln w="9525">
            <a:solidFill>
              <a:srgbClr val="0B0C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2270224"/>
            <a:ext cx="152400" cy="152400"/>
          </a:xfrm>
          <a:prstGeom prst="rect">
            <a:avLst/>
          </a:prstGeom>
          <a:solidFill>
            <a:srgbClr val="0B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47875" y="2270224"/>
            <a:ext cx="152400" cy="1524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2946499"/>
            <a:ext cx="4537323" cy="209550"/>
          </a:xfrm>
          <a:prstGeom prst="rect">
            <a:avLst/>
          </a:prstGeom>
          <a:solidFill>
            <a:srgbClr val="0B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194149"/>
            <a:ext cx="3446115" cy="20955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3841849"/>
            <a:ext cx="1435893" cy="209550"/>
          </a:xfrm>
          <a:prstGeom prst="rect">
            <a:avLst/>
          </a:prstGeom>
          <a:solidFill>
            <a:srgbClr val="0B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4089499"/>
            <a:ext cx="114746" cy="20955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000" y="4737199"/>
            <a:ext cx="689223" cy="209550"/>
          </a:xfrm>
          <a:prstGeom prst="rect">
            <a:avLst/>
          </a:prstGeom>
          <a:solidFill>
            <a:srgbClr val="0B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2000" y="4984849"/>
            <a:ext cx="1780430" cy="20955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09600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Barlow"/>
              </a:rPr>
              <a:t>STOCK MODELS, ON SIMULATION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885825"/>
            <a:ext cx="11430000" cy="4161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77"/>
              </a:lnSpc>
            </a:pPr>
            <a:r>
              <a:rPr b="1" sz="2850" i="0" u="none">
                <a:solidFill>
                  <a:srgbClr val="0B0C0E"/>
                </a:solidFill>
                <a:latin typeface="Barlow"/>
              </a:rPr>
              <a:t>YOLO BARELY SEES OUR PEOPLE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900" y="2658070"/>
            <a:ext cx="498871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B0C0E"/>
                </a:solidFill>
                <a:latin typeface="Barlow"/>
              </a:rPr>
              <a:t>YOLO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900" y="2943820"/>
            <a:ext cx="4086225" cy="4694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b="0" sz="1275" i="0" u="none">
                <a:solidFill>
                  <a:srgbClr val="475569"/>
                </a:solidFill>
                <a:latin typeface="Barlow"/>
              </a:rPr>
              <a:t>CNN trained on everyday photos. Guesses boxes everywhere, then removes duplicates.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900" y="4041874"/>
            <a:ext cx="498871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B0C0E"/>
                </a:solidFill>
                <a:latin typeface="Barlow"/>
              </a:rPr>
              <a:t>RF-DETR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900" y="4327624"/>
            <a:ext cx="4086225" cy="4694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b="0" sz="1275" i="0" u="none">
                <a:solidFill>
                  <a:srgbClr val="0B0C0E"/>
                </a:solidFill>
                <a:latin typeface="Barlow"/>
              </a:rPr>
              <a:t>Transformer with a DINOv2 backbone. Each of 300 queries claims at most one object.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" y="2260699"/>
            <a:ext cx="11144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B0C0E"/>
                </a:solidFill>
                <a:latin typeface="Barlow"/>
              </a:rPr>
              <a:t>People found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76475" y="2260699"/>
            <a:ext cx="1381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64748B"/>
                </a:solidFill>
                <a:latin typeface="Barlow"/>
              </a:rPr>
              <a:t>Fully under water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2698849"/>
            <a:ext cx="13239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B0C0E"/>
                </a:solidFill>
                <a:latin typeface="Barlow"/>
              </a:rPr>
              <a:t>RF-DETR NANO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34050" y="2698849"/>
            <a:ext cx="10572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B0C0E"/>
                </a:solidFill>
                <a:latin typeface="JetBrains Mono"/>
              </a:rPr>
              <a:t>79% · 60%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3594199"/>
            <a:ext cx="8667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B0C0E"/>
                </a:solidFill>
                <a:latin typeface="Barlow"/>
              </a:rPr>
              <a:t>YOLO11N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19775" y="3594199"/>
            <a:ext cx="9715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B0C0E"/>
                </a:solidFill>
                <a:latin typeface="JetBrains Mono"/>
              </a:rPr>
              <a:t>25% · 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4489549"/>
            <a:ext cx="9334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B0C0E"/>
                </a:solidFill>
                <a:latin typeface="Barlow"/>
              </a:rPr>
              <a:t>YOLOV8N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34050" y="4489549"/>
            <a:ext cx="10572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B0C0E"/>
                </a:solidFill>
                <a:latin typeface="JetBrains Mono"/>
              </a:rPr>
              <a:t>12% · 31%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400800" y="2770286"/>
          <a:ext cx="5029198" cy="18288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348507"/>
                <a:gridCol w="1079301"/>
                <a:gridCol w="1601390"/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64748B"/>
                          </a:solidFill>
                          <a:latin typeface="Barlow"/>
                        </a:rPr>
                        <a:t>Test video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64748B"/>
                          </a:solidFill>
                          <a:latin typeface="Barlow"/>
                        </a:rPr>
                        <a:t>Stock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B0C0E"/>
                          </a:solidFill>
                          <a:latin typeface="Barlow"/>
                        </a:rPr>
                        <a:t>Fine-tuned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B0C0E"/>
                          </a:solidFill>
                          <a:latin typeface="Barlow"/>
                        </a:rPr>
                        <a:t>Held-out scenario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64748B"/>
                          </a:solidFill>
                          <a:latin typeface="JetBrains Mono"/>
                        </a:rPr>
                        <a:t>79%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650" i="0" u="none">
                          <a:solidFill>
                            <a:srgbClr val="0B0C0E"/>
                          </a:solidFill>
                          <a:latin typeface="JetBrains Mono"/>
                        </a:rPr>
                        <a:t>100%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B0C0E"/>
                          </a:solidFill>
                          <a:latin typeface="Barlow"/>
                        </a:rPr>
                        <a:t>New-looking render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64748B"/>
                          </a:solidFill>
                          <a:latin typeface="JetBrains Mono"/>
                        </a:rPr>
                        <a:t>76%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650" i="0" u="none">
                          <a:solidFill>
                            <a:srgbClr val="0B0C0E"/>
                          </a:solidFill>
                          <a:latin typeface="JetBrains Mono"/>
                        </a:rPr>
                        <a:t>93%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62000" y="609600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Barlow"/>
              </a:rPr>
              <a:t>RF-DETR NANO, ON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85825"/>
            <a:ext cx="11430000" cy="4161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77"/>
              </a:lnSpc>
            </a:pPr>
            <a:r>
              <a:rPr b="1" sz="2850" i="0" u="none">
                <a:solidFill>
                  <a:srgbClr val="0B0C0E"/>
                </a:solidFill>
                <a:latin typeface="Barlow"/>
              </a:rPr>
              <a:t>FINE-TUNING ON SIM FRAMES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067425"/>
            <a:ext cx="11430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Barlow"/>
              </a:rPr>
              <a:t>A render with new textures cost accuracy. Real footage will be a bigger change.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941736"/>
            <a:ext cx="6286500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b="1" sz="6000" i="0" u="none">
                <a:solidFill>
                  <a:srgbClr val="0B0C0E"/>
                </a:solidFill>
                <a:latin typeface="Barlow"/>
              </a:rPr>
              <a:t>79% → 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894236"/>
            <a:ext cx="46672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475569"/>
                </a:solidFill>
                <a:latin typeface="Barlow"/>
              </a:rPr>
              <a:t>people found on a scenario it never saw, after 1 epoch (about 2 minutes on a laptop)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2758082"/>
            <a:ext cx="10668000" cy="3143250"/>
          </a:xfrm>
          <a:prstGeom prst="rect">
            <a:avLst/>
          </a:prstGeom>
          <a:solidFill>
            <a:srgbClr val="F8F9FA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00821" y="1763315"/>
            <a:ext cx="19050" cy="533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1525" y="2767607"/>
            <a:ext cx="10648950" cy="361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1525" y="2767607"/>
            <a:ext cx="5324475" cy="3524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1525" y="3120032"/>
            <a:ext cx="106489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6475" y="2767607"/>
            <a:ext cx="9525" cy="3524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3129557"/>
            <a:ext cx="10648950" cy="2996088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3129557"/>
            <a:ext cx="10648950" cy="29960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609600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Barlow"/>
              </a:rPr>
              <a:t>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885825"/>
            <a:ext cx="11430000" cy="4161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77"/>
              </a:lnSpc>
            </a:pPr>
            <a:r>
              <a:rPr b="1" sz="2850" i="0" u="none">
                <a:solidFill>
                  <a:srgbClr val="0B0C0E"/>
                </a:solidFill>
                <a:latin typeface="Barlow"/>
              </a:rPr>
              <a:t>A GOOD DETECTOR STILL BROKE THE IDS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687115"/>
            <a:ext cx="2369901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b="1" sz="5400" i="0" u="none">
                <a:solidFill>
                  <a:srgbClr val="0B0C0E"/>
                </a:solidFill>
                <a:latin typeface="Barlow"/>
              </a:rPr>
              <a:t>18 →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2771" y="1893837"/>
            <a:ext cx="6631781" cy="2723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b="0" sz="1650" i="0" u="none">
                <a:solidFill>
                  <a:srgbClr val="475569"/>
                </a:solidFill>
                <a:latin typeface="Barlow"/>
              </a:rPr>
              <a:t>IDs on screen for 4 people. Zero ID switches after our fixes.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2862857"/>
            <a:ext cx="6072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Barlow"/>
              </a:rPr>
              <a:t>BEFORE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600" y="2862857"/>
            <a:ext cx="5867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Barlow"/>
              </a:rPr>
              <a:t>AFTER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24153" y="1936849"/>
            <a:ext cx="5105846" cy="3619500"/>
          </a:xfrm>
          <a:prstGeom prst="rect">
            <a:avLst/>
          </a:prstGeom>
          <a:solidFill>
            <a:srgbClr val="F8F9FA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2279749"/>
            <a:ext cx="5104953" cy="1809750"/>
          </a:xfrm>
          <a:prstGeom prst="rect">
            <a:avLst/>
          </a:prstGeom>
          <a:solidFill>
            <a:srgbClr val="F8F9FA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33678" y="1946374"/>
            <a:ext cx="5086796" cy="3524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33678" y="2289274"/>
            <a:ext cx="50867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4403824"/>
            <a:ext cx="57150" cy="57150"/>
          </a:xfrm>
          <a:prstGeom prst="rect">
            <a:avLst/>
          </a:prstGeom>
          <a:solidFill>
            <a:srgbClr val="0B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4746724"/>
            <a:ext cx="57150" cy="57150"/>
          </a:xfrm>
          <a:prstGeom prst="rect">
            <a:avLst/>
          </a:prstGeom>
          <a:solidFill>
            <a:srgbClr val="0B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5089624"/>
            <a:ext cx="57150" cy="57150"/>
          </a:xfrm>
          <a:prstGeom prst="rect">
            <a:avLst/>
          </a:prstGeom>
          <a:solidFill>
            <a:srgbClr val="0B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3678" y="2298799"/>
            <a:ext cx="5086796" cy="3248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678" y="2298799"/>
            <a:ext cx="5086796" cy="3248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609600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Barlow"/>
              </a:rPr>
              <a:t>DEMO (PLACEHOLDER)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885825"/>
            <a:ext cx="11430000" cy="4161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77"/>
              </a:lnSpc>
            </a:pPr>
            <a:r>
              <a:rPr b="1" sz="2850" i="0" u="none">
                <a:solidFill>
                  <a:srgbClr val="0B0C0E"/>
                </a:solidFill>
                <a:latin typeface="Barlow"/>
              </a:rPr>
              <a:t>LIVE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4017" y="3070324"/>
            <a:ext cx="324091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64748B"/>
                </a:solidFill>
                <a:latin typeface="Barlow"/>
              </a:rPr>
              <a:t>APP RECORDING GOES HERE.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078" y="2041624"/>
            <a:ext cx="570592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Barlow"/>
              </a:rPr>
              <a:t>FALLBACK: TRACKING ON SIMULATION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450" y="4318099"/>
            <a:ext cx="3821906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B0C0E"/>
                </a:solidFill>
                <a:latin typeface="Barlow"/>
              </a:rPr>
              <a:t>4 camera feeds, then Enable 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450" y="4660999"/>
            <a:ext cx="4452937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B0C0E"/>
                </a:solidFill>
                <a:latin typeface="Barlow"/>
              </a:rPr>
              <a:t>Green, yellow, red boxes with timer and reason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450" y="5003899"/>
            <a:ext cx="2345531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B0C0E"/>
                </a:solidFill>
                <a:latin typeface="Barlow"/>
              </a:rPr>
              <a:t>Alert and incident replay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2920" y="2203549"/>
            <a:ext cx="4257079" cy="304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2445" y="2213074"/>
            <a:ext cx="4238029" cy="3028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09600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Barlow"/>
              </a:rPr>
              <a:t>HONEST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5825"/>
            <a:ext cx="11430000" cy="4161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77"/>
              </a:lnSpc>
            </a:pPr>
            <a:r>
              <a:rPr b="1" sz="2850" i="0" u="none">
                <a:solidFill>
                  <a:srgbClr val="0B0C0E"/>
                </a:solidFill>
                <a:latin typeface="Barlow"/>
              </a:rPr>
              <a:t>LIMITS, AND MISTAKES WE CAUGHT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794099"/>
            <a:ext cx="5524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0B0C0E"/>
                </a:solidFill>
                <a:latin typeface="JetBrains Mon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2794099"/>
            <a:ext cx="551557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0B0C0E"/>
                </a:solidFill>
                <a:latin typeface="Barlow"/>
              </a:rPr>
              <a:t>All numbers are on simulation: simple bodies, flat water, no splash or glare.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594199"/>
            <a:ext cx="5524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0B0C0E"/>
                </a:solidFill>
                <a:latin typeface="JetBrains Mono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200" y="3594199"/>
            <a:ext cx="551557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0B0C0E"/>
                </a:solidFill>
                <a:latin typeface="Barlow"/>
              </a:rPr>
              <a:t>We caught 2 bugs that made scores look too good, fixed them, and re-measured everything.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394299"/>
            <a:ext cx="5524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0B0C0E"/>
                </a:solidFill>
                <a:latin typeface="JetBrains Mono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4394299"/>
            <a:ext cx="53816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0B0C0E"/>
                </a:solidFill>
                <a:latin typeface="Barlow"/>
              </a:rPr>
              <a:t>Daylight only. One person class, no child vs adult yet.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497710"/>
            <a:ext cx="10668000" cy="7505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2564606"/>
            <a:ext cx="3429000" cy="1670446"/>
          </a:xfrm>
          <a:prstGeom prst="rect">
            <a:avLst/>
          </a:prstGeom>
          <a:solidFill>
            <a:srgbClr val="17191E"/>
          </a:solidFill>
          <a:ln w="9525">
            <a:solidFill>
              <a:srgbClr val="2629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1500" y="2564606"/>
            <a:ext cx="3429000" cy="1670446"/>
          </a:xfrm>
          <a:prstGeom prst="rect">
            <a:avLst/>
          </a:prstGeom>
          <a:solidFill>
            <a:srgbClr val="17191E"/>
          </a:solidFill>
          <a:ln w="9525">
            <a:solidFill>
              <a:srgbClr val="2629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01000" y="2564606"/>
            <a:ext cx="3429000" cy="1670446"/>
          </a:xfrm>
          <a:prstGeom prst="rect">
            <a:avLst/>
          </a:prstGeom>
          <a:solidFill>
            <a:srgbClr val="17191E"/>
          </a:solidFill>
          <a:ln w="9525">
            <a:solidFill>
              <a:srgbClr val="2629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5497710"/>
            <a:ext cx="10668000" cy="9525"/>
          </a:xfrm>
          <a:prstGeom prst="rect">
            <a:avLst/>
          </a:prstGeom>
          <a:solidFill>
            <a:srgbClr val="262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609600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Barlow"/>
              </a:rPr>
              <a:t>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885825"/>
            <a:ext cx="11430000" cy="4161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77"/>
              </a:lnSpc>
            </a:pPr>
            <a:r>
              <a:rPr b="1" sz="2850" i="0" u="none">
                <a:solidFill>
                  <a:srgbClr val="FFFFFF"/>
                </a:solidFill>
                <a:latin typeface="Barlow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697735"/>
            <a:ext cx="11430000" cy="2266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b="1" sz="1275" i="0" u="none">
                <a:solidFill>
                  <a:srgbClr val="E2E8F0"/>
                </a:solidFill>
                <a:latin typeface="Barlow"/>
              </a:rPr>
              <a:t>A supervision aid that detects prolonged head submersion. It does not replace watching children, pool fences, or lifeguards.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076801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64748B"/>
                </a:solidFill>
                <a:latin typeface="Barlow"/>
              </a:rPr>
              <a:t>SUNNY · JOANNE · SAM · ROHAN · DAVID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2840831"/>
            <a:ext cx="369093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64748B"/>
                </a:solidFill>
                <a:latin typeface="JetBrains Mon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3231356"/>
            <a:ext cx="3690937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Barlow"/>
              </a:rPr>
              <a:t>RECORD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3517106"/>
            <a:ext cx="3048000" cy="4417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200" i="0" u="none">
                <a:solidFill>
                  <a:srgbClr val="94A3B8"/>
                </a:solidFill>
                <a:latin typeface="Barlow"/>
              </a:rPr>
              <a:t>Real pool footage, label each head above or below water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9625" y="2840831"/>
            <a:ext cx="369093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64748B"/>
                </a:solidFill>
                <a:latin typeface="JetBrains Mon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231356"/>
            <a:ext cx="3690937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Barlow"/>
              </a:rPr>
              <a:t>FINE-TUNE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9625" y="3517106"/>
            <a:ext cx="3690937" cy="2208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200" i="0" u="none">
                <a:solidFill>
                  <a:srgbClr val="94A3B8"/>
                </a:solidFill>
                <a:latin typeface="Barlow"/>
              </a:rPr>
              <a:t>Same method, tested only on real clips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9125" y="2840831"/>
            <a:ext cx="369093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64748B"/>
                </a:solidFill>
                <a:latin typeface="JetBrains Mon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9125" y="3231356"/>
            <a:ext cx="3690937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Barlow"/>
              </a:rPr>
              <a:t>CONNECT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9125" y="3517106"/>
            <a:ext cx="3690937" cy="2208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200" i="0" u="none">
                <a:solidFill>
                  <a:srgbClr val="94A3B8"/>
                </a:solidFill>
                <a:latin typeface="Barlow"/>
              </a:rPr>
              <a:t>Head timer drives the app's colors and alerts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