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c4a8600cf6c4b70" /><Relationship Type="http://schemas.openxmlformats.org/officeDocument/2006/relationships/extended-properties" Target="/docProps/app.xml" Id="R36884c14585343ef" /><Relationship Type="http://schemas.openxmlformats.org/officeDocument/2006/relationships/officeDocument" Target="/ppt/presentation.xml" Id="R23bf12a67d6d4669" /></Relationships>
</file>

<file path=ppt/presentation.xml><?xml version="1.0" encoding="utf-8"?>
<p:presentation xmlns:p="http://schemas.openxmlformats.org/presentationml/2006/main">
  <p:sldMasterIdLst>
    <p:sldMasterId xmlns:r="http://schemas.openxmlformats.org/officeDocument/2006/relationships" id="2147483648" r:id="R08c38938388644a1"/>
  </p:sldMasterIdLst>
  <p:notesMasterIdLst>
    <p:notesMasterId xmlns:r="http://schemas.openxmlformats.org/officeDocument/2006/relationships" r:id="R6dd0e0750e844946"/>
  </p:notesMasterIdLst>
  <p:sldIdLst>
    <p:sldId xmlns:r="http://schemas.openxmlformats.org/officeDocument/2006/relationships" id="256" r:id="Re413112f0ca84de4"/>
    <p:sldId xmlns:r="http://schemas.openxmlformats.org/officeDocument/2006/relationships" id="257" r:id="Rc9bff0240ba647cf"/>
    <p:sldId xmlns:r="http://schemas.openxmlformats.org/officeDocument/2006/relationships" id="258" r:id="Rf621f883fea146a1"/>
    <p:sldId xmlns:r="http://schemas.openxmlformats.org/officeDocument/2006/relationships" id="259" r:id="R7663f2b9a67f4906"/>
    <p:sldId xmlns:r="http://schemas.openxmlformats.org/officeDocument/2006/relationships" id="260" r:id="R349193ccbc854028"/>
    <p:sldId xmlns:r="http://schemas.openxmlformats.org/officeDocument/2006/relationships" id="261" r:id="R6edb5c015c32414f"/>
    <p:sldId xmlns:r="http://schemas.openxmlformats.org/officeDocument/2006/relationships" id="262" r:id="R280e9e6f198f4065"/>
    <p:sldId xmlns:r="http://schemas.openxmlformats.org/officeDocument/2006/relationships" id="263" r:id="R15596ccc48464f31"/>
    <p:sldId xmlns:r="http://schemas.openxmlformats.org/officeDocument/2006/relationships" id="264" r:id="Rf49187ca1d694207"/>
    <p:sldId xmlns:r="http://schemas.openxmlformats.org/officeDocument/2006/relationships" id="265" r:id="R2274da26191b4e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2e4147ec65422b" /><Relationship Type="http://schemas.openxmlformats.org/officeDocument/2006/relationships/slideMaster" Target="/ppt/slideMasters/slideMaster1.xml" Id="R08c38938388644a1" /><Relationship Type="http://schemas.openxmlformats.org/officeDocument/2006/relationships/notesMaster" Target="/ppt/notesMasters/notesMaster1.xml" Id="R6dd0e0750e844946" /><Relationship Type="http://schemas.openxmlformats.org/officeDocument/2006/relationships/presProps" Target="/ppt/presProps.xml" Id="Rf73303c6a6974063" /><Relationship Type="http://schemas.openxmlformats.org/officeDocument/2006/relationships/tableStyles" Target="/ppt/tableStyles.xml" Id="Rb1aa02f34df241d4" /><Relationship Type="http://schemas.openxmlformats.org/officeDocument/2006/relationships/slide" Target="/ppt/slides/slide1.xml" Id="Re413112f0ca84de4" /><Relationship Type="http://schemas.openxmlformats.org/officeDocument/2006/relationships/slide" Target="/ppt/slides/slide2.xml" Id="Rc9bff0240ba647cf" /><Relationship Type="http://schemas.openxmlformats.org/officeDocument/2006/relationships/slide" Target="/ppt/slides/slide3.xml" Id="Rf621f883fea146a1" /><Relationship Type="http://schemas.openxmlformats.org/officeDocument/2006/relationships/slide" Target="/ppt/slides/slide4.xml" Id="R7663f2b9a67f4906" /><Relationship Type="http://schemas.openxmlformats.org/officeDocument/2006/relationships/slide" Target="/ppt/slides/slide5.xml" Id="R349193ccbc854028" /><Relationship Type="http://schemas.openxmlformats.org/officeDocument/2006/relationships/slide" Target="/ppt/slides/slide6.xml" Id="R6edb5c015c32414f" /><Relationship Type="http://schemas.openxmlformats.org/officeDocument/2006/relationships/slide" Target="/ppt/slides/slide7.xml" Id="R280e9e6f198f4065" /><Relationship Type="http://schemas.openxmlformats.org/officeDocument/2006/relationships/slide" Target="/ppt/slides/slide8.xml" Id="R15596ccc48464f31" /><Relationship Type="http://schemas.openxmlformats.org/officeDocument/2006/relationships/slide" Target="/ppt/slides/slide9.xml" Id="Rf49187ca1d694207" /><Relationship Type="http://schemas.openxmlformats.org/officeDocument/2006/relationships/slide" Target="/ppt/slides/slide10.xml" Id="R2274da26191b4e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099d1681e24e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c5297b2fe147c4" /><Relationship Type="http://schemas.openxmlformats.org/officeDocument/2006/relationships/notesMaster" Target="/ppt/notesMasters/notesMaster1.xml" Id="R1e6260c906844f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61f12be2924e32" /><Relationship Type="http://schemas.openxmlformats.org/officeDocument/2006/relationships/notesMaster" Target="/ppt/notesMasters/notesMaster1.xml" Id="Rb3f7c8df73c24f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a4fe955a134976" /><Relationship Type="http://schemas.openxmlformats.org/officeDocument/2006/relationships/notesMaster" Target="/ppt/notesMasters/notesMaster1.xml" Id="R5ffcde4e88ee4e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d3dd1904de4722" /><Relationship Type="http://schemas.openxmlformats.org/officeDocument/2006/relationships/notesMaster" Target="/ppt/notesMasters/notesMaster1.xml" Id="R71fe2e9643a443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92c1b644c344b1" /><Relationship Type="http://schemas.openxmlformats.org/officeDocument/2006/relationships/notesMaster" Target="/ppt/notesMasters/notesMaster1.xml" Id="Rfd10f7c2904440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52af1b49474c80" /><Relationship Type="http://schemas.openxmlformats.org/officeDocument/2006/relationships/notesMaster" Target="/ppt/notesMasters/notesMaster1.xml" Id="R5dbe9205ef464c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b2668987ed4634" /><Relationship Type="http://schemas.openxmlformats.org/officeDocument/2006/relationships/notesMaster" Target="/ppt/notesMasters/notesMaster1.xml" Id="Re98c1636c6b343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faeeae31da4371" /><Relationship Type="http://schemas.openxmlformats.org/officeDocument/2006/relationships/notesMaster" Target="/ppt/notesMasters/notesMaster1.xml" Id="R2172e0670d044e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a7b40316384082" /><Relationship Type="http://schemas.openxmlformats.org/officeDocument/2006/relationships/notesMaster" Target="/ppt/notesMasters/notesMaster1.xml" Id="R7a96238fb25b43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e24c4886924415" /><Relationship Type="http://schemas.openxmlformats.org/officeDocument/2006/relationships/notesMaster" Target="/ppt/notesMasters/notesMaster1.xml" Id="Ra3bc0cc8bd9e45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15 seconds. A camera can record every second around a pool and still miss the moment that matters. Life Vision adds a local monitoring layer that tracks each person and explains when head-submersion evidence persists. Our goal is a second set of eyes for the responsible adult, using cameras families may already own.</a:t>
            </a:r>
          </a:p>
          <a:p xmlns:a="http://schemas.openxmlformats.org/drawingml/2006/main">
            <a:r>
              <a:t/>
            </a:r>
          </a:p>
          <a:p xmlns:a="http://schemas.openxmlformats.org/drawingml/2006/main">
            <a:r>
              <a:t>Sources:</a:t>
            </a:r>
          </a:p>
          <a:p xmlns:a="http://schemas.openxmlformats.org/drawingml/2006/main">
            <a:r>
              <a:t>- Concept image generated for this presentation. It does not depict a real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30 seconds. Three facts shaped our problem statement. CDC reports that more children ages one to four die from drowning than from any other cause. CPSC found that sixty-one percent of reported pool and spa fatalities involving children under five were associated with a gap in adult supervision. A published case series identified 140 deaths in pools with lifeguards from 2000 through 2008, and victims were first identified twice as often by other swimmers or bystanders as by lifeguards. The authors emphasize that these deaths are uncommon and lifeguards remain important. Our point is that no human observer can see every person every second, so technology can add another layer without replacing supervision.</a:t>
            </a:r>
          </a:p>
          <a:p xmlns:a="http://schemas.openxmlformats.org/drawingml/2006/main">
            <a:r>
              <a:t/>
            </a:r>
          </a:p>
          <a:p xmlns:a="http://schemas.openxmlformats.org/drawingml/2006/main">
            <a:r>
              <a:t>Sources:</a:t>
            </a:r>
          </a:p>
          <a:p xmlns:a="http://schemas.openxmlformats.org/drawingml/2006/main">
            <a:r>
              <a:t>- CDC, Drowning Facts: https://www.cdc.gov/drowning/data-research/facts/index.html</a:t>
            </a:r>
          </a:p>
          <a:p xmlns:a="http://schemas.openxmlformats.org/drawingml/2006/main">
            <a:r>
              <a:t>- U.S. CPSC, Pool or Spa Submersion, 2024 Report, Table 14: https://www.cpsc.gov/s3fs-public/Pool-or-Spa-Submersion-Estimated-Nonfatal-Drowning-Injuries-and-Reported-Drownings-2024-Report.pdf</a:t>
            </a:r>
          </a:p>
          <a:p xmlns:a="http://schemas.openxmlformats.org/drawingml/2006/main">
            <a:r>
              <a:t>- Pelletier and Gilchrist, Fatalities in swimming pools with lifeguards: USA, 2000–2008, Injury Prevention: https://pubmed.ncbi.nlm.nih.gov/21270060/</a:t>
            </a:r>
          </a:p>
          <a:p xmlns:a="http://schemas.openxmlformats.org/drawingml/2006/main">
            <a:r>
              <a:t>- CDC, Summer Swim Safety: https://www.cdc.gov/drowning/prevention/summer-swim-safety.html</a:t>
            </a:r>
          </a:p>
          <a:p xmlns:a="http://schemas.openxmlformats.org/drawingml/2006/main">
            <a:r>
              <a:t>- Pool image generated for this presentation. It depicts safe staged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logic, 30 seconds. The system tracks each person and watches whether the head is above or below the water. When the head goes below, a per-person timer starts. At the configurable warning threshold, the state becomes yellow. If that condition persists to the alarm threshold, the state becomes red and tells the user to check the pool. If the head comes back above water, the timer resets to green. Entry detection is a separate alert that the user must arm. For this demonstration, the thresholds are intentionally shortened and clearly labeled. This is prolonged head-submersion detection, not a drowning diagnosis.</a:t>
            </a:r>
          </a:p>
          <a:p xmlns:a="http://schemas.openxmlformats.org/drawingml/2006/main">
            <a:r>
              <a:t/>
            </a:r>
          </a:p>
          <a:p xmlns:a="http://schemas.openxmlformats.org/drawingml/2006/main">
            <a:r>
              <a:t>Sources:</a:t>
            </a:r>
          </a:p>
          <a:p xmlns:a="http://schemas.openxmlformats.org/drawingml/2006/main">
            <a:r>
              <a:t>- System architecture: docs/global/architecture.md</a:t>
            </a:r>
          </a:p>
          <a:p xmlns:a="http://schemas.openxmlformats.org/drawingml/2006/main">
            <a:r>
              <a:t>- Decision and alert rules: docs/global/decisions.md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35 seconds. The team could work in parallel because we froze two JSON contracts first. The overlay used hand-made results while the event engine used simulator tracks. Person and head evidence entered the same contract, and evaluation covered each stage instead of waiting for one final accuracy number. By hour six, simulated tracks could drive a red alert in the frontend. By hour nine, real detector output replaced the fake data. The final hours were reserved for fixing, recording a fallback, and rehearsing.</a:t>
            </a:r>
          </a:p>
          <a:p xmlns:a="http://schemas.openxmlformats.org/drawingml/2006/main">
            <a:r>
              <a:t/>
            </a:r>
          </a:p>
          <a:p xmlns:a="http://schemas.openxmlformats.org/drawingml/2006/main">
            <a:r>
              <a:t>Sources:</a:t>
            </a:r>
          </a:p>
          <a:p xmlns:a="http://schemas.openxmlformats.org/drawingml/2006/main">
            <a:r>
              <a:t>- Repository architecture: docs/global/architecture.md</a:t>
            </a:r>
          </a:p>
          <a:p xmlns:a="http://schemas.openxmlformats.org/drawingml/2006/main">
            <a:r>
              <a:t>- 12-hour milestone plan: docs/global/milestones.md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Simulation, 30 seconds. The MuJoCo test bench included a shallow end, deep end, buoyancy, and five scenarios. It produced exact person boxes and exact head height without hand labeling. Isaac Sim extended the work with more realistic characters, lighting, moving water, and a held-out clip. Simulation let the team test silent sinking, collapse, entry, and resurfacing elsewhere without putting anyone at risk. It also provided exact answers for scoring. These environments validate the software pipeline, not real-world accuracy.</a:t>
            </a:r>
          </a:p>
          <a:p xmlns:a="http://schemas.openxmlformats.org/drawingml/2006/main">
            <a:r>
              <a:t/>
            </a:r>
          </a:p>
          <a:p xmlns:a="http://schemas.openxmlformats.org/drawingml/2006/main">
            <a:r>
              <a:t>Sources:</a:t>
            </a:r>
          </a:p>
          <a:p xmlns:a="http://schemas.openxmlformats.org/drawingml/2006/main">
            <a:r>
              <a:t>- MuJoCo test bench: docs/global/simulation.md</a:t>
            </a:r>
          </a:p>
          <a:p xmlns:a="http://schemas.openxmlformats.org/drawingml/2006/main">
            <a:r>
              <a:t>- Isaac Sim results: model/README.md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results, 40 seconds. On the held-out MuJoCo scenario, stock YOLOv8n found twelve percent of people and YOLO11n found twenty-five percent. Stock RF-DETR Nano found seventy-nine percent. The second experiment used the held-out Isaac clip and focused on people whose heads were fully under water. Stock YOLO found sixteen percent, stock RF-DETR-S found seventy-five percent, the MuJoCo-tuned YOLO found eighty-three percent, and the Isaac-tuned YOLO reached ninety-five percent. That led to a practical split: use lightweight YOLO in the hackathon pipeline after fine-tuning, while treating RF-DETR as the stronger zero-shot candidate. Every number here is synthetic and does not predict real-pool performance.</a:t>
            </a:r>
          </a:p>
          <a:p xmlns:a="http://schemas.openxmlformats.org/drawingml/2006/main">
            <a:r>
              <a:t/>
            </a:r>
          </a:p>
          <a:p xmlns:a="http://schemas.openxmlformats.org/drawingml/2006/main">
            <a:r>
              <a:t>Sources:</a:t>
            </a:r>
          </a:p>
          <a:p xmlns:a="http://schemas.openxmlformats.org/drawingml/2006/main">
            <a:r>
              <a:t>- MuJoCo detector results: docs/global/simulation.md</a:t>
            </a:r>
          </a:p>
          <a:p xmlns:a="http://schemas.openxmlformats.org/drawingml/2006/main">
            <a:r>
              <a:t>- Isaac held-out results: model/README.md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Tracking, 30 seconds. Detection alone did not give us a usable timer. Stock RF-DETR with the default tracker produced eighteen IDs for four people. Duplicate-box cleanup, delayed track confirmation, and identity stitching after short losses reduced the result to four IDs with zero switches across all five MuJoCo scenarios. The test bench also exposed a more important design mistake: in clear water, a submerged body can stay visible, so a missing-person timer never starts. The event logic therefore times the head state and keeps the missing registry only as backup.</a:t>
            </a:r>
          </a:p>
          <a:p xmlns:a="http://schemas.openxmlformats.org/drawingml/2006/main">
            <a:r>
              <a:t/>
            </a:r>
          </a:p>
          <a:p xmlns:a="http://schemas.openxmlformats.org/drawingml/2006/main">
            <a:r>
              <a:t>Sources:</a:t>
            </a:r>
          </a:p>
          <a:p xmlns:a="http://schemas.openxmlformats.org/drawingml/2006/main">
            <a:r>
              <a:t>- Tracking results and edge logic: docs/global/simulation.md</a:t>
            </a:r>
          </a:p>
          <a:p xmlns:a="http://schemas.openxmlformats.org/drawingml/2006/main">
            <a:r>
              <a:t>- Team decision record: docs/global/decisions.md</a:t>
            </a:r>
          </a:p>
          <a:p xmlns:a="http://schemas.openxmlformats.org/drawingml/2006/main">
            <a:r>
              <a:t>- Visual: presentation/images/before_after_tracking.png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about 50 seconds plus interaction. Start with the prerecorded team pool clip already loaded. Press Activate Monitoring and point out the intentionally visible scan. Each person gets a stable ID and a green box. When the head-submersion evidence persists, the timer appears and the box becomes yellow. At the demo threshold it becomes red, the alert sounds, and the incident can be replayed. Show that the user can select yellow and red alerts, red only, or on-screen alerts. State the mode accurately: real model inference, a recording of a successful pipeline run, or the scripted interaction prototype. Never describe scripted boxes as live inference.</a:t>
            </a:r>
          </a:p>
          <a:p xmlns:a="http://schemas.openxmlformats.org/drawingml/2006/main">
            <a:r>
              <a:t/>
            </a:r>
          </a:p>
          <a:p xmlns:a="http://schemas.openxmlformats.org/drawingml/2006/main">
            <a:r>
              <a:t>Sources:</a:t>
            </a:r>
          </a:p>
          <a:p xmlns:a="http://schemas.openxmlformats.org/drawingml/2006/main">
            <a:r>
              <a:t>- Frontend: frontend/index.html, frontend/styles.css, frontend/app.js</a:t>
            </a:r>
          </a:p>
          <a:p xmlns:a="http://schemas.openxmlformats.org/drawingml/2006/main">
            <a:r>
              <a:t>- Fallback visual: presentation/images/demo_hq_tracking_still.png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30 seconds. The team caught three errors that changed how we evaluate the system. A render batch omitted the water, which made early YOLO scores look far too good. A test script swapped color channels, and we found it only because an independent script disagreed. The first head-under label was too strict and misclassified ordinary swimmers. We fixed each problem, rebuilt the labels from stored head height, and reran every number. The remaining limitation is still fundamental: all accuracy results come from synthetic scenes with simplified water, people, and motion.</a:t>
            </a:r>
          </a:p>
          <a:p xmlns:a="http://schemas.openxmlformats.org/drawingml/2006/main">
            <a:r>
              <a:t/>
            </a:r>
          </a:p>
          <a:p xmlns:a="http://schemas.openxmlformats.org/drawingml/2006/main">
            <a:r>
              <a:t>Sources:</a:t>
            </a:r>
          </a:p>
          <a:p xmlns:a="http://schemas.openxmlformats.org/drawingml/2006/main">
            <a:r>
              <a:t>- Corrections and known limits: docs/global/simulation.md</a:t>
            </a:r>
          </a:p>
          <a:p xmlns:a="http://schemas.openxmlformats.org/drawingml/2006/main">
            <a:r>
              <a:t>- Technical story: presentation/technical-story.md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test, 40 seconds. The next experiment uses real pool footage recorded safely. The model workflow will label each head above or below water and fine-tune the detector. Evaluation will split by recording session and report detection delay, missed events, false warnings per monitored hour, and identity errors. Integration will connect the pipeline, validate the head timer, and replace scripted frontend events with real results. Uploaded video remains the reliable demo source. Webcam and RTSP follow, then authorized Ring and Nest adapters. The overlay stays in our application. Life Vision remains a supervision aid and does not replace watching children, pool barriers, or lifeguards.</a:t>
            </a:r>
          </a:p>
          <a:p xmlns:a="http://schemas.openxmlformats.org/drawingml/2006/main">
            <a:r>
              <a:t/>
            </a:r>
          </a:p>
          <a:p xmlns:a="http://schemas.openxmlformats.org/drawingml/2006/main">
            <a:r>
              <a:t>Sources:</a:t>
            </a:r>
          </a:p>
          <a:p xmlns:a="http://schemas.openxmlformats.org/drawingml/2006/main">
            <a:r>
              <a:t>- Next-step evaluation plan: docs/global/architecture.md</a:t>
            </a:r>
          </a:p>
          <a:p xmlns:a="http://schemas.openxmlformats.org/drawingml/2006/main">
            <a:r>
              <a:t>- Ring Developer Experience: https://developer.amazon.com/docs/ring/get-started.html</a:t>
            </a:r>
          </a:p>
          <a:p xmlns:a="http://schemas.openxmlformats.org/drawingml/2006/main">
            <a:r>
              <a:t>- Google Nest supported devices: https://developers.google.com/nest/device-access/supported-devices</a:t>
            </a:r>
          </a:p>
          <a:p xmlns:a="http://schemas.openxmlformats.org/drawingml/2006/main">
            <a:r>
              <a:t>- CDC prevention guidance: https://www.cdc.gov/drowning/prevention/index.html</a:t>
            </a:r>
          </a:p>
          <a:p xmlns:a="http://schemas.openxmlformats.org/drawingml/2006/main">
            <a:r>
              <a:t>- Camera concept image generated for this presentation. It does not show a branded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7586d455e242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5744d223ac4318" /><Relationship Type="http://schemas.openxmlformats.org/officeDocument/2006/relationships/slideLayout" Target="/ppt/slideLayouts/slideLayout1.xml" Id="R358ac9ed67924f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8ac9ed67924f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db81ef11514677" /><Relationship Type="http://schemas.openxmlformats.org/officeDocument/2006/relationships/image" Target="/ppt/media/image.png" Id="R5a5a059866454220" /><Relationship Type="http://schemas.openxmlformats.org/officeDocument/2006/relationships/notesSlide" Target="/ppt/notesSlides/notesSlide1.xml" Id="Ra2d1870495764e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ec962e28224260" /><Relationship Type="http://schemas.openxmlformats.org/officeDocument/2006/relationships/image" Target="/ppt/media/image2.png" Id="Rde6861783b044893" /><Relationship Type="http://schemas.openxmlformats.org/officeDocument/2006/relationships/notesSlide" Target="/ppt/notesSlides/notesSlide2.xml" Id="Re4faa8604ce24f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a00b036ed44876" /><Relationship Type="http://schemas.openxmlformats.org/officeDocument/2006/relationships/notesSlide" Target="/ppt/notesSlides/notesSlide3.xml" Id="R0ed9376a379a46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abc0ed10c743a0" /><Relationship Type="http://schemas.openxmlformats.org/officeDocument/2006/relationships/notesSlide" Target="/ppt/notesSlides/notesSlide4.xml" Id="R69be3dd6c7ff43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87dfb631ec4643" /><Relationship Type="http://schemas.openxmlformats.org/officeDocument/2006/relationships/image" Target="/ppt/media/image3.png" Id="R5d46ec20959b4a88" /><Relationship Type="http://schemas.openxmlformats.org/officeDocument/2006/relationships/image" Target="/ppt/media/image4.png" Id="R4b130048d3ae4266" /><Relationship Type="http://schemas.openxmlformats.org/officeDocument/2006/relationships/notesSlide" Target="/ppt/notesSlides/notesSlide5.xml" Id="R5d1beffc81eb4e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1e284d67204d90" /><Relationship Type="http://schemas.openxmlformats.org/officeDocument/2006/relationships/chart" Target="/ppt/slides/charts/chart1.xml" Id="R01afc84e8ae24b94" /><Relationship Type="http://schemas.openxmlformats.org/officeDocument/2006/relationships/chart" Target="/ppt/slides/charts/chart2.xml" Id="Rf67c2856b96e4b58" /><Relationship Type="http://schemas.openxmlformats.org/officeDocument/2006/relationships/notesSlide" Target="/ppt/notesSlides/notesSlide6.xml" Id="R181a592becf441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b81b4fb3c64f9f" /><Relationship Type="http://schemas.openxmlformats.org/officeDocument/2006/relationships/image" Target="/ppt/media/image5.png" Id="R1853be13a9914675" /><Relationship Type="http://schemas.openxmlformats.org/officeDocument/2006/relationships/notesSlide" Target="/ppt/notesSlides/notesSlide7.xml" Id="Rd93ec7fc614c44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ac1bf210a143f7" /><Relationship Type="http://schemas.openxmlformats.org/officeDocument/2006/relationships/image" Target="/ppt/media/image6.png" Id="R6319a66274f744be" /><Relationship Type="http://schemas.openxmlformats.org/officeDocument/2006/relationships/notesSlide" Target="/ppt/notesSlides/notesSlide8.xml" Id="R0dc2427e100945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5f58098b994438" /><Relationship Type="http://schemas.openxmlformats.org/officeDocument/2006/relationships/notesSlide" Target="/ppt/notesSlides/notesSlide9.xml" Id="R8f6c27f4a56041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33c6c09cda745b9" /><Relationship Type="http://schemas.openxmlformats.org/officeDocument/2006/relationships/image" Target="/ppt/media/image7.png" Id="R2c92621fe83b4b29" /><Relationship Type="http://schemas.openxmlformats.org/officeDocument/2006/relationships/notesSlide" Target="/ppt/notesSlides/notesSlide10.xml" Id="R50c95ea5d1784b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Recall</c:v>
          </c:tx>
          <c:spPr>
            <a:solidFill xmlns:a="http://schemas.openxmlformats.org/drawingml/2006/main">
              <a:srgbClr val="087F72"/>
            </a:solidFill>
          </c:spPr>
          <c:dPt>
            <c:idx val="0"/>
            <c:invertIfNegative val="0"/>
            <c:spPr>
              <a:solidFill xmlns:a="http://schemas.openxmlformats.org/drawingml/2006/main">
                <a:srgbClr val="5E7182"/>
              </a:solidFill>
            </c:spPr>
          </c:dPt>
          <c:dPt>
            <c:idx val="1"/>
            <c:invertIfNegative val="0"/>
            <c:spPr>
              <a:solidFill xmlns:a="http://schemas.openxmlformats.org/drawingml/2006/main">
                <a:srgbClr val="2B6FAE"/>
              </a:solidFill>
            </c:spPr>
          </c:dPt>
          <c:dPt>
            <c:idx val="2"/>
            <c:invertIfNegative val="0"/>
            <c:spPr>
              <a:solidFill xmlns:a="http://schemas.openxmlformats.org/drawingml/2006/main">
                <a:srgbClr val="087F72"/>
              </a:solidFill>
            </c:spPr>
          </c:dPt>
          <c:cat>
            <c:strRef>
              <c:f>'Chart Data'!$A$2:$A$4</c:f>
              <c:strCache>
                <c:ptCount val="3"/>
                <c:pt idx="0">
                  <c:v>YOLOv8n</c:v>
                </c:pt>
                <c:pt idx="1">
                  <c:v>YOLO11n</c:v>
                </c:pt>
                <c:pt idx="2">
                  <c:v>RF-DETR Nano</c:v>
                </c:pt>
              </c:strCache>
            </c:strRef>
          </c:cat>
          <c:val>
            <c:numRef>
              <c:f>'Chart Data'!$B$2:$B$4</c:f>
              <c:numCache>
                <c:formatCode>0"%"</c:formatCode>
                <c:ptCount val="3"/>
                <c:pt idx="0">
                  <c:v>12</c:v>
                </c:pt>
                <c:pt idx="1">
                  <c:v>25</c:v>
                </c:pt>
                <c:pt idx="2">
                  <c:v>79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7324D"/>
                  </a:solidFill>
                  <a:latin typeface="Arial"/>
                  <a:ea typeface="Arial"/>
                  <a:cs typeface="Arial"/>
                </a:defRPr>
              </a:pPr>
            </a:p>
          </c:txPr>
          <c:dLblPos val="outEnd"/>
          <c:showLegendKey val="0"/>
          <c:showVal val="1"/>
          <c:showCatName val="0"/>
          <c:showSerName val="0"/>
          <c:showPercent val="0"/>
          <c:showBubbleSize val="0"/>
          <c:showLeaderLines val="0"/>
        </c:dLbls>
        <c:gapWidth val="64"/>
        <c:axId val="48650112"/>
        <c:axId val="48672768"/>
      </c:barChart>
      <c:catAx>
        <c:axId val="48650112"/>
        <c:scaling>
          <c:orientation val="minMax"/>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E7182"/>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7324D"/>
                </a:solidFill>
                <a:latin typeface="Arial"/>
                <a:ea typeface="Arial"/>
                <a:cs typeface="Arial"/>
              </a:defRPr>
            </a:pPr>
          </a:p>
        </c:txPr>
        <c:crossAx val="48650112"/>
        <c:crossBetween val="between"/>
      </c:valAx>
      <c:spPr>
        <a:solidFill xmlns:a="http://schemas.openxmlformats.org/drawingml/2006/main">
          <a:srgbClr val="F8FAFC"/>
        </a:solidFill>
        <a:ln xmlns:a="http://schemas.openxmlformats.org/drawingml/2006/main" w="0">
          <a:noFill/>
        </a:ln>
      </c:spPr>
    </c:plotArea>
    <c:plotVisOnly val="1"/>
  </c:chart>
  <c:spPr>
    <a:solidFill xmlns:a="http://schemas.openxmlformats.org/drawingml/2006/main">
      <a:srgbClr val="F8FAFC"/>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Recall</c:v>
          </c:tx>
          <c:spPr>
            <a:solidFill xmlns:a="http://schemas.openxmlformats.org/drawingml/2006/main">
              <a:srgbClr val="087F72"/>
            </a:solidFill>
          </c:spPr>
          <c:dPt>
            <c:idx val="0"/>
            <c:invertIfNegative val="0"/>
            <c:spPr>
              <a:solidFill xmlns:a="http://schemas.openxmlformats.org/drawingml/2006/main">
                <a:srgbClr val="5E7182"/>
              </a:solidFill>
            </c:spPr>
          </c:dPt>
          <c:dPt>
            <c:idx val="1"/>
            <c:invertIfNegative val="0"/>
            <c:spPr>
              <a:solidFill xmlns:a="http://schemas.openxmlformats.org/drawingml/2006/main">
                <a:srgbClr val="2B6FAE"/>
              </a:solidFill>
            </c:spPr>
          </c:dPt>
          <c:dPt>
            <c:idx val="2"/>
            <c:invertIfNegative val="0"/>
            <c:spPr>
              <a:solidFill xmlns:a="http://schemas.openxmlformats.org/drawingml/2006/main">
                <a:srgbClr val="A86E00"/>
              </a:solidFill>
            </c:spPr>
          </c:dPt>
          <c:dPt>
            <c:idx val="3"/>
            <c:invertIfNegative val="0"/>
            <c:spPr>
              <a:solidFill xmlns:a="http://schemas.openxmlformats.org/drawingml/2006/main">
                <a:srgbClr val="087F72"/>
              </a:solidFill>
            </c:spPr>
          </c:dPt>
          <c:cat>
            <c:strRef>
              <c:f>'Chart Data'!$A$2:$A$5</c:f>
              <c:strCache>
                <c:ptCount val="4"/>
                <c:pt idx="0">
                  <c:v>Stock YOLO11n</c:v>
                </c:pt>
                <c:pt idx="1">
                  <c:v>Stock RF-DETR-S</c:v>
                </c:pt>
                <c:pt idx="2">
                  <c:v>MuJoCo-tuned YOLO</c:v>
                </c:pt>
                <c:pt idx="3">
                  <c:v>Isaac-tuned YOLO</c:v>
                </c:pt>
              </c:strCache>
            </c:strRef>
          </c:cat>
          <c:val>
            <c:numRef>
              <c:f>'Chart Data'!$B$2:$B$5</c:f>
              <c:numCache>
                <c:formatCode>0"%"</c:formatCode>
                <c:ptCount val="4"/>
                <c:pt idx="0">
                  <c:v>16</c:v>
                </c:pt>
                <c:pt idx="1">
                  <c:v>75</c:v>
                </c:pt>
                <c:pt idx="2">
                  <c:v>83</c:v>
                </c:pt>
                <c:pt idx="3">
                  <c:v>95</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7324D"/>
                  </a:solidFill>
                  <a:latin typeface="Arial"/>
                  <a:ea typeface="Arial"/>
                  <a:cs typeface="Arial"/>
                </a:defRPr>
              </a:pPr>
            </a:p>
          </c:txPr>
          <c:dLblPos val="outEnd"/>
          <c:showLegendKey val="0"/>
          <c:showVal val="1"/>
          <c:showCatName val="0"/>
          <c:showSerName val="0"/>
          <c:showPercent val="0"/>
          <c:showBubbleSize val="0"/>
          <c:showLeaderLines val="0"/>
        </c:dLbls>
        <c:gapWidth val="54"/>
        <c:axId val="48650112"/>
        <c:axId val="48672768"/>
      </c:barChart>
      <c:catAx>
        <c:axId val="48650112"/>
        <c:scaling>
          <c:orientation val="minMax"/>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E7182"/>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17324D"/>
                </a:solidFill>
                <a:latin typeface="Arial"/>
                <a:ea typeface="Arial"/>
                <a:cs typeface="Arial"/>
              </a:defRPr>
            </a:pPr>
          </a:p>
        </c:txPr>
        <c:crossAx val="48650112"/>
        <c:crossBetween val="between"/>
      </c:valAx>
      <c:spPr>
        <a:solidFill xmlns:a="http://schemas.openxmlformats.org/drawingml/2006/main">
          <a:srgbClr val="F8FAFC"/>
        </a:solidFill>
        <a:ln xmlns:a="http://schemas.openxmlformats.org/drawingml/2006/main" w="0">
          <a:noFill/>
        </a:ln>
      </c:spPr>
    </c:plotArea>
    <c:plotVisOnly val="1"/>
  </c:chart>
  <c:spPr>
    <a:solidFill xmlns:a="http://schemas.openxmlformats.org/drawingml/2006/main">
      <a:srgbClr val="F8FAF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a5a059866454220"/>
          <a:srcRect xmlns:a="http://schemas.openxmlformats.org/drawingml/2006/main" l="25187" t="0" r="25187" b="0"/>
          <a:stretch xmlns:a="http://schemas.openxmlformats.org/drawingml/2006/main">
            <a:fillRect l="0" t="0" r="0" b="0"/>
          </a:stretch>
        </p:blipFill>
        <p:spPr>
          <a:xfrm xmlns:a="http://schemas.openxmlformats.org/drawingml/2006/main">
            <a:off x="6667500" y="609600"/>
            <a:ext cx="4972050" cy="5638800"/>
          </a:xfrm>
          <a:prstGeom xmlns:a="http://schemas.openxmlformats.org/drawingml/2006/main" prst="roundRect">
            <a:avLst>
              <a:gd name="adj" fmla="val 4598"/>
            </a:avLst>
          </a:prstGeom>
        </p:spPr>
      </p:pic>
      <p:sp>
        <p:nvSpPr>
          <p:cNvPr id="2" name="">
            <a:extLst xmlns:a="http://schemas.openxmlformats.org/drawingml/2006/main">
              <a:ext uri="{FF2B5EF4-FFF2-40B4-BE49-F238E27FC236}">
                <a16:creationId xmlns:a16="http://schemas.microsoft.com/office/drawing/2014/main" id="{5A45C451-6135-439C-95BD-28D958AC74B0}"/>
              </a:ext>
            </a:extLst>
          </p:cNvPr>
          <p:cNvSpPr>
            <a:spLocks xmlns:a="http://schemas.openxmlformats.org/drawingml/2006/main" noGrp="1"/>
          </p:cNvSpPr>
          <p:nvPr/>
        </p:nvSpPr>
        <p:spPr>
          <a:xfrm xmlns:a="http://schemas.openxmlformats.org/drawingml/2006/main">
            <a:off x="6076950" y="609600"/>
            <a:ext cx="19050" cy="5638800"/>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A4073C-0F6F-4091-8063-4D3F96B851EE}"/>
              </a:ext>
            </a:extLst>
          </p:cNvPr>
          <p:cNvSpPr>
            <a:spLocks xmlns:a="http://schemas.openxmlformats.org/drawingml/2006/main" noGrp="1"/>
          </p:cNvSpPr>
          <p:nvPr/>
        </p:nvSpPr>
        <p:spPr>
          <a:xfrm xmlns:a="http://schemas.openxmlformats.org/drawingml/2006/main">
            <a:off x="552450" y="876300"/>
            <a:ext cx="381000" cy="381000"/>
          </a:xfrm>
          <a:prstGeom xmlns:a="http://schemas.openxmlformats.org/drawingml/2006/main" prst="roundRect">
            <a:avLst>
              <a:gd name="adj" fmla="val 27500"/>
            </a:avLst>
          </a:prstGeom>
          <a:solidFill xmlns:a="http://schemas.openxmlformats.org/drawingml/2006/main">
            <a:srgbClr val="087F7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0B2908-D286-4438-8EFF-B35BE9CB5972}"/>
              </a:ext>
            </a:extLst>
          </p:cNvPr>
          <p:cNvSpPr>
            <a:spLocks xmlns:a="http://schemas.openxmlformats.org/drawingml/2006/main" noGrp="1"/>
          </p:cNvSpPr>
          <p:nvPr/>
        </p:nvSpPr>
        <p:spPr>
          <a:xfrm xmlns:a="http://schemas.openxmlformats.org/drawingml/2006/main">
            <a:off x="638175" y="1057275"/>
            <a:ext cx="47625" cy="1143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F31C0B-981D-4221-AF1A-B561036F7AF7}"/>
              </a:ext>
            </a:extLst>
          </p:cNvPr>
          <p:cNvSpPr>
            <a:spLocks xmlns:a="http://schemas.openxmlformats.org/drawingml/2006/main" noGrp="1"/>
          </p:cNvSpPr>
          <p:nvPr/>
        </p:nvSpPr>
        <p:spPr>
          <a:xfrm xmlns:a="http://schemas.openxmlformats.org/drawingml/2006/main">
            <a:off x="723900" y="962025"/>
            <a:ext cx="47625" cy="2095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C930F42-851C-4851-9D2D-CE3D3336FD23}"/>
              </a:ext>
            </a:extLst>
          </p:cNvPr>
          <p:cNvSpPr>
            <a:spLocks xmlns:a="http://schemas.openxmlformats.org/drawingml/2006/main" noGrp="1"/>
          </p:cNvSpPr>
          <p:nvPr/>
        </p:nvSpPr>
        <p:spPr>
          <a:xfrm xmlns:a="http://schemas.openxmlformats.org/drawingml/2006/main">
            <a:off x="809625" y="1009650"/>
            <a:ext cx="47625" cy="161925"/>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00E55AC-DAD2-419E-8FCA-2DCE3FCC3BC4}"/>
              </a:ext>
            </a:extLst>
          </p:cNvPr>
          <p:cNvSpPr>
            <a:spLocks xmlns:a="http://schemas.openxmlformats.org/drawingml/2006/main" noGrp="1"/>
          </p:cNvSpPr>
          <p:nvPr/>
        </p:nvSpPr>
        <p:spPr>
          <a:xfrm xmlns:a="http://schemas.openxmlformats.org/drawingml/2006/main">
            <a:off x="552450" y="1666875"/>
            <a:ext cx="4857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17324D"/>
                </a:solidFill>
                <a:latin typeface="Arial"/>
                <a:ea typeface="Arial"/>
                <a:cs typeface="Arial"/>
              </a:defRPr>
            </a:pPr>
            <a:r>
              <a:rPr sz="4050" b="1">
                <a:solidFill>
                  <a:srgbClr val="17324D"/>
                </a:solidFill>
                <a:latin typeface="Arial"/>
                <a:ea typeface="Arial"/>
                <a:cs typeface="Arial"/>
              </a:rPr>
              <a:t>LIFE VISION</a:t>
            </a:r>
          </a:p>
        </p:txBody>
      </p:sp>
      <p:sp>
        <p:nvSpPr>
          <p:cNvPr id="8" name="">
            <a:extLst xmlns:a="http://schemas.openxmlformats.org/drawingml/2006/main">
              <a:ext uri="{FF2B5EF4-FFF2-40B4-BE49-F238E27FC236}">
                <a16:creationId xmlns:a16="http://schemas.microsoft.com/office/drawing/2014/main" id="{96C2B67C-12A6-491E-B4E2-D2542CD839F5}"/>
              </a:ext>
            </a:extLst>
          </p:cNvPr>
          <p:cNvSpPr>
            <a:spLocks xmlns:a="http://schemas.openxmlformats.org/drawingml/2006/main" noGrp="1"/>
          </p:cNvSpPr>
          <p:nvPr/>
        </p:nvSpPr>
        <p:spPr>
          <a:xfrm xmlns:a="http://schemas.openxmlformats.org/drawingml/2006/main">
            <a:off x="552450" y="243840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75" b="0">
                <a:solidFill>
                  <a:srgbClr val="087F72"/>
                </a:solidFill>
                <a:latin typeface="Arial"/>
                <a:ea typeface="Arial"/>
                <a:cs typeface="Arial"/>
              </a:defRPr>
            </a:pPr>
            <a:r>
              <a:rPr sz="2175" b="0">
                <a:solidFill>
                  <a:srgbClr val="087F72"/>
                </a:solidFill>
                <a:latin typeface="Arial"/>
                <a:ea typeface="Arial"/>
                <a:cs typeface="Arial"/>
              </a:rPr>
              <a:t>A second set of eyes</a:t>
            </a:r>
          </a:p>
          <a:p xmlns:a="http://schemas.openxmlformats.org/drawingml/2006/main">
            <a:pPr>
              <a:defRPr sz="2175" b="0">
                <a:solidFill>
                  <a:srgbClr val="087F72"/>
                </a:solidFill>
                <a:latin typeface="Arial"/>
                <a:ea typeface="Arial"/>
                <a:cs typeface="Arial"/>
              </a:defRPr>
            </a:pPr>
            <a:r>
              <a:rPr sz="2175" b="0">
                <a:solidFill>
                  <a:srgbClr val="087F72"/>
                </a:solidFill>
                <a:latin typeface="Arial"/>
                <a:ea typeface="Arial"/>
                <a:cs typeface="Arial"/>
              </a:rPr>
              <a:t>for the backyard pool</a:t>
            </a:r>
          </a:p>
        </p:txBody>
      </p:sp>
      <p:sp>
        <p:nvSpPr>
          <p:cNvPr id="9" name="">
            <a:extLst xmlns:a="http://schemas.openxmlformats.org/drawingml/2006/main">
              <a:ext uri="{FF2B5EF4-FFF2-40B4-BE49-F238E27FC236}">
                <a16:creationId xmlns:a16="http://schemas.microsoft.com/office/drawing/2014/main" id="{5149F062-55C5-4064-B337-02DDB1E43E9B}"/>
              </a:ext>
            </a:extLst>
          </p:cNvPr>
          <p:cNvSpPr>
            <a:spLocks xmlns:a="http://schemas.openxmlformats.org/drawingml/2006/main" noGrp="1"/>
          </p:cNvSpPr>
          <p:nvPr/>
        </p:nvSpPr>
        <p:spPr>
          <a:xfrm xmlns:a="http://schemas.openxmlformats.org/drawingml/2006/main">
            <a:off x="552450" y="54864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17324D"/>
                </a:solidFill>
                <a:latin typeface="Arial"/>
                <a:ea typeface="Arial"/>
                <a:cs typeface="Arial"/>
              </a:defRPr>
            </a:pPr>
            <a:r>
              <a:rPr sz="1050" b="1">
                <a:solidFill>
                  <a:srgbClr val="17324D"/>
                </a:solidFill>
                <a:latin typeface="Arial"/>
                <a:ea typeface="Arial"/>
                <a:cs typeface="Arial"/>
              </a:rPr>
              <a:t>Hackathon prototype</a:t>
            </a:r>
          </a:p>
        </p:txBody>
      </p:sp>
      <p:sp>
        <p:nvSpPr>
          <p:cNvPr id="10" name="">
            <a:extLst xmlns:a="http://schemas.openxmlformats.org/drawingml/2006/main">
              <a:ext uri="{FF2B5EF4-FFF2-40B4-BE49-F238E27FC236}">
                <a16:creationId xmlns:a16="http://schemas.microsoft.com/office/drawing/2014/main" id="{865F5565-4EE6-456B-B896-2A2C378AED65}"/>
              </a:ext>
            </a:extLst>
          </p:cNvPr>
          <p:cNvSpPr>
            <a:spLocks xmlns:a="http://schemas.openxmlformats.org/drawingml/2006/main" noGrp="1"/>
          </p:cNvSpPr>
          <p:nvPr/>
        </p:nvSpPr>
        <p:spPr>
          <a:xfrm xmlns:a="http://schemas.openxmlformats.org/drawingml/2006/main">
            <a:off x="552450" y="583882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E7182"/>
                </a:solidFill>
                <a:latin typeface="Arial"/>
                <a:ea typeface="Arial"/>
                <a:cs typeface="Arial"/>
              </a:defRPr>
            </a:pPr>
            <a:r>
              <a:rPr sz="975" b="0">
                <a:solidFill>
                  <a:srgbClr val="5E7182"/>
                </a:solidFill>
                <a:latin typeface="Arial"/>
                <a:ea typeface="Arial"/>
                <a:cs typeface="Arial"/>
              </a:rPr>
              <a:t>Local video analysis · 24-hour prototype</a:t>
            </a:r>
          </a:p>
        </p:txBody>
      </p:sp>
    </p:spTree>
    <p:extLst>
      <p:ext uri="{BB962C8B-B14F-4D97-AF65-F5344CB8AC3E}">
        <p14:creationId xmlns:p14="http://schemas.microsoft.com/office/powerpoint/2010/main" val="1995340102"/>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0A0056D-2DBA-4358-8D40-7E20591E0BE9}"/>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WHY THIS MATTERS</a:t>
            </a:r>
          </a:p>
        </p:txBody>
      </p:sp>
      <p:sp>
        <p:nvSpPr>
          <p:cNvPr id="2" name="">
            <a:extLst xmlns:a="http://schemas.openxmlformats.org/drawingml/2006/main">
              <a:ext uri="{FF2B5EF4-FFF2-40B4-BE49-F238E27FC236}">
                <a16:creationId xmlns:a16="http://schemas.microsoft.com/office/drawing/2014/main" id="{8465C289-0996-4E0A-8950-0891252A254A}"/>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2392072-2EEA-423C-B6FA-59717C688B98}"/>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A44380-10D0-4999-BB53-5FA9B4BB7CC5}"/>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The risk is fast, quiet, and easy to miss</a:t>
            </a:r>
          </a:p>
        </p:txBody>
      </p:sp>
      <p:sp>
        <p:nvSpPr>
          <p:cNvPr id="5" name="">
            <a:extLst xmlns:a="http://schemas.openxmlformats.org/drawingml/2006/main">
              <a:ext uri="{FF2B5EF4-FFF2-40B4-BE49-F238E27FC236}">
                <a16:creationId xmlns:a16="http://schemas.microsoft.com/office/drawing/2014/main" id="{D0004CE2-5896-40C4-A660-5B58A0459B17}"/>
              </a:ext>
            </a:extLst>
          </p:cNvPr>
          <p:cNvSpPr>
            <a:spLocks xmlns:a="http://schemas.openxmlformats.org/drawingml/2006/main" noGrp="1"/>
          </p:cNvSpPr>
          <p:nvPr/>
        </p:nvSpPr>
        <p:spPr>
          <a:xfrm xmlns:a="http://schemas.openxmlformats.org/drawingml/2006/main">
            <a:off x="552450" y="1857375"/>
            <a:ext cx="140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350" b="1">
                <a:solidFill>
                  <a:srgbClr val="C43D4D"/>
                </a:solidFill>
                <a:latin typeface="Arial"/>
                <a:ea typeface="Arial"/>
                <a:cs typeface="Arial"/>
              </a:defRPr>
            </a:pPr>
            <a:r>
              <a:rPr sz="4350" b="1">
                <a:solidFill>
                  <a:srgbClr val="C43D4D"/>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4276174B-D3DE-4D34-8EFB-B535A3490A4B}"/>
              </a:ext>
            </a:extLst>
          </p:cNvPr>
          <p:cNvSpPr>
            <a:spLocks xmlns:a="http://schemas.openxmlformats.org/drawingml/2006/main" noGrp="1"/>
          </p:cNvSpPr>
          <p:nvPr/>
        </p:nvSpPr>
        <p:spPr>
          <a:xfrm xmlns:a="http://schemas.openxmlformats.org/drawingml/2006/main">
            <a:off x="2000250" y="1895475"/>
            <a:ext cx="3667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cause of death for U.S. children ages 1 to 4</a:t>
            </a:r>
          </a:p>
        </p:txBody>
      </p:sp>
      <p:sp>
        <p:nvSpPr>
          <p:cNvPr id="7" name="">
            <a:extLst xmlns:a="http://schemas.openxmlformats.org/drawingml/2006/main">
              <a:ext uri="{FF2B5EF4-FFF2-40B4-BE49-F238E27FC236}">
                <a16:creationId xmlns:a16="http://schemas.microsoft.com/office/drawing/2014/main" id="{78FF3ECB-5C27-45AE-8E70-F852820437E5}"/>
              </a:ext>
            </a:extLst>
          </p:cNvPr>
          <p:cNvSpPr>
            <a:spLocks xmlns:a="http://schemas.openxmlformats.org/drawingml/2006/main" noGrp="1"/>
          </p:cNvSpPr>
          <p:nvPr/>
        </p:nvSpPr>
        <p:spPr>
          <a:xfrm xmlns:a="http://schemas.openxmlformats.org/drawingml/2006/main">
            <a:off x="552450" y="2905125"/>
            <a:ext cx="51054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B756C0-E7CE-4A7B-9762-E26A2FA2FF3D}"/>
              </a:ext>
            </a:extLst>
          </p:cNvPr>
          <p:cNvSpPr>
            <a:spLocks xmlns:a="http://schemas.openxmlformats.org/drawingml/2006/main" noGrp="1"/>
          </p:cNvSpPr>
          <p:nvPr/>
        </p:nvSpPr>
        <p:spPr>
          <a:xfrm xmlns:a="http://schemas.openxmlformats.org/drawingml/2006/main">
            <a:off x="552450" y="3162300"/>
            <a:ext cx="140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350" b="1">
                <a:solidFill>
                  <a:srgbClr val="087F72"/>
                </a:solidFill>
                <a:latin typeface="Arial"/>
                <a:ea typeface="Arial"/>
                <a:cs typeface="Arial"/>
              </a:defRPr>
            </a:pPr>
            <a:r>
              <a:rPr sz="4350" b="1">
                <a:solidFill>
                  <a:srgbClr val="087F72"/>
                </a:solidFill>
                <a:latin typeface="Arial"/>
                <a:ea typeface="Arial"/>
                <a:cs typeface="Arial"/>
              </a:rPr>
              <a:t>61%</a:t>
            </a:r>
          </a:p>
        </p:txBody>
      </p:sp>
      <p:sp>
        <p:nvSpPr>
          <p:cNvPr id="9" name="">
            <a:extLst xmlns:a="http://schemas.openxmlformats.org/drawingml/2006/main">
              <a:ext uri="{FF2B5EF4-FFF2-40B4-BE49-F238E27FC236}">
                <a16:creationId xmlns:a16="http://schemas.microsoft.com/office/drawing/2014/main" id="{D2EF03C8-8FAD-4B0B-BD84-E2096B469EFE}"/>
              </a:ext>
            </a:extLst>
          </p:cNvPr>
          <p:cNvSpPr>
            <a:spLocks xmlns:a="http://schemas.openxmlformats.org/drawingml/2006/main" noGrp="1"/>
          </p:cNvSpPr>
          <p:nvPr/>
        </p:nvSpPr>
        <p:spPr>
          <a:xfrm xmlns:a="http://schemas.openxmlformats.org/drawingml/2006/main">
            <a:off x="2000250" y="3200400"/>
            <a:ext cx="3667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of reported pool and spa fatalities under age 5 involved a gap in adult supervision</a:t>
            </a:r>
          </a:p>
        </p:txBody>
      </p:sp>
      <p:sp>
        <p:nvSpPr>
          <p:cNvPr id="10" name="">
            <a:extLst xmlns:a="http://schemas.openxmlformats.org/drawingml/2006/main">
              <a:ext uri="{FF2B5EF4-FFF2-40B4-BE49-F238E27FC236}">
                <a16:creationId xmlns:a16="http://schemas.microsoft.com/office/drawing/2014/main" id="{9B4E0E41-F26A-4B94-B87D-98A4FF336C29}"/>
              </a:ext>
            </a:extLst>
          </p:cNvPr>
          <p:cNvSpPr>
            <a:spLocks xmlns:a="http://schemas.openxmlformats.org/drawingml/2006/main" noGrp="1"/>
          </p:cNvSpPr>
          <p:nvPr/>
        </p:nvSpPr>
        <p:spPr>
          <a:xfrm xmlns:a="http://schemas.openxmlformats.org/drawingml/2006/main">
            <a:off x="552450" y="4210050"/>
            <a:ext cx="51054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CD43EB-7AD9-4FE0-B118-923216BFA709}"/>
              </a:ext>
            </a:extLst>
          </p:cNvPr>
          <p:cNvSpPr>
            <a:spLocks xmlns:a="http://schemas.openxmlformats.org/drawingml/2006/main" noGrp="1"/>
          </p:cNvSpPr>
          <p:nvPr/>
        </p:nvSpPr>
        <p:spPr>
          <a:xfrm xmlns:a="http://schemas.openxmlformats.org/drawingml/2006/main">
            <a:off x="552450" y="4467225"/>
            <a:ext cx="140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350" b="1">
                <a:solidFill>
                  <a:srgbClr val="2B6FAE"/>
                </a:solidFill>
                <a:latin typeface="Arial"/>
                <a:ea typeface="Arial"/>
                <a:cs typeface="Arial"/>
              </a:defRPr>
            </a:pPr>
            <a:r>
              <a:rPr sz="4350" b="1">
                <a:solidFill>
                  <a:srgbClr val="2B6FAE"/>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66467109-F6CC-4D0F-87EA-E040AF53C1A1}"/>
              </a:ext>
            </a:extLst>
          </p:cNvPr>
          <p:cNvSpPr>
            <a:spLocks xmlns:a="http://schemas.openxmlformats.org/drawingml/2006/main" noGrp="1"/>
          </p:cNvSpPr>
          <p:nvPr/>
        </p:nvSpPr>
        <p:spPr>
          <a:xfrm xmlns:a="http://schemas.openxmlformats.org/drawingml/2006/main">
            <a:off x="2000250" y="4505325"/>
            <a:ext cx="3667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455"/>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In one U.S. case series of fatal incidents at lifeguarded pools, bystanders first noticed victims twice as often as lifeguards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e6861783b044893"/>
          <a:srcRect xmlns:a="http://schemas.openxmlformats.org/drawingml/2006/main" l="9161" t="0" r="9161" b="0"/>
          <a:stretch xmlns:a="http://schemas.openxmlformats.org/drawingml/2006/main">
            <a:fillRect l="0" t="0" r="0" b="0"/>
          </a:stretch>
        </p:blipFill>
        <p:spPr>
          <a:xfrm xmlns:a="http://schemas.openxmlformats.org/drawingml/2006/main">
            <a:off x="6248400" y="1847850"/>
            <a:ext cx="5391150" cy="3714750"/>
          </a:xfrm>
          <a:prstGeom xmlns:a="http://schemas.openxmlformats.org/drawingml/2006/main" prst="roundRect">
            <a:avLst>
              <a:gd name="adj" fmla="val 5641"/>
            </a:avLst>
          </a:prstGeom>
        </p:spPr>
      </p:pic>
      <p:sp>
        <p:nvSpPr>
          <p:cNvPr id="14" name="">
            <a:extLst xmlns:a="http://schemas.openxmlformats.org/drawingml/2006/main">
              <a:ext uri="{FF2B5EF4-FFF2-40B4-BE49-F238E27FC236}">
                <a16:creationId xmlns:a16="http://schemas.microsoft.com/office/drawing/2014/main" id="{BF925891-66DD-476A-8DEB-5F26076298BE}"/>
              </a:ext>
            </a:extLst>
          </p:cNvPr>
          <p:cNvSpPr>
            <a:spLocks xmlns:a="http://schemas.openxmlformats.org/drawingml/2006/main" noGrp="1"/>
          </p:cNvSpPr>
          <p:nvPr/>
        </p:nvSpPr>
        <p:spPr>
          <a:xfrm xmlns:a="http://schemas.openxmlformats.org/drawingml/2006/main">
            <a:off x="6248400" y="5753100"/>
            <a:ext cx="5391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259"/>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Technology can support attention. It cannot replace supervision or trained rescue staff.</a:t>
            </a:r>
          </a:p>
        </p:txBody>
      </p:sp>
      <p:sp>
        <p:nvSpPr>
          <p:cNvPr id="15" name="">
            <a:extLst xmlns:a="http://schemas.openxmlformats.org/drawingml/2006/main">
              <a:ext uri="{FF2B5EF4-FFF2-40B4-BE49-F238E27FC236}">
                <a16:creationId xmlns:a16="http://schemas.microsoft.com/office/drawing/2014/main" id="{B8C7D175-7D47-4019-96D7-A8F9DC6EE36C}"/>
              </a:ext>
            </a:extLst>
          </p:cNvPr>
          <p:cNvSpPr>
            <a:spLocks xmlns:a="http://schemas.openxmlformats.org/drawingml/2006/main" noGrp="1"/>
          </p:cNvSpPr>
          <p:nvPr/>
        </p:nvSpPr>
        <p:spPr>
          <a:xfrm xmlns:a="http://schemas.openxmlformats.org/drawingml/2006/main">
            <a:off x="552450" y="6505575"/>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259"/>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CDC 2026 · CPSC 2024 · LIFEGUARDED-POOL CASE SERIES 2000–2008</a:t>
            </a:r>
          </a:p>
        </p:txBody>
      </p:sp>
    </p:spTree>
    <p:extLst>
      <p:ext uri="{BB962C8B-B14F-4D97-AF65-F5344CB8AC3E}">
        <p14:creationId xmlns:p14="http://schemas.microsoft.com/office/powerpoint/2010/main" val="971704896"/>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4D7350F2-BCF9-4701-A323-11F85615B00B}"/>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DECISION RULE</a:t>
            </a:r>
          </a:p>
        </p:txBody>
      </p:sp>
      <p:sp>
        <p:nvSpPr>
          <p:cNvPr id="2" name="">
            <a:extLst xmlns:a="http://schemas.openxmlformats.org/drawingml/2006/main">
              <a:ext uri="{FF2B5EF4-FFF2-40B4-BE49-F238E27FC236}">
                <a16:creationId xmlns:a16="http://schemas.microsoft.com/office/drawing/2014/main" id="{C94D4C07-12A2-4692-BC4E-95888E37C717}"/>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9D1D88E-470C-4218-87C8-4A4BF92B5272}"/>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C48050-3A8D-43DD-9074-8A919122E11C}"/>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The system times one observable condition</a:t>
            </a:r>
          </a:p>
        </p:txBody>
      </p:sp>
      <p:sp>
        <p:nvSpPr>
          <p:cNvPr id="5" name="">
            <a:extLst xmlns:a="http://schemas.openxmlformats.org/drawingml/2006/main">
              <a:ext uri="{FF2B5EF4-FFF2-40B4-BE49-F238E27FC236}">
                <a16:creationId xmlns:a16="http://schemas.microsoft.com/office/drawing/2014/main" id="{0DD71F82-71A6-4641-A2D1-8E9DA8A9BE03}"/>
              </a:ext>
            </a:extLst>
          </p:cNvPr>
          <p:cNvSpPr>
            <a:spLocks xmlns:a="http://schemas.openxmlformats.org/drawingml/2006/main" noGrp="1"/>
          </p:cNvSpPr>
          <p:nvPr/>
        </p:nvSpPr>
        <p:spPr>
          <a:xfrm xmlns:a="http://schemas.openxmlformats.org/drawingml/2006/main">
            <a:off x="552450" y="2247900"/>
            <a:ext cx="2209800" cy="1428750"/>
          </a:xfrm>
          <a:prstGeom xmlns:a="http://schemas.openxmlformats.org/drawingml/2006/main" prst="roundRect">
            <a:avLst>
              <a:gd name="adj" fmla="val 12000"/>
            </a:avLst>
          </a:prstGeom>
          <a:solidFill xmlns:a="http://schemas.openxmlformats.org/drawingml/2006/main">
            <a:srgbClr val="EEF5F6"/>
          </a:solidFill>
          <a:ln xmlns:a="http://schemas.openxmlformats.org/drawingml/2006/main" w="19050">
            <a:solidFill>
              <a:srgbClr val="087F72"/>
            </a:solidFill>
          </a:ln>
        </p:spPr>
      </p:sp>
      <p:sp>
        <p:nvSpPr>
          <p:cNvPr id="6" name="">
            <a:extLst xmlns:a="http://schemas.openxmlformats.org/drawingml/2006/main">
              <a:ext uri="{FF2B5EF4-FFF2-40B4-BE49-F238E27FC236}">
                <a16:creationId xmlns:a16="http://schemas.microsoft.com/office/drawing/2014/main" id="{78F87D30-BC68-4C3E-B3D5-3CDA423B0386}"/>
              </a:ext>
            </a:extLst>
          </p:cNvPr>
          <p:cNvSpPr>
            <a:spLocks xmlns:a="http://schemas.openxmlformats.org/drawingml/2006/main" noGrp="1"/>
          </p:cNvSpPr>
          <p:nvPr/>
        </p:nvSpPr>
        <p:spPr>
          <a:xfrm xmlns:a="http://schemas.openxmlformats.org/drawingml/2006/main">
            <a:off x="742950" y="2457450"/>
            <a:ext cx="133350" cy="590550"/>
          </a:xfrm>
          <a:prstGeom xmlns:a="http://schemas.openxmlformats.org/drawingml/2006/main" prst="roundRect">
            <a:avLst>
              <a:gd name="adj" fmla="val 50000"/>
            </a:avLst>
          </a:prstGeom>
          <a:solidFill xmlns:a="http://schemas.openxmlformats.org/drawingml/2006/main">
            <a:srgbClr val="087F7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CC4C02-E757-4C98-B576-E8F503F2B654}"/>
              </a:ext>
            </a:extLst>
          </p:cNvPr>
          <p:cNvSpPr>
            <a:spLocks xmlns:a="http://schemas.openxmlformats.org/drawingml/2006/main" noGrp="1"/>
          </p:cNvSpPr>
          <p:nvPr/>
        </p:nvSpPr>
        <p:spPr>
          <a:xfrm xmlns:a="http://schemas.openxmlformats.org/drawingml/2006/main">
            <a:off x="1028700" y="240030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C3897C1E-62C8-4B06-9D7F-59C6D81A2704}"/>
              </a:ext>
            </a:extLst>
          </p:cNvPr>
          <p:cNvSpPr>
            <a:spLocks xmlns:a="http://schemas.openxmlformats.org/drawingml/2006/main" noGrp="1"/>
          </p:cNvSpPr>
          <p:nvPr/>
        </p:nvSpPr>
        <p:spPr>
          <a:xfrm xmlns:a="http://schemas.openxmlformats.org/drawingml/2006/main">
            <a:off x="1028700" y="2667000"/>
            <a:ext cx="1504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087F72"/>
                </a:solidFill>
                <a:latin typeface="Arial"/>
                <a:ea typeface="Arial"/>
                <a:cs typeface="Arial"/>
              </a:defRPr>
            </a:pPr>
            <a:r>
              <a:rPr sz="1425" b="1">
                <a:solidFill>
                  <a:srgbClr val="087F72"/>
                </a:solidFill>
                <a:latin typeface="Arial"/>
                <a:ea typeface="Arial"/>
                <a:cs typeface="Arial"/>
              </a:rPr>
              <a:t>HEAD ABOVE</a:t>
            </a:r>
          </a:p>
        </p:txBody>
      </p:sp>
      <p:sp>
        <p:nvSpPr>
          <p:cNvPr id="9" name="">
            <a:extLst xmlns:a="http://schemas.openxmlformats.org/drawingml/2006/main">
              <a:ext uri="{FF2B5EF4-FFF2-40B4-BE49-F238E27FC236}">
                <a16:creationId xmlns:a16="http://schemas.microsoft.com/office/drawing/2014/main" id="{C90902CE-1B24-4C6E-99A2-0AC9BB94F63B}"/>
              </a:ext>
            </a:extLst>
          </p:cNvPr>
          <p:cNvSpPr>
            <a:spLocks xmlns:a="http://schemas.openxmlformats.org/drawingml/2006/main" noGrp="1"/>
          </p:cNvSpPr>
          <p:nvPr/>
        </p:nvSpPr>
        <p:spPr>
          <a:xfrm xmlns:a="http://schemas.openxmlformats.org/drawingml/2006/main">
            <a:off x="742950" y="316230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Monitoring active</a:t>
            </a:r>
          </a:p>
        </p:txBody>
      </p:sp>
      <p:sp>
        <p:nvSpPr>
          <p:cNvPr id="10" name="">
            <a:extLst xmlns:a="http://schemas.openxmlformats.org/drawingml/2006/main">
              <a:ext uri="{FF2B5EF4-FFF2-40B4-BE49-F238E27FC236}">
                <a16:creationId xmlns:a16="http://schemas.microsoft.com/office/drawing/2014/main" id="{DA8AE32B-F7BE-446A-B350-5DF7DC1F4A4E}"/>
              </a:ext>
            </a:extLst>
          </p:cNvPr>
          <p:cNvSpPr>
            <a:spLocks xmlns:a="http://schemas.openxmlformats.org/drawingml/2006/main" noGrp="1"/>
          </p:cNvSpPr>
          <p:nvPr/>
        </p:nvSpPr>
        <p:spPr>
          <a:xfrm xmlns:a="http://schemas.openxmlformats.org/drawingml/2006/main">
            <a:off x="2762250" y="2962275"/>
            <a:ext cx="628650" cy="0"/>
          </a:xfrm>
          <a:prstGeom xmlns:a="http://schemas.openxmlformats.org/drawingml/2006/main" prst="line">
            <a:avLst/>
          </a:prstGeom>
          <a:noFill xmlns:a="http://schemas.openxmlformats.org/drawingml/2006/main"/>
          <a:ln xmlns:a="http://schemas.openxmlformats.org/drawingml/2006/main" w="28575">
            <a:solidFill>
              <a:srgbClr val="D7E1E7"/>
            </a:solidFill>
          </a:ln>
        </p:spPr>
      </p:sp>
      <p:sp>
        <p:nvSpPr>
          <p:cNvPr id="11" name="">
            <a:extLst xmlns:a="http://schemas.openxmlformats.org/drawingml/2006/main">
              <a:ext uri="{FF2B5EF4-FFF2-40B4-BE49-F238E27FC236}">
                <a16:creationId xmlns:a16="http://schemas.microsoft.com/office/drawing/2014/main" id="{06D9EE42-A64B-47AF-9341-66D9B680A223}"/>
              </a:ext>
            </a:extLst>
          </p:cNvPr>
          <p:cNvSpPr>
            <a:spLocks xmlns:a="http://schemas.openxmlformats.org/drawingml/2006/main" noGrp="1"/>
          </p:cNvSpPr>
          <p:nvPr/>
        </p:nvSpPr>
        <p:spPr>
          <a:xfrm xmlns:a="http://schemas.openxmlformats.org/drawingml/2006/main">
            <a:off x="3390900" y="2247900"/>
            <a:ext cx="2209800" cy="1428750"/>
          </a:xfrm>
          <a:prstGeom xmlns:a="http://schemas.openxmlformats.org/drawingml/2006/main" prst="roundRect">
            <a:avLst>
              <a:gd name="adj" fmla="val 12000"/>
            </a:avLst>
          </a:prstGeom>
          <a:solidFill xmlns:a="http://schemas.openxmlformats.org/drawingml/2006/main">
            <a:srgbClr val="EEF4FA"/>
          </a:solidFill>
          <a:ln xmlns:a="http://schemas.openxmlformats.org/drawingml/2006/main" w="19050">
            <a:solidFill>
              <a:srgbClr val="2B6FAE"/>
            </a:solidFill>
          </a:ln>
        </p:spPr>
      </p:sp>
      <p:sp>
        <p:nvSpPr>
          <p:cNvPr id="12" name="">
            <a:extLst xmlns:a="http://schemas.openxmlformats.org/drawingml/2006/main">
              <a:ext uri="{FF2B5EF4-FFF2-40B4-BE49-F238E27FC236}">
                <a16:creationId xmlns:a16="http://schemas.microsoft.com/office/drawing/2014/main" id="{B3F26FEA-8610-43A8-9531-EB3EABA3196A}"/>
              </a:ext>
            </a:extLst>
          </p:cNvPr>
          <p:cNvSpPr>
            <a:spLocks xmlns:a="http://schemas.openxmlformats.org/drawingml/2006/main" noGrp="1"/>
          </p:cNvSpPr>
          <p:nvPr/>
        </p:nvSpPr>
        <p:spPr>
          <a:xfrm xmlns:a="http://schemas.openxmlformats.org/drawingml/2006/main">
            <a:off x="3581400" y="2457450"/>
            <a:ext cx="133350" cy="590550"/>
          </a:xfrm>
          <a:prstGeom xmlns:a="http://schemas.openxmlformats.org/drawingml/2006/main" prst="roundRect">
            <a:avLst>
              <a:gd name="adj" fmla="val 50000"/>
            </a:avLst>
          </a:prstGeom>
          <a:solidFill xmlns:a="http://schemas.openxmlformats.org/drawingml/2006/main">
            <a:srgbClr val="2B6F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067710-B98E-407C-A2D1-8328F7631EEC}"/>
              </a:ext>
            </a:extLst>
          </p:cNvPr>
          <p:cNvSpPr>
            <a:spLocks xmlns:a="http://schemas.openxmlformats.org/drawingml/2006/main" noGrp="1"/>
          </p:cNvSpPr>
          <p:nvPr/>
        </p:nvSpPr>
        <p:spPr>
          <a:xfrm xmlns:a="http://schemas.openxmlformats.org/drawingml/2006/main">
            <a:off x="3867150" y="240030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B6FAE"/>
                </a:solidFill>
                <a:latin typeface="Arial"/>
                <a:ea typeface="Arial"/>
                <a:cs typeface="Arial"/>
              </a:defRPr>
            </a:pPr>
            <a:r>
              <a:rPr sz="975" b="1">
                <a:solidFill>
                  <a:srgbClr val="2B6FAE"/>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DAA0CDF6-7480-475B-8DD3-5170D0501AF7}"/>
              </a:ext>
            </a:extLst>
          </p:cNvPr>
          <p:cNvSpPr>
            <a:spLocks xmlns:a="http://schemas.openxmlformats.org/drawingml/2006/main" noGrp="1"/>
          </p:cNvSpPr>
          <p:nvPr/>
        </p:nvSpPr>
        <p:spPr>
          <a:xfrm xmlns:a="http://schemas.openxmlformats.org/drawingml/2006/main">
            <a:off x="3867150" y="2667000"/>
            <a:ext cx="1504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2B6FAE"/>
                </a:solidFill>
                <a:latin typeface="Arial"/>
                <a:ea typeface="Arial"/>
                <a:cs typeface="Arial"/>
              </a:defRPr>
            </a:pPr>
            <a:r>
              <a:rPr sz="1425" b="1">
                <a:solidFill>
                  <a:srgbClr val="2B6FAE"/>
                </a:solidFill>
                <a:latin typeface="Arial"/>
                <a:ea typeface="Arial"/>
                <a:cs typeface="Arial"/>
              </a:rPr>
              <a:t>HEAD BELOW</a:t>
            </a:r>
          </a:p>
        </p:txBody>
      </p:sp>
      <p:sp>
        <p:nvSpPr>
          <p:cNvPr id="15" name="">
            <a:extLst xmlns:a="http://schemas.openxmlformats.org/drawingml/2006/main">
              <a:ext uri="{FF2B5EF4-FFF2-40B4-BE49-F238E27FC236}">
                <a16:creationId xmlns:a16="http://schemas.microsoft.com/office/drawing/2014/main" id="{B683671B-3832-4DBE-A114-ABD87B3095B9}"/>
              </a:ext>
            </a:extLst>
          </p:cNvPr>
          <p:cNvSpPr>
            <a:spLocks xmlns:a="http://schemas.openxmlformats.org/drawingml/2006/main" noGrp="1"/>
          </p:cNvSpPr>
          <p:nvPr/>
        </p:nvSpPr>
        <p:spPr>
          <a:xfrm xmlns:a="http://schemas.openxmlformats.org/drawingml/2006/main">
            <a:off x="3581400" y="316230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Per-person timer starts</a:t>
            </a:r>
          </a:p>
        </p:txBody>
      </p:sp>
      <p:sp>
        <p:nvSpPr>
          <p:cNvPr id="16" name="">
            <a:extLst xmlns:a="http://schemas.openxmlformats.org/drawingml/2006/main">
              <a:ext uri="{FF2B5EF4-FFF2-40B4-BE49-F238E27FC236}">
                <a16:creationId xmlns:a16="http://schemas.microsoft.com/office/drawing/2014/main" id="{BA4F492D-1306-467A-8A22-E3C7D0200517}"/>
              </a:ext>
            </a:extLst>
          </p:cNvPr>
          <p:cNvSpPr>
            <a:spLocks xmlns:a="http://schemas.openxmlformats.org/drawingml/2006/main" noGrp="1"/>
          </p:cNvSpPr>
          <p:nvPr/>
        </p:nvSpPr>
        <p:spPr>
          <a:xfrm xmlns:a="http://schemas.openxmlformats.org/drawingml/2006/main">
            <a:off x="5600700" y="2962275"/>
            <a:ext cx="628650" cy="0"/>
          </a:xfrm>
          <a:prstGeom xmlns:a="http://schemas.openxmlformats.org/drawingml/2006/main" prst="line">
            <a:avLst/>
          </a:prstGeom>
          <a:noFill xmlns:a="http://schemas.openxmlformats.org/drawingml/2006/main"/>
          <a:ln xmlns:a="http://schemas.openxmlformats.org/drawingml/2006/main" w="28575">
            <a:solidFill>
              <a:srgbClr val="D7E1E7"/>
            </a:solidFill>
          </a:ln>
        </p:spPr>
      </p:sp>
      <p:sp>
        <p:nvSpPr>
          <p:cNvPr id="17" name="">
            <a:extLst xmlns:a="http://schemas.openxmlformats.org/drawingml/2006/main">
              <a:ext uri="{FF2B5EF4-FFF2-40B4-BE49-F238E27FC236}">
                <a16:creationId xmlns:a16="http://schemas.microsoft.com/office/drawing/2014/main" id="{543B9BA9-1F67-48F9-BB61-0C1F4C7B8063}"/>
              </a:ext>
            </a:extLst>
          </p:cNvPr>
          <p:cNvSpPr>
            <a:spLocks xmlns:a="http://schemas.openxmlformats.org/drawingml/2006/main" noGrp="1"/>
          </p:cNvSpPr>
          <p:nvPr/>
        </p:nvSpPr>
        <p:spPr>
          <a:xfrm xmlns:a="http://schemas.openxmlformats.org/drawingml/2006/main">
            <a:off x="6229350" y="2247900"/>
            <a:ext cx="2209800"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9050">
            <a:solidFill>
              <a:srgbClr val="A86E00"/>
            </a:solidFill>
          </a:ln>
        </p:spPr>
      </p:sp>
      <p:sp>
        <p:nvSpPr>
          <p:cNvPr id="18" name="">
            <a:extLst xmlns:a="http://schemas.openxmlformats.org/drawingml/2006/main">
              <a:ext uri="{FF2B5EF4-FFF2-40B4-BE49-F238E27FC236}">
                <a16:creationId xmlns:a16="http://schemas.microsoft.com/office/drawing/2014/main" id="{F7484631-2556-4E86-B5E2-BB5C71404666}"/>
              </a:ext>
            </a:extLst>
          </p:cNvPr>
          <p:cNvSpPr>
            <a:spLocks xmlns:a="http://schemas.openxmlformats.org/drawingml/2006/main" noGrp="1"/>
          </p:cNvSpPr>
          <p:nvPr/>
        </p:nvSpPr>
        <p:spPr>
          <a:xfrm xmlns:a="http://schemas.openxmlformats.org/drawingml/2006/main">
            <a:off x="6419850" y="2457450"/>
            <a:ext cx="133350" cy="590550"/>
          </a:xfrm>
          <a:prstGeom xmlns:a="http://schemas.openxmlformats.org/drawingml/2006/main" prst="roundRect">
            <a:avLst>
              <a:gd name="adj" fmla="val 50000"/>
            </a:avLst>
          </a:prstGeom>
          <a:solidFill xmlns:a="http://schemas.openxmlformats.org/drawingml/2006/main">
            <a:srgbClr val="A86E0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C7239B7-FB0A-4620-9E49-AB1685F5066F}"/>
              </a:ext>
            </a:extLst>
          </p:cNvPr>
          <p:cNvSpPr>
            <a:spLocks xmlns:a="http://schemas.openxmlformats.org/drawingml/2006/main" noGrp="1"/>
          </p:cNvSpPr>
          <p:nvPr/>
        </p:nvSpPr>
        <p:spPr>
          <a:xfrm xmlns:a="http://schemas.openxmlformats.org/drawingml/2006/main">
            <a:off x="6705600" y="240030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A86E00"/>
                </a:solidFill>
                <a:latin typeface="Arial"/>
                <a:ea typeface="Arial"/>
                <a:cs typeface="Arial"/>
              </a:defRPr>
            </a:pPr>
            <a:r>
              <a:rPr sz="975" b="1">
                <a:solidFill>
                  <a:srgbClr val="A86E00"/>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A84DA08E-032E-4439-BB0E-CF6F8F9CC68E}"/>
              </a:ext>
            </a:extLst>
          </p:cNvPr>
          <p:cNvSpPr>
            <a:spLocks xmlns:a="http://schemas.openxmlformats.org/drawingml/2006/main" noGrp="1"/>
          </p:cNvSpPr>
          <p:nvPr/>
        </p:nvSpPr>
        <p:spPr>
          <a:xfrm xmlns:a="http://schemas.openxmlformats.org/drawingml/2006/main">
            <a:off x="6705600" y="2667000"/>
            <a:ext cx="1504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A86E00"/>
                </a:solidFill>
                <a:latin typeface="Arial"/>
                <a:ea typeface="Arial"/>
                <a:cs typeface="Arial"/>
              </a:defRPr>
            </a:pPr>
            <a:r>
              <a:rPr sz="1425" b="1">
                <a:solidFill>
                  <a:srgbClr val="A86E00"/>
                </a:solidFill>
                <a:latin typeface="Arial"/>
                <a:ea typeface="Arial"/>
                <a:cs typeface="Arial"/>
              </a:rPr>
              <a:t>YELLOW</a:t>
            </a:r>
          </a:p>
        </p:txBody>
      </p:sp>
      <p:sp>
        <p:nvSpPr>
          <p:cNvPr id="21" name="">
            <a:extLst xmlns:a="http://schemas.openxmlformats.org/drawingml/2006/main">
              <a:ext uri="{FF2B5EF4-FFF2-40B4-BE49-F238E27FC236}">
                <a16:creationId xmlns:a16="http://schemas.microsoft.com/office/drawing/2014/main" id="{CF275C46-F494-4F6B-9164-185A0185E6EA}"/>
              </a:ext>
            </a:extLst>
          </p:cNvPr>
          <p:cNvSpPr>
            <a:spLocks xmlns:a="http://schemas.openxmlformats.org/drawingml/2006/main" noGrp="1"/>
          </p:cNvSpPr>
          <p:nvPr/>
        </p:nvSpPr>
        <p:spPr>
          <a:xfrm xmlns:a="http://schemas.openxmlformats.org/drawingml/2006/main">
            <a:off x="6419850" y="316230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Warning threshold</a:t>
            </a:r>
          </a:p>
        </p:txBody>
      </p:sp>
      <p:sp>
        <p:nvSpPr>
          <p:cNvPr id="22" name="">
            <a:extLst xmlns:a="http://schemas.openxmlformats.org/drawingml/2006/main">
              <a:ext uri="{FF2B5EF4-FFF2-40B4-BE49-F238E27FC236}">
                <a16:creationId xmlns:a16="http://schemas.microsoft.com/office/drawing/2014/main" id="{66EE6419-68B5-4E85-A772-2CA34EAC76E6}"/>
              </a:ext>
            </a:extLst>
          </p:cNvPr>
          <p:cNvSpPr>
            <a:spLocks xmlns:a="http://schemas.openxmlformats.org/drawingml/2006/main" noGrp="1"/>
          </p:cNvSpPr>
          <p:nvPr/>
        </p:nvSpPr>
        <p:spPr>
          <a:xfrm xmlns:a="http://schemas.openxmlformats.org/drawingml/2006/main">
            <a:off x="8439150" y="2962275"/>
            <a:ext cx="628650" cy="0"/>
          </a:xfrm>
          <a:prstGeom xmlns:a="http://schemas.openxmlformats.org/drawingml/2006/main" prst="line">
            <a:avLst/>
          </a:prstGeom>
          <a:noFill xmlns:a="http://schemas.openxmlformats.org/drawingml/2006/main"/>
          <a:ln xmlns:a="http://schemas.openxmlformats.org/drawingml/2006/main" w="28575">
            <a:solidFill>
              <a:srgbClr val="D7E1E7"/>
            </a:solidFill>
          </a:ln>
        </p:spPr>
      </p:sp>
      <p:sp>
        <p:nvSpPr>
          <p:cNvPr id="23" name="">
            <a:extLst xmlns:a="http://schemas.openxmlformats.org/drawingml/2006/main">
              <a:ext uri="{FF2B5EF4-FFF2-40B4-BE49-F238E27FC236}">
                <a16:creationId xmlns:a16="http://schemas.microsoft.com/office/drawing/2014/main" id="{C05D25EA-E938-41B2-B382-54AE79ADAB6A}"/>
              </a:ext>
            </a:extLst>
          </p:cNvPr>
          <p:cNvSpPr>
            <a:spLocks xmlns:a="http://schemas.openxmlformats.org/drawingml/2006/main" noGrp="1"/>
          </p:cNvSpPr>
          <p:nvPr/>
        </p:nvSpPr>
        <p:spPr>
          <a:xfrm xmlns:a="http://schemas.openxmlformats.org/drawingml/2006/main">
            <a:off x="9067800" y="2247900"/>
            <a:ext cx="2209800"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9050">
            <a:solidFill>
              <a:srgbClr val="C43D4D"/>
            </a:solidFill>
          </a:ln>
        </p:spPr>
      </p:sp>
      <p:sp>
        <p:nvSpPr>
          <p:cNvPr id="24" name="">
            <a:extLst xmlns:a="http://schemas.openxmlformats.org/drawingml/2006/main">
              <a:ext uri="{FF2B5EF4-FFF2-40B4-BE49-F238E27FC236}">
                <a16:creationId xmlns:a16="http://schemas.microsoft.com/office/drawing/2014/main" id="{5C86AEE6-4720-49F4-BC40-9F0F99A2F852}"/>
              </a:ext>
            </a:extLst>
          </p:cNvPr>
          <p:cNvSpPr>
            <a:spLocks xmlns:a="http://schemas.openxmlformats.org/drawingml/2006/main" noGrp="1"/>
          </p:cNvSpPr>
          <p:nvPr/>
        </p:nvSpPr>
        <p:spPr>
          <a:xfrm xmlns:a="http://schemas.openxmlformats.org/drawingml/2006/main">
            <a:off x="9258300" y="2457450"/>
            <a:ext cx="133350" cy="590550"/>
          </a:xfrm>
          <a:prstGeom xmlns:a="http://schemas.openxmlformats.org/drawingml/2006/main" prst="roundRect">
            <a:avLst>
              <a:gd name="adj" fmla="val 50000"/>
            </a:avLst>
          </a:prstGeom>
          <a:solidFill xmlns:a="http://schemas.openxmlformats.org/drawingml/2006/main">
            <a:srgbClr val="C43D4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884B33C-4EEE-44CA-967A-B1A909ECA8DC}"/>
              </a:ext>
            </a:extLst>
          </p:cNvPr>
          <p:cNvSpPr>
            <a:spLocks xmlns:a="http://schemas.openxmlformats.org/drawingml/2006/main" noGrp="1"/>
          </p:cNvSpPr>
          <p:nvPr/>
        </p:nvSpPr>
        <p:spPr>
          <a:xfrm xmlns:a="http://schemas.openxmlformats.org/drawingml/2006/main">
            <a:off x="9544050" y="2400300"/>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C43D4D"/>
                </a:solidFill>
                <a:latin typeface="Arial"/>
                <a:ea typeface="Arial"/>
                <a:cs typeface="Arial"/>
              </a:defRPr>
            </a:pPr>
            <a:r>
              <a:rPr sz="975" b="1">
                <a:solidFill>
                  <a:srgbClr val="C43D4D"/>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099E45BA-8364-4588-BEC4-563F3986EFC0}"/>
              </a:ext>
            </a:extLst>
          </p:cNvPr>
          <p:cNvSpPr>
            <a:spLocks xmlns:a="http://schemas.openxmlformats.org/drawingml/2006/main" noGrp="1"/>
          </p:cNvSpPr>
          <p:nvPr/>
        </p:nvSpPr>
        <p:spPr>
          <a:xfrm xmlns:a="http://schemas.openxmlformats.org/drawingml/2006/main">
            <a:off x="9544050" y="2667000"/>
            <a:ext cx="1504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C43D4D"/>
                </a:solidFill>
                <a:latin typeface="Arial"/>
                <a:ea typeface="Arial"/>
                <a:cs typeface="Arial"/>
              </a:defRPr>
            </a:pPr>
            <a:r>
              <a:rPr sz="1425" b="1">
                <a:solidFill>
                  <a:srgbClr val="C43D4D"/>
                </a:solidFill>
                <a:latin typeface="Arial"/>
                <a:ea typeface="Arial"/>
                <a:cs typeface="Arial"/>
              </a:rPr>
              <a:t>RED</a:t>
            </a:r>
          </a:p>
        </p:txBody>
      </p:sp>
      <p:sp>
        <p:nvSpPr>
          <p:cNvPr id="27" name="">
            <a:extLst xmlns:a="http://schemas.openxmlformats.org/drawingml/2006/main">
              <a:ext uri="{FF2B5EF4-FFF2-40B4-BE49-F238E27FC236}">
                <a16:creationId xmlns:a16="http://schemas.microsoft.com/office/drawing/2014/main" id="{1446626F-3ECF-45A5-832E-7681D7BF4B71}"/>
              </a:ext>
            </a:extLst>
          </p:cNvPr>
          <p:cNvSpPr>
            <a:spLocks xmlns:a="http://schemas.openxmlformats.org/drawingml/2006/main" noGrp="1"/>
          </p:cNvSpPr>
          <p:nvPr/>
        </p:nvSpPr>
        <p:spPr>
          <a:xfrm xmlns:a="http://schemas.openxmlformats.org/drawingml/2006/main">
            <a:off x="9258300" y="3162300"/>
            <a:ext cx="1828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Check the pool</a:t>
            </a:r>
          </a:p>
        </p:txBody>
      </p:sp>
      <p:sp>
        <p:nvSpPr>
          <p:cNvPr id="28" name="">
            <a:extLst xmlns:a="http://schemas.openxmlformats.org/drawingml/2006/main">
              <a:ext uri="{FF2B5EF4-FFF2-40B4-BE49-F238E27FC236}">
                <a16:creationId xmlns:a16="http://schemas.microsoft.com/office/drawing/2014/main" id="{6799BBF7-E8F1-4C80-A56A-18154791958C}"/>
              </a:ext>
            </a:extLst>
          </p:cNvPr>
          <p:cNvSpPr>
            <a:spLocks xmlns:a="http://schemas.openxmlformats.org/drawingml/2006/main" noGrp="1"/>
          </p:cNvSpPr>
          <p:nvPr/>
        </p:nvSpPr>
        <p:spPr>
          <a:xfrm xmlns:a="http://schemas.openxmlformats.org/drawingml/2006/main">
            <a:off x="552450" y="4133850"/>
            <a:ext cx="1108710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7E1E7"/>
            </a:solidFill>
          </a:ln>
        </p:spPr>
      </p:sp>
      <p:sp>
        <p:nvSpPr>
          <p:cNvPr id="29" name="">
            <a:extLst xmlns:a="http://schemas.openxmlformats.org/drawingml/2006/main">
              <a:ext uri="{FF2B5EF4-FFF2-40B4-BE49-F238E27FC236}">
                <a16:creationId xmlns:a16="http://schemas.microsoft.com/office/drawing/2014/main" id="{79B3D7CA-B540-4C0E-908A-AFA119D5FF04}"/>
              </a:ext>
            </a:extLst>
          </p:cNvPr>
          <p:cNvSpPr>
            <a:spLocks xmlns:a="http://schemas.openxmlformats.org/drawingml/2006/main" noGrp="1"/>
          </p:cNvSpPr>
          <p:nvPr/>
        </p:nvSpPr>
        <p:spPr>
          <a:xfrm xmlns:a="http://schemas.openxmlformats.org/drawingml/2006/main">
            <a:off x="781050" y="43053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HEAD RETURNS ABOVE WATER</a:t>
            </a:r>
          </a:p>
        </p:txBody>
      </p:sp>
      <p:sp>
        <p:nvSpPr>
          <p:cNvPr id="30" name="">
            <a:extLst xmlns:a="http://schemas.openxmlformats.org/drawingml/2006/main">
              <a:ext uri="{FF2B5EF4-FFF2-40B4-BE49-F238E27FC236}">
                <a16:creationId xmlns:a16="http://schemas.microsoft.com/office/drawing/2014/main" id="{594C06E7-DDD7-45C8-8F98-39AE0BDB2911}"/>
              </a:ext>
            </a:extLst>
          </p:cNvPr>
          <p:cNvSpPr>
            <a:spLocks xmlns:a="http://schemas.openxmlformats.org/drawingml/2006/main" noGrp="1"/>
          </p:cNvSpPr>
          <p:nvPr/>
        </p:nvSpPr>
        <p:spPr>
          <a:xfrm xmlns:a="http://schemas.openxmlformats.org/drawingml/2006/main">
            <a:off x="781050" y="45624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Timer resets to green</a:t>
            </a:r>
          </a:p>
        </p:txBody>
      </p:sp>
      <p:sp>
        <p:nvSpPr>
          <p:cNvPr id="31" name="">
            <a:extLst xmlns:a="http://schemas.openxmlformats.org/drawingml/2006/main">
              <a:ext uri="{FF2B5EF4-FFF2-40B4-BE49-F238E27FC236}">
                <a16:creationId xmlns:a16="http://schemas.microsoft.com/office/drawing/2014/main" id="{ED0F01FA-8212-4C41-9065-09201ABD1108}"/>
              </a:ext>
            </a:extLst>
          </p:cNvPr>
          <p:cNvSpPr>
            <a:spLocks xmlns:a="http://schemas.openxmlformats.org/drawingml/2006/main" noGrp="1"/>
          </p:cNvSpPr>
          <p:nvPr/>
        </p:nvSpPr>
        <p:spPr>
          <a:xfrm xmlns:a="http://schemas.openxmlformats.org/drawingml/2006/main">
            <a:off x="4267200" y="4305300"/>
            <a:ext cx="0" cy="514350"/>
          </a:xfrm>
          <a:prstGeom xmlns:a="http://schemas.openxmlformats.org/drawingml/2006/main" prst="line">
            <a:avLst/>
          </a:prstGeom>
          <a:noFill xmlns:a="http://schemas.openxmlformats.org/drawingml/2006/main"/>
          <a:ln xmlns:a="http://schemas.openxmlformats.org/drawingml/2006/main" w="19050">
            <a:solidFill>
              <a:srgbClr val="D7E1E7"/>
            </a:solidFill>
          </a:ln>
        </p:spPr>
      </p:sp>
      <p:sp>
        <p:nvSpPr>
          <p:cNvPr id="32" name="">
            <a:extLst xmlns:a="http://schemas.openxmlformats.org/drawingml/2006/main">
              <a:ext uri="{FF2B5EF4-FFF2-40B4-BE49-F238E27FC236}">
                <a16:creationId xmlns:a16="http://schemas.microsoft.com/office/drawing/2014/main" id="{7588AA79-B0EB-40CE-8F41-6772EB6EBC5C}"/>
              </a:ext>
            </a:extLst>
          </p:cNvPr>
          <p:cNvSpPr>
            <a:spLocks xmlns:a="http://schemas.openxmlformats.org/drawingml/2006/main" noGrp="1"/>
          </p:cNvSpPr>
          <p:nvPr/>
        </p:nvSpPr>
        <p:spPr>
          <a:xfrm xmlns:a="http://schemas.openxmlformats.org/drawingml/2006/main">
            <a:off x="4591050" y="43053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B6FAE"/>
                </a:solidFill>
                <a:latin typeface="Arial"/>
                <a:ea typeface="Arial"/>
                <a:cs typeface="Arial"/>
              </a:defRPr>
            </a:pPr>
            <a:r>
              <a:rPr sz="900" b="1">
                <a:solidFill>
                  <a:srgbClr val="2B6FAE"/>
                </a:solidFill>
                <a:latin typeface="Arial"/>
                <a:ea typeface="Arial"/>
                <a:cs typeface="Arial"/>
              </a:rPr>
              <a:t>ENTRY ALERT</a:t>
            </a:r>
          </a:p>
        </p:txBody>
      </p:sp>
      <p:sp>
        <p:nvSpPr>
          <p:cNvPr id="33" name="">
            <a:extLst xmlns:a="http://schemas.openxmlformats.org/drawingml/2006/main">
              <a:ext uri="{FF2B5EF4-FFF2-40B4-BE49-F238E27FC236}">
                <a16:creationId xmlns:a16="http://schemas.microsoft.com/office/drawing/2014/main" id="{30EA85BE-769B-42F1-8843-2E18C7624102}"/>
              </a:ext>
            </a:extLst>
          </p:cNvPr>
          <p:cNvSpPr>
            <a:spLocks xmlns:a="http://schemas.openxmlformats.org/drawingml/2006/main" noGrp="1"/>
          </p:cNvSpPr>
          <p:nvPr/>
        </p:nvSpPr>
        <p:spPr>
          <a:xfrm xmlns:a="http://schemas.openxmlformats.org/drawingml/2006/main">
            <a:off x="4591050" y="4562475"/>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Separate rule · user must arm it</a:t>
            </a:r>
          </a:p>
        </p:txBody>
      </p:sp>
      <p:sp>
        <p:nvSpPr>
          <p:cNvPr id="34" name="">
            <a:extLst xmlns:a="http://schemas.openxmlformats.org/drawingml/2006/main">
              <a:ext uri="{FF2B5EF4-FFF2-40B4-BE49-F238E27FC236}">
                <a16:creationId xmlns:a16="http://schemas.microsoft.com/office/drawing/2014/main" id="{C23A6383-039D-4B01-8951-8F4572C1F707}"/>
              </a:ext>
            </a:extLst>
          </p:cNvPr>
          <p:cNvSpPr>
            <a:spLocks xmlns:a="http://schemas.openxmlformats.org/drawingml/2006/main" noGrp="1"/>
          </p:cNvSpPr>
          <p:nvPr/>
        </p:nvSpPr>
        <p:spPr>
          <a:xfrm xmlns:a="http://schemas.openxmlformats.org/drawingml/2006/main">
            <a:off x="8096250" y="4305300"/>
            <a:ext cx="0" cy="514350"/>
          </a:xfrm>
          <a:prstGeom xmlns:a="http://schemas.openxmlformats.org/drawingml/2006/main" prst="line">
            <a:avLst/>
          </a:prstGeom>
          <a:noFill xmlns:a="http://schemas.openxmlformats.org/drawingml/2006/main"/>
          <a:ln xmlns:a="http://schemas.openxmlformats.org/drawingml/2006/main" w="19050">
            <a:solidFill>
              <a:srgbClr val="D7E1E7"/>
            </a:solidFill>
          </a:ln>
        </p:spPr>
      </p:sp>
      <p:sp>
        <p:nvSpPr>
          <p:cNvPr id="35" name="">
            <a:extLst xmlns:a="http://schemas.openxmlformats.org/drawingml/2006/main">
              <a:ext uri="{FF2B5EF4-FFF2-40B4-BE49-F238E27FC236}">
                <a16:creationId xmlns:a16="http://schemas.microsoft.com/office/drawing/2014/main" id="{0F591B4F-5A23-440F-9EFB-3ACBF4C6E8D9}"/>
              </a:ext>
            </a:extLst>
          </p:cNvPr>
          <p:cNvSpPr>
            <a:spLocks xmlns:a="http://schemas.openxmlformats.org/drawingml/2006/main" noGrp="1"/>
          </p:cNvSpPr>
          <p:nvPr/>
        </p:nvSpPr>
        <p:spPr>
          <a:xfrm xmlns:a="http://schemas.openxmlformats.org/drawingml/2006/main">
            <a:off x="8420100" y="43053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B6FAE"/>
                </a:solidFill>
                <a:latin typeface="Arial"/>
                <a:ea typeface="Arial"/>
                <a:cs typeface="Arial"/>
              </a:defRPr>
            </a:pPr>
            <a:r>
              <a:rPr sz="900" b="1">
                <a:solidFill>
                  <a:srgbClr val="2B6FAE"/>
                </a:solidFill>
                <a:latin typeface="Arial"/>
                <a:ea typeface="Arial"/>
                <a:cs typeface="Arial"/>
              </a:rPr>
              <a:t>USER CONTROL</a:t>
            </a:r>
          </a:p>
        </p:txBody>
      </p:sp>
      <p:sp>
        <p:nvSpPr>
          <p:cNvPr id="36" name="">
            <a:extLst xmlns:a="http://schemas.openxmlformats.org/drawingml/2006/main">
              <a:ext uri="{FF2B5EF4-FFF2-40B4-BE49-F238E27FC236}">
                <a16:creationId xmlns:a16="http://schemas.microsoft.com/office/drawing/2014/main" id="{3DB6C3EB-DC29-4BBE-B4F6-F7660B589EE6}"/>
              </a:ext>
            </a:extLst>
          </p:cNvPr>
          <p:cNvSpPr>
            <a:spLocks xmlns:a="http://schemas.openxmlformats.org/drawingml/2006/main" noGrp="1"/>
          </p:cNvSpPr>
          <p:nvPr/>
        </p:nvSpPr>
        <p:spPr>
          <a:xfrm xmlns:a="http://schemas.openxmlformats.org/drawingml/2006/main">
            <a:off x="8420100" y="456247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Choose yellow + red, or red only</a:t>
            </a:r>
          </a:p>
        </p:txBody>
      </p:sp>
      <p:sp>
        <p:nvSpPr>
          <p:cNvPr id="37" name="">
            <a:extLst xmlns:a="http://schemas.openxmlformats.org/drawingml/2006/main">
              <a:ext uri="{FF2B5EF4-FFF2-40B4-BE49-F238E27FC236}">
                <a16:creationId xmlns:a16="http://schemas.microsoft.com/office/drawing/2014/main" id="{C9649818-E3A0-4FFE-A7EB-17DD8A4CB09C}"/>
              </a:ext>
            </a:extLst>
          </p:cNvPr>
          <p:cNvSpPr>
            <a:spLocks xmlns:a="http://schemas.openxmlformats.org/drawingml/2006/main" noGrp="1"/>
          </p:cNvSpPr>
          <p:nvPr/>
        </p:nvSpPr>
        <p:spPr>
          <a:xfrm xmlns:a="http://schemas.openxmlformats.org/drawingml/2006/main">
            <a:off x="552450" y="5457825"/>
            <a:ext cx="11087100" cy="647700"/>
          </a:xfrm>
          <a:prstGeom xmlns:a="http://schemas.openxmlformats.org/drawingml/2006/main" prst="roundRect">
            <a:avLst>
              <a:gd name="adj" fmla="val 20588"/>
            </a:avLst>
          </a:prstGeom>
          <a:solidFill xmlns:a="http://schemas.openxmlformats.org/drawingml/2006/main">
            <a:srgbClr val="EEF5F6"/>
          </a:solidFill>
          <a:ln xmlns:a="http://schemas.openxmlformats.org/drawingml/2006/main" w="9525">
            <a:solidFill>
              <a:srgbClr val="087F72"/>
            </a:solidFill>
          </a:ln>
        </p:spPr>
      </p:sp>
      <p:sp>
        <p:nvSpPr>
          <p:cNvPr id="38" name="">
            <a:extLst xmlns:a="http://schemas.openxmlformats.org/drawingml/2006/main">
              <a:ext uri="{FF2B5EF4-FFF2-40B4-BE49-F238E27FC236}">
                <a16:creationId xmlns:a16="http://schemas.microsoft.com/office/drawing/2014/main" id="{EE86DE05-88BE-41DA-AA7F-AFEAC87F5A10}"/>
              </a:ext>
            </a:extLst>
          </p:cNvPr>
          <p:cNvSpPr>
            <a:spLocks xmlns:a="http://schemas.openxmlformats.org/drawingml/2006/main" noGrp="1"/>
          </p:cNvSpPr>
          <p:nvPr/>
        </p:nvSpPr>
        <p:spPr>
          <a:xfrm xmlns:a="http://schemas.openxmlformats.org/drawingml/2006/main">
            <a:off x="781050" y="5581650"/>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Demo thresholds are shortened, clearly labeled, and never presented as medical cutoffs.</a:t>
            </a:r>
          </a:p>
        </p:txBody>
      </p:sp>
      <p:sp>
        <p:nvSpPr>
          <p:cNvPr id="39" name="">
            <a:extLst xmlns:a="http://schemas.openxmlformats.org/drawingml/2006/main">
              <a:ext uri="{FF2B5EF4-FFF2-40B4-BE49-F238E27FC236}">
                <a16:creationId xmlns:a16="http://schemas.microsoft.com/office/drawing/2014/main" id="{9B20C2BA-4FB8-43CF-AC0C-B6792702F57D}"/>
              </a:ext>
            </a:extLst>
          </p:cNvPr>
          <p:cNvSpPr>
            <a:spLocks xmlns:a="http://schemas.openxmlformats.org/drawingml/2006/main" noGrp="1"/>
          </p:cNvSpPr>
          <p:nvPr/>
        </p:nvSpPr>
        <p:spPr>
          <a:xfrm xmlns:a="http://schemas.openxmlformats.org/drawingml/2006/main">
            <a:off x="552450" y="6505575"/>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259"/>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ONE PERSON · ONE TIMER · AN EXPLAINABLE REASON FOR EVERY ALERT</a:t>
            </a:r>
          </a:p>
        </p:txBody>
      </p:sp>
    </p:spTree>
    <p:extLst>
      <p:ext uri="{BB962C8B-B14F-4D97-AF65-F5344CB8AC3E}">
        <p14:creationId xmlns:p14="http://schemas.microsoft.com/office/powerpoint/2010/main" val="1344952381"/>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47" name=""/>
          <p:cNvCxnSpPr>
            <a:stCxn xmlns:a="http://schemas.openxmlformats.org/drawingml/2006/main" id="14" idx="3"/>
            <a:endCxn xmlns:a="http://schemas.openxmlformats.org/drawingml/2006/main" id="17" idx="1"/>
          </p:cNvCxnSpPr>
          <p:nvPr/>
        </p:nvCxnSpPr>
        <p:spPr>
          <a:xfrm xmlns:a="http://schemas.openxmlformats.org/drawingml/2006/main">
            <a:off x="9277350" y="2562225"/>
            <a:ext cx="495300" cy="0"/>
          </a:xfrm>
          <a:prstGeom xmlns:a="http://schemas.openxmlformats.org/drawingml/2006/main" prst="straightConnector1">
            <a:avLst/>
          </a:prstGeom>
          <a:ln xmlns:a="http://schemas.openxmlformats.org/drawingml/2006/main" w="19050">
            <a:solidFill>
              <a:srgbClr val="5E7182"/>
            </a:solidFill>
            <a:tailEnd type="arrow" w="med" len="med"/>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6972300" y="2562225"/>
            <a:ext cx="495300" cy="0"/>
          </a:xfrm>
          <a:prstGeom xmlns:a="http://schemas.openxmlformats.org/drawingml/2006/main" prst="straightConnector1">
            <a:avLst/>
          </a:prstGeom>
          <a:ln xmlns:a="http://schemas.openxmlformats.org/drawingml/2006/main" w="19050">
            <a:solidFill>
              <a:srgbClr val="5E7182"/>
            </a:solidFill>
            <a:tailEnd type="arrow" w="med" len="med"/>
          </a:ln>
        </p:spPr>
      </p:cxnSp>
      <p:cxnSp>
        <p:nvCxnSpPr>
          <p:cNvPr id="49" name=""/>
          <p:cNvCxnSpPr>
            <a:stCxn xmlns:a="http://schemas.openxmlformats.org/drawingml/2006/main" id="8" idx="3"/>
            <a:endCxn xmlns:a="http://schemas.openxmlformats.org/drawingml/2006/main" id="11" idx="1"/>
          </p:cNvCxnSpPr>
          <p:nvPr/>
        </p:nvCxnSpPr>
        <p:spPr>
          <a:xfrm xmlns:a="http://schemas.openxmlformats.org/drawingml/2006/main">
            <a:off x="4667250" y="2562225"/>
            <a:ext cx="495300" cy="0"/>
          </a:xfrm>
          <a:prstGeom xmlns:a="http://schemas.openxmlformats.org/drawingml/2006/main" prst="straightConnector1">
            <a:avLst/>
          </a:prstGeom>
          <a:ln xmlns:a="http://schemas.openxmlformats.org/drawingml/2006/main" w="19050">
            <a:solidFill>
              <a:srgbClr val="5E7182"/>
            </a:solidFill>
            <a:tailEnd type="arrow" w="med" len="med"/>
          </a:ln>
        </p:spPr>
      </p:cxnSp>
      <p:cxnSp>
        <p:nvCxnSpPr>
          <p:cNvPr id="50" name=""/>
          <p:cNvCxnSpPr>
            <a:stCxn xmlns:a="http://schemas.openxmlformats.org/drawingml/2006/main" id="5" idx="3"/>
            <a:endCxn xmlns:a="http://schemas.openxmlformats.org/drawingml/2006/main" id="8" idx="1"/>
          </p:cNvCxnSpPr>
          <p:nvPr/>
        </p:nvCxnSpPr>
        <p:spPr>
          <a:xfrm xmlns:a="http://schemas.openxmlformats.org/drawingml/2006/main">
            <a:off x="2362200" y="2562225"/>
            <a:ext cx="495300" cy="0"/>
          </a:xfrm>
          <a:prstGeom xmlns:a="http://schemas.openxmlformats.org/drawingml/2006/main" prst="straightConnector1">
            <a:avLst/>
          </a:prstGeom>
          <a:ln xmlns:a="http://schemas.openxmlformats.org/drawingml/2006/main" w="19050">
            <a:solidFill>
              <a:srgbClr val="5E7182"/>
            </a:solidFill>
            <a:tailEnd type="arrow" w="med" len="med"/>
          </a:ln>
        </p:spPr>
      </p:cxnSp>
      <p:sp>
        <p:nvSpPr>
          <p:cNvPr id="51" name="">
            <a:extLst xmlns:a="http://schemas.openxmlformats.org/drawingml/2006/main">
              <a:ext uri="{FF2B5EF4-FFF2-40B4-BE49-F238E27FC236}">
                <a16:creationId xmlns:a16="http://schemas.microsoft.com/office/drawing/2014/main" id="{A27FF004-2DDA-4A1C-BE63-C20F03DD92AA}"/>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TEAM EXECUTION</a:t>
            </a:r>
          </a:p>
        </p:txBody>
      </p:sp>
      <p:sp>
        <p:nvSpPr>
          <p:cNvPr id="2" name="">
            <a:extLst xmlns:a="http://schemas.openxmlformats.org/drawingml/2006/main">
              <a:ext uri="{FF2B5EF4-FFF2-40B4-BE49-F238E27FC236}">
                <a16:creationId xmlns:a16="http://schemas.microsoft.com/office/drawing/2014/main" id="{8663B408-D560-451B-B6EA-D07B9D707624}"/>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55D8186-5617-4014-8558-F68AAA1BB3A4}"/>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3C061A-9E89-4534-AFE9-CEBD0DAD29F5}"/>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Five workstreams met at one shared data contract</a:t>
            </a:r>
          </a:p>
        </p:txBody>
      </p:sp>
      <p:sp>
        <p:nvSpPr>
          <p:cNvPr id="5" name="">
            <a:extLst xmlns:a="http://schemas.openxmlformats.org/drawingml/2006/main">
              <a:ext uri="{FF2B5EF4-FFF2-40B4-BE49-F238E27FC236}">
                <a16:creationId xmlns:a16="http://schemas.microsoft.com/office/drawing/2014/main" id="{2D56625D-B0F1-431F-90F3-23E911CD3419}"/>
              </a:ext>
            </a:extLst>
          </p:cNvPr>
          <p:cNvSpPr>
            <a:spLocks xmlns:a="http://schemas.openxmlformats.org/drawingml/2006/main" noGrp="1"/>
          </p:cNvSpPr>
          <p:nvPr/>
        </p:nvSpPr>
        <p:spPr>
          <a:xfrm xmlns:a="http://schemas.openxmlformats.org/drawingml/2006/main">
            <a:off x="552450" y="2047875"/>
            <a:ext cx="1809750" cy="102870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7E1E7"/>
            </a:solidFill>
          </a:ln>
        </p:spPr>
      </p:sp>
      <p:sp>
        <p:nvSpPr>
          <p:cNvPr id="6" name="">
            <a:extLst xmlns:a="http://schemas.openxmlformats.org/drawingml/2006/main">
              <a:ext uri="{FF2B5EF4-FFF2-40B4-BE49-F238E27FC236}">
                <a16:creationId xmlns:a16="http://schemas.microsoft.com/office/drawing/2014/main" id="{9BF50C27-C95F-4E09-AD32-8BCAA214649F}"/>
              </a:ext>
            </a:extLst>
          </p:cNvPr>
          <p:cNvSpPr>
            <a:spLocks xmlns:a="http://schemas.openxmlformats.org/drawingml/2006/main" noGrp="1"/>
          </p:cNvSpPr>
          <p:nvPr/>
        </p:nvSpPr>
        <p:spPr>
          <a:xfrm xmlns:a="http://schemas.openxmlformats.org/drawingml/2006/main">
            <a:off x="685800" y="2181225"/>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VIDEO</a:t>
            </a:r>
          </a:p>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source</a:t>
            </a:r>
          </a:p>
        </p:txBody>
      </p:sp>
      <p:sp>
        <p:nvSpPr>
          <p:cNvPr id="7" name="">
            <a:extLst xmlns:a="http://schemas.openxmlformats.org/drawingml/2006/main">
              <a:ext uri="{FF2B5EF4-FFF2-40B4-BE49-F238E27FC236}">
                <a16:creationId xmlns:a16="http://schemas.microsoft.com/office/drawing/2014/main" id="{98E01020-9AC2-4FED-8EF0-75FD1A5F0966}"/>
              </a:ext>
            </a:extLst>
          </p:cNvPr>
          <p:cNvSpPr>
            <a:spLocks xmlns:a="http://schemas.openxmlformats.org/drawingml/2006/main" noGrp="1"/>
          </p:cNvSpPr>
          <p:nvPr/>
        </p:nvSpPr>
        <p:spPr>
          <a:xfrm xmlns:a="http://schemas.openxmlformats.org/drawingml/2006/main">
            <a:off x="685800" y="26670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B6FAE"/>
                </a:solidFill>
                <a:latin typeface="Arial"/>
                <a:ea typeface="Arial"/>
                <a:cs typeface="Arial"/>
              </a:defRPr>
            </a:pPr>
            <a:r>
              <a:rPr sz="825" b="1">
                <a:solidFill>
                  <a:srgbClr val="2B6FAE"/>
                </a:solidFill>
                <a:latin typeface="Arial"/>
                <a:ea typeface="Arial"/>
                <a:cs typeface="Arial"/>
              </a:rPr>
              <a:t>INPUT</a:t>
            </a:r>
          </a:p>
        </p:txBody>
      </p:sp>
      <p:sp>
        <p:nvSpPr>
          <p:cNvPr id="8" name="">
            <a:extLst xmlns:a="http://schemas.openxmlformats.org/drawingml/2006/main">
              <a:ext uri="{FF2B5EF4-FFF2-40B4-BE49-F238E27FC236}">
                <a16:creationId xmlns:a16="http://schemas.microsoft.com/office/drawing/2014/main" id="{A45D4344-0B5E-46EC-AE30-4EA7232CE066}"/>
              </a:ext>
            </a:extLst>
          </p:cNvPr>
          <p:cNvSpPr>
            <a:spLocks xmlns:a="http://schemas.openxmlformats.org/drawingml/2006/main" noGrp="1"/>
          </p:cNvSpPr>
          <p:nvPr/>
        </p:nvSpPr>
        <p:spPr>
          <a:xfrm xmlns:a="http://schemas.openxmlformats.org/drawingml/2006/main">
            <a:off x="2857500" y="2047875"/>
            <a:ext cx="1809750" cy="102870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7E1E7"/>
            </a:solidFill>
          </a:ln>
        </p:spPr>
      </p:sp>
      <p:sp>
        <p:nvSpPr>
          <p:cNvPr id="9" name="">
            <a:extLst xmlns:a="http://schemas.openxmlformats.org/drawingml/2006/main">
              <a:ext uri="{FF2B5EF4-FFF2-40B4-BE49-F238E27FC236}">
                <a16:creationId xmlns:a16="http://schemas.microsoft.com/office/drawing/2014/main" id="{1BC1C23E-5FD0-4708-9FF8-E1C9CBFA24BF}"/>
              </a:ext>
            </a:extLst>
          </p:cNvPr>
          <p:cNvSpPr>
            <a:spLocks xmlns:a="http://schemas.openxmlformats.org/drawingml/2006/main" noGrp="1"/>
          </p:cNvSpPr>
          <p:nvPr/>
        </p:nvSpPr>
        <p:spPr>
          <a:xfrm xmlns:a="http://schemas.openxmlformats.org/drawingml/2006/main">
            <a:off x="2990850" y="2181225"/>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PERSON + HEAD</a:t>
            </a:r>
          </a:p>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detector</a:t>
            </a:r>
          </a:p>
        </p:txBody>
      </p:sp>
      <p:sp>
        <p:nvSpPr>
          <p:cNvPr id="10" name="">
            <a:extLst xmlns:a="http://schemas.openxmlformats.org/drawingml/2006/main">
              <a:ext uri="{FF2B5EF4-FFF2-40B4-BE49-F238E27FC236}">
                <a16:creationId xmlns:a16="http://schemas.microsoft.com/office/drawing/2014/main" id="{1EEF9357-9571-4D42-9873-928EC146C7E7}"/>
              </a:ext>
            </a:extLst>
          </p:cNvPr>
          <p:cNvSpPr>
            <a:spLocks xmlns:a="http://schemas.openxmlformats.org/drawingml/2006/main" noGrp="1"/>
          </p:cNvSpPr>
          <p:nvPr/>
        </p:nvSpPr>
        <p:spPr>
          <a:xfrm xmlns:a="http://schemas.openxmlformats.org/drawingml/2006/main">
            <a:off x="2990850" y="26670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B6FAE"/>
                </a:solidFill>
                <a:latin typeface="Arial"/>
                <a:ea typeface="Arial"/>
                <a:cs typeface="Arial"/>
              </a:defRPr>
            </a:pPr>
            <a:r>
              <a:rPr sz="825" b="1">
                <a:solidFill>
                  <a:srgbClr val="2B6FAE"/>
                </a:solidFill>
                <a:latin typeface="Arial"/>
                <a:ea typeface="Arial"/>
                <a:cs typeface="Arial"/>
              </a:rPr>
              <a:t>VISION</a:t>
            </a:r>
          </a:p>
        </p:txBody>
      </p:sp>
      <p:sp>
        <p:nvSpPr>
          <p:cNvPr id="11" name="">
            <a:extLst xmlns:a="http://schemas.openxmlformats.org/drawingml/2006/main">
              <a:ext uri="{FF2B5EF4-FFF2-40B4-BE49-F238E27FC236}">
                <a16:creationId xmlns:a16="http://schemas.microsoft.com/office/drawing/2014/main" id="{C192C2CF-EB8B-4D5D-B8C3-A70368A55FC4}"/>
              </a:ext>
            </a:extLst>
          </p:cNvPr>
          <p:cNvSpPr>
            <a:spLocks xmlns:a="http://schemas.openxmlformats.org/drawingml/2006/main" noGrp="1"/>
          </p:cNvSpPr>
          <p:nvPr/>
        </p:nvSpPr>
        <p:spPr>
          <a:xfrm xmlns:a="http://schemas.openxmlformats.org/drawingml/2006/main">
            <a:off x="5162550" y="2047875"/>
            <a:ext cx="1809750" cy="102870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7E1E7"/>
            </a:solidFill>
          </a:ln>
        </p:spPr>
      </p:sp>
      <p:sp>
        <p:nvSpPr>
          <p:cNvPr id="12" name="">
            <a:extLst xmlns:a="http://schemas.openxmlformats.org/drawingml/2006/main">
              <a:ext uri="{FF2B5EF4-FFF2-40B4-BE49-F238E27FC236}">
                <a16:creationId xmlns:a16="http://schemas.microsoft.com/office/drawing/2014/main" id="{5FBC3FFD-1CCA-4CBA-8A20-2A43771CA2C1}"/>
              </a:ext>
            </a:extLst>
          </p:cNvPr>
          <p:cNvSpPr>
            <a:spLocks xmlns:a="http://schemas.openxmlformats.org/drawingml/2006/main" noGrp="1"/>
          </p:cNvSpPr>
          <p:nvPr/>
        </p:nvSpPr>
        <p:spPr>
          <a:xfrm xmlns:a="http://schemas.openxmlformats.org/drawingml/2006/main">
            <a:off x="5295900" y="2181225"/>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TRACK +</a:t>
            </a:r>
          </a:p>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ID stitching</a:t>
            </a:r>
          </a:p>
        </p:txBody>
      </p:sp>
      <p:sp>
        <p:nvSpPr>
          <p:cNvPr id="13" name="">
            <a:extLst xmlns:a="http://schemas.openxmlformats.org/drawingml/2006/main">
              <a:ext uri="{FF2B5EF4-FFF2-40B4-BE49-F238E27FC236}">
                <a16:creationId xmlns:a16="http://schemas.microsoft.com/office/drawing/2014/main" id="{B0634D3A-BB55-4FEC-B750-4B11A0B3F911}"/>
              </a:ext>
            </a:extLst>
          </p:cNvPr>
          <p:cNvSpPr>
            <a:spLocks xmlns:a="http://schemas.openxmlformats.org/drawingml/2006/main" noGrp="1"/>
          </p:cNvSpPr>
          <p:nvPr/>
        </p:nvSpPr>
        <p:spPr>
          <a:xfrm xmlns:a="http://schemas.openxmlformats.org/drawingml/2006/main">
            <a:off x="5295900" y="26670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B6FAE"/>
                </a:solidFill>
                <a:latin typeface="Arial"/>
                <a:ea typeface="Arial"/>
                <a:cs typeface="Arial"/>
              </a:defRPr>
            </a:pPr>
            <a:r>
              <a:rPr sz="825" b="1">
                <a:solidFill>
                  <a:srgbClr val="2B6FAE"/>
                </a:solidFill>
                <a:latin typeface="Arial"/>
                <a:ea typeface="Arial"/>
                <a:cs typeface="Arial"/>
              </a:rPr>
              <a:t>TRACKING</a:t>
            </a:r>
          </a:p>
        </p:txBody>
      </p:sp>
      <p:sp>
        <p:nvSpPr>
          <p:cNvPr id="14" name="">
            <a:extLst xmlns:a="http://schemas.openxmlformats.org/drawingml/2006/main">
              <a:ext uri="{FF2B5EF4-FFF2-40B4-BE49-F238E27FC236}">
                <a16:creationId xmlns:a16="http://schemas.microsoft.com/office/drawing/2014/main" id="{147194E9-2421-4290-B7CF-F49C89A52D4B}"/>
              </a:ext>
            </a:extLst>
          </p:cNvPr>
          <p:cNvSpPr>
            <a:spLocks xmlns:a="http://schemas.openxmlformats.org/drawingml/2006/main" noGrp="1"/>
          </p:cNvSpPr>
          <p:nvPr/>
        </p:nvSpPr>
        <p:spPr>
          <a:xfrm xmlns:a="http://schemas.openxmlformats.org/drawingml/2006/main">
            <a:off x="7467600" y="2047875"/>
            <a:ext cx="1809750" cy="102870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7E1E7"/>
            </a:solidFill>
          </a:ln>
        </p:spPr>
      </p:sp>
      <p:sp>
        <p:nvSpPr>
          <p:cNvPr id="15" name="">
            <a:extLst xmlns:a="http://schemas.openxmlformats.org/drawingml/2006/main">
              <a:ext uri="{FF2B5EF4-FFF2-40B4-BE49-F238E27FC236}">
                <a16:creationId xmlns:a16="http://schemas.microsoft.com/office/drawing/2014/main" id="{AB5FC10C-5571-4E46-85D0-063F339760F0}"/>
              </a:ext>
            </a:extLst>
          </p:cNvPr>
          <p:cNvSpPr>
            <a:spLocks xmlns:a="http://schemas.openxmlformats.org/drawingml/2006/main" noGrp="1"/>
          </p:cNvSpPr>
          <p:nvPr/>
        </p:nvSpPr>
        <p:spPr>
          <a:xfrm xmlns:a="http://schemas.openxmlformats.org/drawingml/2006/main">
            <a:off x="7600950" y="2181225"/>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EVENT</a:t>
            </a:r>
          </a:p>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engine</a:t>
            </a:r>
          </a:p>
        </p:txBody>
      </p:sp>
      <p:sp>
        <p:nvSpPr>
          <p:cNvPr id="16" name="">
            <a:extLst xmlns:a="http://schemas.openxmlformats.org/drawingml/2006/main">
              <a:ext uri="{FF2B5EF4-FFF2-40B4-BE49-F238E27FC236}">
                <a16:creationId xmlns:a16="http://schemas.microsoft.com/office/drawing/2014/main" id="{15CCA0AC-132A-456C-92C4-B59E32FC1F7F}"/>
              </a:ext>
            </a:extLst>
          </p:cNvPr>
          <p:cNvSpPr>
            <a:spLocks xmlns:a="http://schemas.openxmlformats.org/drawingml/2006/main" noGrp="1"/>
          </p:cNvSpPr>
          <p:nvPr/>
        </p:nvSpPr>
        <p:spPr>
          <a:xfrm xmlns:a="http://schemas.openxmlformats.org/drawingml/2006/main">
            <a:off x="7600950" y="26670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B6FAE"/>
                </a:solidFill>
                <a:latin typeface="Arial"/>
                <a:ea typeface="Arial"/>
                <a:cs typeface="Arial"/>
              </a:defRPr>
            </a:pPr>
            <a:r>
              <a:rPr sz="825" b="1">
                <a:solidFill>
                  <a:srgbClr val="2B6FAE"/>
                </a:solidFill>
                <a:latin typeface="Arial"/>
                <a:ea typeface="Arial"/>
                <a:cs typeface="Arial"/>
              </a:rPr>
              <a:t>LOGIC</a:t>
            </a:r>
          </a:p>
        </p:txBody>
      </p:sp>
      <p:sp>
        <p:nvSpPr>
          <p:cNvPr id="17" name="">
            <a:extLst xmlns:a="http://schemas.openxmlformats.org/drawingml/2006/main">
              <a:ext uri="{FF2B5EF4-FFF2-40B4-BE49-F238E27FC236}">
                <a16:creationId xmlns:a16="http://schemas.microsoft.com/office/drawing/2014/main" id="{DA1419BB-1CF6-4C15-ABB7-628FFDE4268A}"/>
              </a:ext>
            </a:extLst>
          </p:cNvPr>
          <p:cNvSpPr>
            <a:spLocks xmlns:a="http://schemas.openxmlformats.org/drawingml/2006/main" noGrp="1"/>
          </p:cNvSpPr>
          <p:nvPr/>
        </p:nvSpPr>
        <p:spPr>
          <a:xfrm xmlns:a="http://schemas.openxmlformats.org/drawingml/2006/main">
            <a:off x="9772650" y="2047875"/>
            <a:ext cx="1809750" cy="1028700"/>
          </a:xfrm>
          <a:prstGeom xmlns:a="http://schemas.openxmlformats.org/drawingml/2006/main" prst="roundRect">
            <a:avLst>
              <a:gd name="adj" fmla="val 14815"/>
            </a:avLst>
          </a:prstGeom>
          <a:solidFill xmlns:a="http://schemas.openxmlformats.org/drawingml/2006/main">
            <a:srgbClr val="EEF5F6"/>
          </a:solidFill>
          <a:ln xmlns:a="http://schemas.openxmlformats.org/drawingml/2006/main" w="19050">
            <a:solidFill>
              <a:srgbClr val="087F72"/>
            </a:solidFill>
          </a:ln>
        </p:spPr>
      </p:sp>
      <p:sp>
        <p:nvSpPr>
          <p:cNvPr id="18" name="">
            <a:extLst xmlns:a="http://schemas.openxmlformats.org/drawingml/2006/main">
              <a:ext uri="{FF2B5EF4-FFF2-40B4-BE49-F238E27FC236}">
                <a16:creationId xmlns:a16="http://schemas.microsoft.com/office/drawing/2014/main" id="{5FAB3E34-B58F-478E-A264-36B6F95F26F7}"/>
              </a:ext>
            </a:extLst>
          </p:cNvPr>
          <p:cNvSpPr>
            <a:spLocks xmlns:a="http://schemas.openxmlformats.org/drawingml/2006/main" noGrp="1"/>
          </p:cNvSpPr>
          <p:nvPr/>
        </p:nvSpPr>
        <p:spPr>
          <a:xfrm xmlns:a="http://schemas.openxmlformats.org/drawingml/2006/main">
            <a:off x="9906000" y="2181225"/>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APP +</a:t>
            </a:r>
          </a:p>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replay</a:t>
            </a:r>
          </a:p>
        </p:txBody>
      </p:sp>
      <p:sp>
        <p:nvSpPr>
          <p:cNvPr id="19" name="">
            <a:extLst xmlns:a="http://schemas.openxmlformats.org/drawingml/2006/main">
              <a:ext uri="{FF2B5EF4-FFF2-40B4-BE49-F238E27FC236}">
                <a16:creationId xmlns:a16="http://schemas.microsoft.com/office/drawing/2014/main" id="{844A31E5-0EC1-4C69-8D67-AC915D955E8D}"/>
              </a:ext>
            </a:extLst>
          </p:cNvPr>
          <p:cNvSpPr>
            <a:spLocks xmlns:a="http://schemas.openxmlformats.org/drawingml/2006/main" noGrp="1"/>
          </p:cNvSpPr>
          <p:nvPr/>
        </p:nvSpPr>
        <p:spPr>
          <a:xfrm xmlns:a="http://schemas.openxmlformats.org/drawingml/2006/main">
            <a:off x="9906000" y="26670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087F72"/>
                </a:solidFill>
                <a:latin typeface="Arial"/>
                <a:ea typeface="Arial"/>
                <a:cs typeface="Arial"/>
              </a:defRPr>
            </a:pPr>
            <a:r>
              <a:rPr sz="825" b="1">
                <a:solidFill>
                  <a:srgbClr val="087F72"/>
                </a:solidFill>
                <a:latin typeface="Arial"/>
                <a:ea typeface="Arial"/>
                <a:cs typeface="Arial"/>
              </a:rPr>
              <a:t>INTERFACE</a:t>
            </a:r>
          </a:p>
        </p:txBody>
      </p:sp>
      <p:sp>
        <p:nvSpPr>
          <p:cNvPr id="24" name="">
            <a:extLst xmlns:a="http://schemas.openxmlformats.org/drawingml/2006/main">
              <a:ext uri="{FF2B5EF4-FFF2-40B4-BE49-F238E27FC236}">
                <a16:creationId xmlns:a16="http://schemas.microsoft.com/office/drawing/2014/main" id="{B3DCBFEC-4DED-419E-A22E-19E267631A04}"/>
              </a:ext>
            </a:extLst>
          </p:cNvPr>
          <p:cNvSpPr>
            <a:spLocks xmlns:a="http://schemas.openxmlformats.org/drawingml/2006/main" noGrp="1"/>
          </p:cNvSpPr>
          <p:nvPr/>
        </p:nvSpPr>
        <p:spPr>
          <a:xfrm xmlns:a="http://schemas.openxmlformats.org/drawingml/2006/main">
            <a:off x="2266950" y="3333750"/>
            <a:ext cx="7658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B6FAE"/>
                </a:solidFill>
                <a:latin typeface="Arial"/>
                <a:ea typeface="Arial"/>
                <a:cs typeface="Arial"/>
              </a:defRPr>
            </a:pPr>
            <a:r>
              <a:rPr sz="1350" b="1">
                <a:solidFill>
                  <a:srgbClr val="2B6FAE"/>
                </a:solidFill>
                <a:latin typeface="Arial"/>
                <a:ea typeface="Arial"/>
                <a:cs typeface="Arial"/>
              </a:rPr>
              <a:t>Evaluation covered head evidence, detection, tracking, and event output.</a:t>
            </a:r>
          </a:p>
        </p:txBody>
      </p:sp>
      <p:sp>
        <p:nvSpPr>
          <p:cNvPr id="25" name="">
            <a:extLst xmlns:a="http://schemas.openxmlformats.org/drawingml/2006/main">
              <a:ext uri="{FF2B5EF4-FFF2-40B4-BE49-F238E27FC236}">
                <a16:creationId xmlns:a16="http://schemas.microsoft.com/office/drawing/2014/main" id="{AAFDCA10-DB16-4B9F-BFD0-F11ED0791061}"/>
              </a:ext>
            </a:extLst>
          </p:cNvPr>
          <p:cNvSpPr>
            <a:spLocks xmlns:a="http://schemas.openxmlformats.org/drawingml/2006/main" noGrp="1"/>
          </p:cNvSpPr>
          <p:nvPr/>
        </p:nvSpPr>
        <p:spPr>
          <a:xfrm xmlns:a="http://schemas.openxmlformats.org/drawingml/2006/main">
            <a:off x="971550" y="4657725"/>
            <a:ext cx="10248900" cy="0"/>
          </a:xfrm>
          <a:prstGeom xmlns:a="http://schemas.openxmlformats.org/drawingml/2006/main" prst="line">
            <a:avLst/>
          </a:prstGeom>
          <a:noFill xmlns:a="http://schemas.openxmlformats.org/drawingml/2006/main"/>
          <a:ln xmlns:a="http://schemas.openxmlformats.org/drawingml/2006/main" w="28575">
            <a:solidFill>
              <a:srgbClr val="D7E1E7"/>
            </a:solidFill>
          </a:ln>
        </p:spPr>
      </p:sp>
      <p:sp>
        <p:nvSpPr>
          <p:cNvPr id="26" name="">
            <a:extLst xmlns:a="http://schemas.openxmlformats.org/drawingml/2006/main">
              <a:ext uri="{FF2B5EF4-FFF2-40B4-BE49-F238E27FC236}">
                <a16:creationId xmlns:a16="http://schemas.microsoft.com/office/drawing/2014/main" id="{854F6FBC-2137-4B38-B45E-D14EE22CC725}"/>
              </a:ext>
            </a:extLst>
          </p:cNvPr>
          <p:cNvSpPr>
            <a:spLocks xmlns:a="http://schemas.openxmlformats.org/drawingml/2006/main" noGrp="1"/>
          </p:cNvSpPr>
          <p:nvPr/>
        </p:nvSpPr>
        <p:spPr>
          <a:xfrm xmlns:a="http://schemas.openxmlformats.org/drawingml/2006/main">
            <a:off x="1428750" y="4533900"/>
            <a:ext cx="247650" cy="247650"/>
          </a:xfrm>
          <a:prstGeom xmlns:a="http://schemas.openxmlformats.org/drawingml/2006/main" prst="roundRect">
            <a:avLst>
              <a:gd name="adj" fmla="val 50000"/>
            </a:avLst>
          </a:prstGeom>
          <a:solidFill xmlns:a="http://schemas.openxmlformats.org/drawingml/2006/main">
            <a:srgbClr val="2B6FA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089FA46-FE1D-4EE9-A895-0680CAA68699}"/>
              </a:ext>
            </a:extLst>
          </p:cNvPr>
          <p:cNvSpPr>
            <a:spLocks xmlns:a="http://schemas.openxmlformats.org/drawingml/2006/main" noGrp="1"/>
          </p:cNvSpPr>
          <p:nvPr/>
        </p:nvSpPr>
        <p:spPr>
          <a:xfrm xmlns:a="http://schemas.openxmlformats.org/drawingml/2006/main">
            <a:off x="742950" y="4953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B6FAE"/>
                </a:solidFill>
                <a:latin typeface="Arial"/>
                <a:ea typeface="Arial"/>
                <a:cs typeface="Arial"/>
              </a:defRPr>
            </a:pPr>
            <a:r>
              <a:rPr sz="1050" b="1">
                <a:solidFill>
                  <a:srgbClr val="2B6FAE"/>
                </a:solidFill>
                <a:latin typeface="Arial"/>
                <a:ea typeface="Arial"/>
                <a:cs typeface="Arial"/>
              </a:rPr>
              <a:t>H1</a:t>
            </a:r>
          </a:p>
        </p:txBody>
      </p:sp>
      <p:sp>
        <p:nvSpPr>
          <p:cNvPr id="28" name="">
            <a:extLst xmlns:a="http://schemas.openxmlformats.org/drawingml/2006/main">
              <a:ext uri="{FF2B5EF4-FFF2-40B4-BE49-F238E27FC236}">
                <a16:creationId xmlns:a16="http://schemas.microsoft.com/office/drawing/2014/main" id="{F20F3A90-B556-4F7E-B392-B3AB057A31CE}"/>
              </a:ext>
            </a:extLst>
          </p:cNvPr>
          <p:cNvSpPr>
            <a:spLocks xmlns:a="http://schemas.openxmlformats.org/drawingml/2006/main" noGrp="1"/>
          </p:cNvSpPr>
          <p:nvPr/>
        </p:nvSpPr>
        <p:spPr>
          <a:xfrm xmlns:a="http://schemas.openxmlformats.org/drawingml/2006/main">
            <a:off x="742950" y="52387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Freeze JSON</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contracts</a:t>
            </a:r>
          </a:p>
        </p:txBody>
      </p:sp>
      <p:sp>
        <p:nvSpPr>
          <p:cNvPr id="29" name="">
            <a:extLst xmlns:a="http://schemas.openxmlformats.org/drawingml/2006/main">
              <a:ext uri="{FF2B5EF4-FFF2-40B4-BE49-F238E27FC236}">
                <a16:creationId xmlns:a16="http://schemas.microsoft.com/office/drawing/2014/main" id="{82BC1CFB-6B91-42FB-A58A-61E6E4AFB071}"/>
              </a:ext>
            </a:extLst>
          </p:cNvPr>
          <p:cNvSpPr>
            <a:spLocks xmlns:a="http://schemas.openxmlformats.org/drawingml/2006/main" noGrp="1"/>
          </p:cNvSpPr>
          <p:nvPr/>
        </p:nvSpPr>
        <p:spPr>
          <a:xfrm xmlns:a="http://schemas.openxmlformats.org/drawingml/2006/main">
            <a:off x="742950" y="57912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E7182"/>
                </a:solidFill>
                <a:latin typeface="Arial"/>
                <a:ea typeface="Arial"/>
                <a:cs typeface="Arial"/>
              </a:defRPr>
            </a:pPr>
            <a:r>
              <a:rPr sz="825" b="0">
                <a:solidFill>
                  <a:srgbClr val="5E7182"/>
                </a:solidFill>
                <a:latin typeface="Arial"/>
                <a:ea typeface="Arial"/>
                <a:cs typeface="Arial"/>
              </a:rPr>
              <a:t>Everyone</a:t>
            </a:r>
          </a:p>
        </p:txBody>
      </p:sp>
      <p:sp>
        <p:nvSpPr>
          <p:cNvPr id="30" name="">
            <a:extLst xmlns:a="http://schemas.openxmlformats.org/drawingml/2006/main">
              <a:ext uri="{FF2B5EF4-FFF2-40B4-BE49-F238E27FC236}">
                <a16:creationId xmlns:a16="http://schemas.microsoft.com/office/drawing/2014/main" id="{0E25502F-0D5C-4FBD-A94D-7720BACA904F}"/>
              </a:ext>
            </a:extLst>
          </p:cNvPr>
          <p:cNvSpPr>
            <a:spLocks xmlns:a="http://schemas.openxmlformats.org/drawingml/2006/main" noGrp="1"/>
          </p:cNvSpPr>
          <p:nvPr/>
        </p:nvSpPr>
        <p:spPr>
          <a:xfrm xmlns:a="http://schemas.openxmlformats.org/drawingml/2006/main">
            <a:off x="3695700" y="4533900"/>
            <a:ext cx="247650" cy="247650"/>
          </a:xfrm>
          <a:prstGeom xmlns:a="http://schemas.openxmlformats.org/drawingml/2006/main" prst="roundRect">
            <a:avLst>
              <a:gd name="adj" fmla="val 50000"/>
            </a:avLst>
          </a:prstGeom>
          <a:solidFill xmlns:a="http://schemas.openxmlformats.org/drawingml/2006/main">
            <a:srgbClr val="2B6FAE"/>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11D38F4-1D3D-471F-86B0-9032D444AF43}"/>
              </a:ext>
            </a:extLst>
          </p:cNvPr>
          <p:cNvSpPr>
            <a:spLocks xmlns:a="http://schemas.openxmlformats.org/drawingml/2006/main" noGrp="1"/>
          </p:cNvSpPr>
          <p:nvPr/>
        </p:nvSpPr>
        <p:spPr>
          <a:xfrm xmlns:a="http://schemas.openxmlformats.org/drawingml/2006/main">
            <a:off x="3009900" y="4953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B6FAE"/>
                </a:solidFill>
                <a:latin typeface="Arial"/>
                <a:ea typeface="Arial"/>
                <a:cs typeface="Arial"/>
              </a:defRPr>
            </a:pPr>
            <a:r>
              <a:rPr sz="1050" b="1">
                <a:solidFill>
                  <a:srgbClr val="2B6FAE"/>
                </a:solidFill>
                <a:latin typeface="Arial"/>
                <a:ea typeface="Arial"/>
                <a:cs typeface="Arial"/>
              </a:rPr>
              <a:t>H3</a:t>
            </a:r>
          </a:p>
        </p:txBody>
      </p:sp>
      <p:sp>
        <p:nvSpPr>
          <p:cNvPr id="32" name="">
            <a:extLst xmlns:a="http://schemas.openxmlformats.org/drawingml/2006/main">
              <a:ext uri="{FF2B5EF4-FFF2-40B4-BE49-F238E27FC236}">
                <a16:creationId xmlns:a16="http://schemas.microsoft.com/office/drawing/2014/main" id="{38E76556-036B-4394-BB9D-A1189CA67BF9}"/>
              </a:ext>
            </a:extLst>
          </p:cNvPr>
          <p:cNvSpPr>
            <a:spLocks xmlns:a="http://schemas.openxmlformats.org/drawingml/2006/main" noGrp="1"/>
          </p:cNvSpPr>
          <p:nvPr/>
        </p:nvSpPr>
        <p:spPr>
          <a:xfrm xmlns:a="http://schemas.openxmlformats.org/drawingml/2006/main">
            <a:off x="3009900" y="52387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Sim tracks feed</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engine and UI</a:t>
            </a:r>
          </a:p>
        </p:txBody>
      </p:sp>
      <p:sp>
        <p:nvSpPr>
          <p:cNvPr id="33" name="">
            <a:extLst xmlns:a="http://schemas.openxmlformats.org/drawingml/2006/main">
              <a:ext uri="{FF2B5EF4-FFF2-40B4-BE49-F238E27FC236}">
                <a16:creationId xmlns:a16="http://schemas.microsoft.com/office/drawing/2014/main" id="{E6E607E3-DD38-4BCF-A395-30E70FEE0BEA}"/>
              </a:ext>
            </a:extLst>
          </p:cNvPr>
          <p:cNvSpPr>
            <a:spLocks xmlns:a="http://schemas.openxmlformats.org/drawingml/2006/main" noGrp="1"/>
          </p:cNvSpPr>
          <p:nvPr/>
        </p:nvSpPr>
        <p:spPr>
          <a:xfrm xmlns:a="http://schemas.openxmlformats.org/drawingml/2006/main">
            <a:off x="3009900" y="57912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E7182"/>
                </a:solidFill>
                <a:latin typeface="Arial"/>
                <a:ea typeface="Arial"/>
                <a:cs typeface="Arial"/>
              </a:defRPr>
            </a:pPr>
            <a:r>
              <a:rPr sz="825" b="0">
                <a:solidFill>
                  <a:srgbClr val="5E7182"/>
                </a:solidFill>
                <a:latin typeface="Arial"/>
                <a:ea typeface="Arial"/>
                <a:cs typeface="Arial"/>
              </a:rPr>
              <a:t>Simulation + integration</a:t>
            </a:r>
          </a:p>
        </p:txBody>
      </p:sp>
      <p:sp>
        <p:nvSpPr>
          <p:cNvPr id="34" name="">
            <a:extLst xmlns:a="http://schemas.openxmlformats.org/drawingml/2006/main">
              <a:ext uri="{FF2B5EF4-FFF2-40B4-BE49-F238E27FC236}">
                <a16:creationId xmlns:a16="http://schemas.microsoft.com/office/drawing/2014/main" id="{F28D2BCE-DF25-45EB-BAF8-A2655760FD12}"/>
              </a:ext>
            </a:extLst>
          </p:cNvPr>
          <p:cNvSpPr>
            <a:spLocks xmlns:a="http://schemas.openxmlformats.org/drawingml/2006/main" noGrp="1"/>
          </p:cNvSpPr>
          <p:nvPr/>
        </p:nvSpPr>
        <p:spPr>
          <a:xfrm xmlns:a="http://schemas.openxmlformats.org/drawingml/2006/main">
            <a:off x="5962650" y="4533900"/>
            <a:ext cx="247650" cy="247650"/>
          </a:xfrm>
          <a:prstGeom xmlns:a="http://schemas.openxmlformats.org/drawingml/2006/main" prst="roundRect">
            <a:avLst>
              <a:gd name="adj" fmla="val 50000"/>
            </a:avLst>
          </a:prstGeom>
          <a:solidFill xmlns:a="http://schemas.openxmlformats.org/drawingml/2006/main">
            <a:srgbClr val="087F72"/>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E632FE7-F2BB-404D-BF4A-C2C32D45B20F}"/>
              </a:ext>
            </a:extLst>
          </p:cNvPr>
          <p:cNvSpPr>
            <a:spLocks xmlns:a="http://schemas.openxmlformats.org/drawingml/2006/main" noGrp="1"/>
          </p:cNvSpPr>
          <p:nvPr/>
        </p:nvSpPr>
        <p:spPr>
          <a:xfrm xmlns:a="http://schemas.openxmlformats.org/drawingml/2006/main">
            <a:off x="5276850" y="4953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087F72"/>
                </a:solidFill>
                <a:latin typeface="Arial"/>
                <a:ea typeface="Arial"/>
                <a:cs typeface="Arial"/>
              </a:defRPr>
            </a:pPr>
            <a:r>
              <a:rPr sz="1050" b="1">
                <a:solidFill>
                  <a:srgbClr val="087F72"/>
                </a:solidFill>
                <a:latin typeface="Arial"/>
                <a:ea typeface="Arial"/>
                <a:cs typeface="Arial"/>
              </a:rPr>
              <a:t>H6</a:t>
            </a:r>
          </a:p>
        </p:txBody>
      </p:sp>
      <p:sp>
        <p:nvSpPr>
          <p:cNvPr id="36" name="">
            <a:extLst xmlns:a="http://schemas.openxmlformats.org/drawingml/2006/main">
              <a:ext uri="{FF2B5EF4-FFF2-40B4-BE49-F238E27FC236}">
                <a16:creationId xmlns:a16="http://schemas.microsoft.com/office/drawing/2014/main" id="{5D81997A-26AF-4A18-B5B5-D06793F3D388}"/>
              </a:ext>
            </a:extLst>
          </p:cNvPr>
          <p:cNvSpPr>
            <a:spLocks xmlns:a="http://schemas.openxmlformats.org/drawingml/2006/main" noGrp="1"/>
          </p:cNvSpPr>
          <p:nvPr/>
        </p:nvSpPr>
        <p:spPr>
          <a:xfrm xmlns:a="http://schemas.openxmlformats.org/drawingml/2006/main">
            <a:off x="5276850" y="52387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First end-to-end</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red alert</a:t>
            </a:r>
          </a:p>
        </p:txBody>
      </p:sp>
      <p:sp>
        <p:nvSpPr>
          <p:cNvPr id="37" name="">
            <a:extLst xmlns:a="http://schemas.openxmlformats.org/drawingml/2006/main">
              <a:ext uri="{FF2B5EF4-FFF2-40B4-BE49-F238E27FC236}">
                <a16:creationId xmlns:a16="http://schemas.microsoft.com/office/drawing/2014/main" id="{F2670246-8348-43E6-9D92-1FA93BE6D420}"/>
              </a:ext>
            </a:extLst>
          </p:cNvPr>
          <p:cNvSpPr>
            <a:spLocks xmlns:a="http://schemas.openxmlformats.org/drawingml/2006/main" noGrp="1"/>
          </p:cNvSpPr>
          <p:nvPr/>
        </p:nvSpPr>
        <p:spPr>
          <a:xfrm xmlns:a="http://schemas.openxmlformats.org/drawingml/2006/main">
            <a:off x="5276850" y="57912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E7182"/>
                </a:solidFill>
                <a:latin typeface="Arial"/>
                <a:ea typeface="Arial"/>
                <a:cs typeface="Arial"/>
              </a:defRPr>
            </a:pPr>
            <a:r>
              <a:rPr sz="825" b="0">
                <a:solidFill>
                  <a:srgbClr val="5E7182"/>
                </a:solidFill>
                <a:latin typeface="Arial"/>
                <a:ea typeface="Arial"/>
                <a:cs typeface="Arial"/>
              </a:rPr>
              <a:t>Integration</a:t>
            </a:r>
          </a:p>
        </p:txBody>
      </p:sp>
      <p:sp>
        <p:nvSpPr>
          <p:cNvPr id="38" name="">
            <a:extLst xmlns:a="http://schemas.openxmlformats.org/drawingml/2006/main">
              <a:ext uri="{FF2B5EF4-FFF2-40B4-BE49-F238E27FC236}">
                <a16:creationId xmlns:a16="http://schemas.microsoft.com/office/drawing/2014/main" id="{948DBB0F-9834-43B7-80CB-C08D9A13587F}"/>
              </a:ext>
            </a:extLst>
          </p:cNvPr>
          <p:cNvSpPr>
            <a:spLocks xmlns:a="http://schemas.openxmlformats.org/drawingml/2006/main" noGrp="1"/>
          </p:cNvSpPr>
          <p:nvPr/>
        </p:nvSpPr>
        <p:spPr>
          <a:xfrm xmlns:a="http://schemas.openxmlformats.org/drawingml/2006/main">
            <a:off x="8229600" y="4533900"/>
            <a:ext cx="247650" cy="247650"/>
          </a:xfrm>
          <a:prstGeom xmlns:a="http://schemas.openxmlformats.org/drawingml/2006/main" prst="roundRect">
            <a:avLst>
              <a:gd name="adj" fmla="val 50000"/>
            </a:avLst>
          </a:prstGeom>
          <a:solidFill xmlns:a="http://schemas.openxmlformats.org/drawingml/2006/main">
            <a:srgbClr val="2B6FAE"/>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F3BDF46-C75A-4F63-8346-32B50BCDF5C4}"/>
              </a:ext>
            </a:extLst>
          </p:cNvPr>
          <p:cNvSpPr>
            <a:spLocks xmlns:a="http://schemas.openxmlformats.org/drawingml/2006/main" noGrp="1"/>
          </p:cNvSpPr>
          <p:nvPr/>
        </p:nvSpPr>
        <p:spPr>
          <a:xfrm xmlns:a="http://schemas.openxmlformats.org/drawingml/2006/main">
            <a:off x="7543800" y="4953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B6FAE"/>
                </a:solidFill>
                <a:latin typeface="Arial"/>
                <a:ea typeface="Arial"/>
                <a:cs typeface="Arial"/>
              </a:defRPr>
            </a:pPr>
            <a:r>
              <a:rPr sz="1050" b="1">
                <a:solidFill>
                  <a:srgbClr val="2B6FAE"/>
                </a:solidFill>
                <a:latin typeface="Arial"/>
                <a:ea typeface="Arial"/>
                <a:cs typeface="Arial"/>
              </a:rPr>
              <a:t>H9</a:t>
            </a:r>
          </a:p>
        </p:txBody>
      </p:sp>
      <p:sp>
        <p:nvSpPr>
          <p:cNvPr id="40" name="">
            <a:extLst xmlns:a="http://schemas.openxmlformats.org/drawingml/2006/main">
              <a:ext uri="{FF2B5EF4-FFF2-40B4-BE49-F238E27FC236}">
                <a16:creationId xmlns:a16="http://schemas.microsoft.com/office/drawing/2014/main" id="{63AF5BB6-91FB-4EEB-AEA4-549C204562FE}"/>
              </a:ext>
            </a:extLst>
          </p:cNvPr>
          <p:cNvSpPr>
            <a:spLocks xmlns:a="http://schemas.openxmlformats.org/drawingml/2006/main" noGrp="1"/>
          </p:cNvSpPr>
          <p:nvPr/>
        </p:nvSpPr>
        <p:spPr>
          <a:xfrm xmlns:a="http://schemas.openxmlformats.org/drawingml/2006/main">
            <a:off x="7543800" y="52387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826"/>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Detector and tracker</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replace fake data</a:t>
            </a:r>
          </a:p>
        </p:txBody>
      </p:sp>
      <p:sp>
        <p:nvSpPr>
          <p:cNvPr id="41" name="">
            <a:extLst xmlns:a="http://schemas.openxmlformats.org/drawingml/2006/main">
              <a:ext uri="{FF2B5EF4-FFF2-40B4-BE49-F238E27FC236}">
                <a16:creationId xmlns:a16="http://schemas.microsoft.com/office/drawing/2014/main" id="{A660D033-34F1-4A73-B5CD-69B21C9492E7}"/>
              </a:ext>
            </a:extLst>
          </p:cNvPr>
          <p:cNvSpPr>
            <a:spLocks xmlns:a="http://schemas.openxmlformats.org/drawingml/2006/main" noGrp="1"/>
          </p:cNvSpPr>
          <p:nvPr/>
        </p:nvSpPr>
        <p:spPr>
          <a:xfrm xmlns:a="http://schemas.openxmlformats.org/drawingml/2006/main">
            <a:off x="7543800" y="57912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E7182"/>
                </a:solidFill>
                <a:latin typeface="Arial"/>
                <a:ea typeface="Arial"/>
                <a:cs typeface="Arial"/>
              </a:defRPr>
            </a:pPr>
            <a:r>
              <a:rPr sz="825" b="0">
                <a:solidFill>
                  <a:srgbClr val="5E7182"/>
                </a:solidFill>
                <a:latin typeface="Arial"/>
                <a:ea typeface="Arial"/>
                <a:cs typeface="Arial"/>
              </a:rPr>
              <a:t>Vision + evaluation</a:t>
            </a:r>
          </a:p>
        </p:txBody>
      </p:sp>
      <p:sp>
        <p:nvSpPr>
          <p:cNvPr id="42" name="">
            <a:extLst xmlns:a="http://schemas.openxmlformats.org/drawingml/2006/main">
              <a:ext uri="{FF2B5EF4-FFF2-40B4-BE49-F238E27FC236}">
                <a16:creationId xmlns:a16="http://schemas.microsoft.com/office/drawing/2014/main" id="{7B5D011E-1B1A-4D07-BE47-A3A42FBDD926}"/>
              </a:ext>
            </a:extLst>
          </p:cNvPr>
          <p:cNvSpPr>
            <a:spLocks xmlns:a="http://schemas.openxmlformats.org/drawingml/2006/main" noGrp="1"/>
          </p:cNvSpPr>
          <p:nvPr/>
        </p:nvSpPr>
        <p:spPr>
          <a:xfrm xmlns:a="http://schemas.openxmlformats.org/drawingml/2006/main">
            <a:off x="10496550" y="4533900"/>
            <a:ext cx="247650" cy="247650"/>
          </a:xfrm>
          <a:prstGeom xmlns:a="http://schemas.openxmlformats.org/drawingml/2006/main" prst="roundRect">
            <a:avLst>
              <a:gd name="adj" fmla="val 50000"/>
            </a:avLst>
          </a:prstGeom>
          <a:solidFill xmlns:a="http://schemas.openxmlformats.org/drawingml/2006/main">
            <a:srgbClr val="2B6FAE"/>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5BC0482-B4F7-4BAC-8B40-C4ED68E05013}"/>
              </a:ext>
            </a:extLst>
          </p:cNvPr>
          <p:cNvSpPr>
            <a:spLocks xmlns:a="http://schemas.openxmlformats.org/drawingml/2006/main" noGrp="1"/>
          </p:cNvSpPr>
          <p:nvPr/>
        </p:nvSpPr>
        <p:spPr>
          <a:xfrm xmlns:a="http://schemas.openxmlformats.org/drawingml/2006/main">
            <a:off x="9810750" y="4953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B6FAE"/>
                </a:solidFill>
                <a:latin typeface="Arial"/>
                <a:ea typeface="Arial"/>
                <a:cs typeface="Arial"/>
              </a:defRPr>
            </a:pPr>
            <a:r>
              <a:rPr sz="1050" b="1">
                <a:solidFill>
                  <a:srgbClr val="2B6FAE"/>
                </a:solidFill>
                <a:latin typeface="Arial"/>
                <a:ea typeface="Arial"/>
                <a:cs typeface="Arial"/>
              </a:rPr>
              <a:t>H12</a:t>
            </a:r>
          </a:p>
        </p:txBody>
      </p:sp>
      <p:sp>
        <p:nvSpPr>
          <p:cNvPr id="44" name="">
            <a:extLst xmlns:a="http://schemas.openxmlformats.org/drawingml/2006/main">
              <a:ext uri="{FF2B5EF4-FFF2-40B4-BE49-F238E27FC236}">
                <a16:creationId xmlns:a16="http://schemas.microsoft.com/office/drawing/2014/main" id="{2406740D-D52A-4EEB-9D35-FCBBEFC1F3CC}"/>
              </a:ext>
            </a:extLst>
          </p:cNvPr>
          <p:cNvSpPr>
            <a:spLocks xmlns:a="http://schemas.openxmlformats.org/drawingml/2006/main" noGrp="1"/>
          </p:cNvSpPr>
          <p:nvPr/>
        </p:nvSpPr>
        <p:spPr>
          <a:xfrm xmlns:a="http://schemas.openxmlformats.org/drawingml/2006/main">
            <a:off x="9810750" y="52387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Freeze, rehearse,</a:t>
            </a:r>
          </a:p>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keep a backup</a:t>
            </a:r>
          </a:p>
        </p:txBody>
      </p:sp>
      <p:sp>
        <p:nvSpPr>
          <p:cNvPr id="45" name="">
            <a:extLst xmlns:a="http://schemas.openxmlformats.org/drawingml/2006/main">
              <a:ext uri="{FF2B5EF4-FFF2-40B4-BE49-F238E27FC236}">
                <a16:creationId xmlns:a16="http://schemas.microsoft.com/office/drawing/2014/main" id="{736DCDC1-24CD-4E0D-97F8-F437F11FB67E}"/>
              </a:ext>
            </a:extLst>
          </p:cNvPr>
          <p:cNvSpPr>
            <a:spLocks xmlns:a="http://schemas.openxmlformats.org/drawingml/2006/main" noGrp="1"/>
          </p:cNvSpPr>
          <p:nvPr/>
        </p:nvSpPr>
        <p:spPr>
          <a:xfrm xmlns:a="http://schemas.openxmlformats.org/drawingml/2006/main">
            <a:off x="9810750" y="57912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E7182"/>
                </a:solidFill>
                <a:latin typeface="Arial"/>
                <a:ea typeface="Arial"/>
                <a:cs typeface="Arial"/>
              </a:defRPr>
            </a:pPr>
            <a:r>
              <a:rPr sz="825" b="0">
                <a:solidFill>
                  <a:srgbClr val="5E7182"/>
                </a:solidFill>
                <a:latin typeface="Arial"/>
                <a:ea typeface="Arial"/>
                <a:cs typeface="Arial"/>
              </a:rPr>
              <a:t>Everyone</a:t>
            </a:r>
          </a:p>
        </p:txBody>
      </p:sp>
      <p:sp>
        <p:nvSpPr>
          <p:cNvPr id="46" name="">
            <a:extLst xmlns:a="http://schemas.openxmlformats.org/drawingml/2006/main">
              <a:ext uri="{FF2B5EF4-FFF2-40B4-BE49-F238E27FC236}">
                <a16:creationId xmlns:a16="http://schemas.microsoft.com/office/drawing/2014/main" id="{7D76ACCD-2B1C-4342-B116-27CB0FF08895}"/>
              </a:ext>
            </a:extLst>
          </p:cNvPr>
          <p:cNvSpPr>
            <a:spLocks xmlns:a="http://schemas.openxmlformats.org/drawingml/2006/main" noGrp="1"/>
          </p:cNvSpPr>
          <p:nvPr/>
        </p:nvSpPr>
        <p:spPr>
          <a:xfrm xmlns:a="http://schemas.openxmlformats.org/drawingml/2006/main">
            <a:off x="552450" y="6505575"/>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259"/>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BUILD AGAINST FAKE DATA FIRST · NOBODY WAITS FOR ANOTHER WORKSTREAM</a:t>
            </a:r>
          </a:p>
        </p:txBody>
      </p:sp>
    </p:spTree>
    <p:extLst>
      <p:ext uri="{BB962C8B-B14F-4D97-AF65-F5344CB8AC3E}">
        <p14:creationId xmlns:p14="http://schemas.microsoft.com/office/powerpoint/2010/main" val="1549960042"/>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2ED1CAF-EC99-460C-A0F8-51B257CF3180}"/>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SAFE TEST BENCH</a:t>
            </a:r>
          </a:p>
        </p:txBody>
      </p:sp>
      <p:sp>
        <p:nvSpPr>
          <p:cNvPr id="2" name="">
            <a:extLst xmlns:a="http://schemas.openxmlformats.org/drawingml/2006/main">
              <a:ext uri="{FF2B5EF4-FFF2-40B4-BE49-F238E27FC236}">
                <a16:creationId xmlns:a16="http://schemas.microsoft.com/office/drawing/2014/main" id="{F151BFBB-F17A-42A8-816A-6548AF5CCD13}"/>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AD48A359-F1FB-481D-A66B-DAB614E8C786}"/>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87F84D-390B-4A33-AD7A-626513ADA297}"/>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Simulation covered cases the team could not film safely</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d46ec20959b4a88"/>
          <a:srcRect xmlns:a="http://schemas.openxmlformats.org/drawingml/2006/main" l="601" t="0" r="601" b="0"/>
          <a:stretch xmlns:a="http://schemas.openxmlformats.org/drawingml/2006/main">
            <a:fillRect l="0" t="0" r="0" b="0"/>
          </a:stretch>
        </p:blipFill>
        <p:spPr>
          <a:xfrm xmlns:a="http://schemas.openxmlformats.org/drawingml/2006/main">
            <a:off x="552450" y="1847850"/>
            <a:ext cx="5219700" cy="2971800"/>
          </a:xfrm>
          <a:prstGeom xmlns:a="http://schemas.openxmlformats.org/drawingml/2006/main" prst="roundRect">
            <a:avLst>
              <a:gd name="adj" fmla="val 5769"/>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b130048d3ae4266"/>
          <a:srcRect xmlns:a="http://schemas.openxmlformats.org/drawingml/2006/main" l="5000" t="2000" r="25000" b="4000"/>
          <a:stretch xmlns:a="http://schemas.openxmlformats.org/drawingml/2006/main"/>
        </p:blipFill>
        <p:spPr>
          <a:xfrm xmlns:a="http://schemas.openxmlformats.org/drawingml/2006/main">
            <a:off x="6419850" y="1847850"/>
            <a:ext cx="5219700" cy="2971800"/>
          </a:xfrm>
          <a:prstGeom xmlns:a="http://schemas.openxmlformats.org/drawingml/2006/main" prst="roundRect">
            <a:avLst>
              <a:gd name="adj" fmla="val 5769"/>
            </a:avLst>
          </a:prstGeom>
        </p:spPr>
      </p:pic>
      <p:sp>
        <p:nvSpPr>
          <p:cNvPr id="7" name="">
            <a:extLst xmlns:a="http://schemas.openxmlformats.org/drawingml/2006/main">
              <a:ext uri="{FF2B5EF4-FFF2-40B4-BE49-F238E27FC236}">
                <a16:creationId xmlns:a16="http://schemas.microsoft.com/office/drawing/2014/main" id="{861EFCCD-D927-42A6-A745-E1D54B6FC9B6}"/>
              </a:ext>
            </a:extLst>
          </p:cNvPr>
          <p:cNvSpPr>
            <a:spLocks xmlns:a="http://schemas.openxmlformats.org/drawingml/2006/main" noGrp="1"/>
          </p:cNvSpPr>
          <p:nvPr/>
        </p:nvSpPr>
        <p:spPr>
          <a:xfrm xmlns:a="http://schemas.openxmlformats.org/drawingml/2006/main">
            <a:off x="552450" y="50101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MUJOCO TEST BENCH</a:t>
            </a:r>
          </a:p>
        </p:txBody>
      </p:sp>
      <p:sp>
        <p:nvSpPr>
          <p:cNvPr id="8" name="">
            <a:extLst xmlns:a="http://schemas.openxmlformats.org/drawingml/2006/main">
              <a:ext uri="{FF2B5EF4-FFF2-40B4-BE49-F238E27FC236}">
                <a16:creationId xmlns:a16="http://schemas.microsoft.com/office/drawing/2014/main" id="{40219CC9-4C28-4870-9DCA-9262B7CAFD4B}"/>
              </a:ext>
            </a:extLst>
          </p:cNvPr>
          <p:cNvSpPr>
            <a:spLocks xmlns:a="http://schemas.openxmlformats.org/drawingml/2006/main" noGrp="1"/>
          </p:cNvSpPr>
          <p:nvPr/>
        </p:nvSpPr>
        <p:spPr>
          <a:xfrm xmlns:a="http://schemas.openxmlformats.org/drawingml/2006/main">
            <a:off x="552450" y="52959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Five scenarios with exact boxes, head height, and identity</a:t>
            </a:r>
          </a:p>
        </p:txBody>
      </p:sp>
      <p:sp>
        <p:nvSpPr>
          <p:cNvPr id="9" name="">
            <a:extLst xmlns:a="http://schemas.openxmlformats.org/drawingml/2006/main">
              <a:ext uri="{FF2B5EF4-FFF2-40B4-BE49-F238E27FC236}">
                <a16:creationId xmlns:a16="http://schemas.microsoft.com/office/drawing/2014/main" id="{EEF84341-36CD-4758-8669-247F1C34B9F6}"/>
              </a:ext>
            </a:extLst>
          </p:cNvPr>
          <p:cNvSpPr>
            <a:spLocks xmlns:a="http://schemas.openxmlformats.org/drawingml/2006/main" noGrp="1"/>
          </p:cNvSpPr>
          <p:nvPr/>
        </p:nvSpPr>
        <p:spPr>
          <a:xfrm xmlns:a="http://schemas.openxmlformats.org/drawingml/2006/main">
            <a:off x="6419850" y="50101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B6FAE"/>
                </a:solidFill>
                <a:latin typeface="Arial"/>
                <a:ea typeface="Arial"/>
                <a:cs typeface="Arial"/>
              </a:defRPr>
            </a:pPr>
            <a:r>
              <a:rPr sz="900" b="1">
                <a:solidFill>
                  <a:srgbClr val="2B6FAE"/>
                </a:solidFill>
                <a:latin typeface="Arial"/>
                <a:ea typeface="Arial"/>
                <a:cs typeface="Arial"/>
              </a:rPr>
              <a:t>ISAAC SIM TEST BENCH</a:t>
            </a:r>
          </a:p>
        </p:txBody>
      </p:sp>
      <p:sp>
        <p:nvSpPr>
          <p:cNvPr id="10" name="">
            <a:extLst xmlns:a="http://schemas.openxmlformats.org/drawingml/2006/main">
              <a:ext uri="{FF2B5EF4-FFF2-40B4-BE49-F238E27FC236}">
                <a16:creationId xmlns:a16="http://schemas.microsoft.com/office/drawing/2014/main" id="{008E59E3-1360-4146-A247-9B4DE43F4F0F}"/>
              </a:ext>
            </a:extLst>
          </p:cNvPr>
          <p:cNvSpPr>
            <a:spLocks xmlns:a="http://schemas.openxmlformats.org/drawingml/2006/main" noGrp="1"/>
          </p:cNvSpPr>
          <p:nvPr/>
        </p:nvSpPr>
        <p:spPr>
          <a:xfrm xmlns:a="http://schemas.openxmlformats.org/drawingml/2006/main">
            <a:off x="6419850" y="52959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More realistic people, moving water, and a held-out 300-frame clip</a:t>
            </a:r>
          </a:p>
        </p:txBody>
      </p:sp>
      <p:sp>
        <p:nvSpPr>
          <p:cNvPr id="11" name="">
            <a:extLst xmlns:a="http://schemas.openxmlformats.org/drawingml/2006/main">
              <a:ext uri="{FF2B5EF4-FFF2-40B4-BE49-F238E27FC236}">
                <a16:creationId xmlns:a16="http://schemas.microsoft.com/office/drawing/2014/main" id="{79813C62-4417-4CFD-9DCD-578B71BDC9C2}"/>
              </a:ext>
            </a:extLst>
          </p:cNvPr>
          <p:cNvSpPr>
            <a:spLocks xmlns:a="http://schemas.openxmlformats.org/drawingml/2006/main" noGrp="1"/>
          </p:cNvSpPr>
          <p:nvPr/>
        </p:nvSpPr>
        <p:spPr>
          <a:xfrm xmlns:a="http://schemas.openxmlformats.org/drawingml/2006/main">
            <a:off x="552450" y="601980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E7182"/>
                </a:solidFill>
                <a:latin typeface="Arial"/>
                <a:ea typeface="Arial"/>
                <a:cs typeface="Arial"/>
              </a:defRPr>
            </a:pPr>
            <a:r>
              <a:rPr sz="1275" b="0">
                <a:solidFill>
                  <a:srgbClr val="5E7182"/>
                </a:solidFill>
                <a:latin typeface="Arial"/>
                <a:ea typeface="Arial"/>
                <a:cs typeface="Arial"/>
              </a:rPr>
              <a:t>Safe cases: silent sink, collapse, entry, and resurfacing elsewhere</a:t>
            </a:r>
          </a:p>
        </p:txBody>
      </p:sp>
      <p:sp>
        <p:nvSpPr>
          <p:cNvPr id="12" name="">
            <a:extLst xmlns:a="http://schemas.openxmlformats.org/drawingml/2006/main">
              <a:ext uri="{FF2B5EF4-FFF2-40B4-BE49-F238E27FC236}">
                <a16:creationId xmlns:a16="http://schemas.microsoft.com/office/drawing/2014/main" id="{DA6A320E-91F1-4CF5-BFF0-EE0FF2552DA7}"/>
              </a:ext>
            </a:extLst>
          </p:cNvPr>
          <p:cNvSpPr>
            <a:spLocks xmlns:a="http://schemas.openxmlformats.org/drawingml/2006/main" noGrp="1"/>
          </p:cNvSpPr>
          <p:nvPr/>
        </p:nvSpPr>
        <p:spPr>
          <a:xfrm xmlns:a="http://schemas.openxmlformats.org/drawingml/2006/main">
            <a:off x="552450" y="6505575"/>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259"/>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SIMULATION PROVIDES EXACT ANSWERS · IT DOES NOT ESTABLISH REAL-WORLD ACCURACY</a:t>
            </a:r>
          </a:p>
        </p:txBody>
      </p:sp>
    </p:spTree>
    <p:extLst>
      <p:ext uri="{BB962C8B-B14F-4D97-AF65-F5344CB8AC3E}">
        <p14:creationId xmlns:p14="http://schemas.microsoft.com/office/powerpoint/2010/main" val="1847164355"/>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CA0F7B-0DFC-46DB-80CE-E84E64C533EB}"/>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MODEL DECISIONS</a:t>
            </a:r>
          </a:p>
        </p:txBody>
      </p:sp>
      <p:sp>
        <p:nvSpPr>
          <p:cNvPr id="2" name="">
            <a:extLst xmlns:a="http://schemas.openxmlformats.org/drawingml/2006/main">
              <a:ext uri="{FF2B5EF4-FFF2-40B4-BE49-F238E27FC236}">
                <a16:creationId xmlns:a16="http://schemas.microsoft.com/office/drawing/2014/main" id="{9C40989B-2337-4CEA-B326-CFF55DCD3711}"/>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8140212-F80D-4BF5-921C-BD136A0CE064}"/>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404821-509E-4C97-A67C-45B818084EFA}"/>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Two experiments changed the detector plan</a:t>
            </a:r>
          </a:p>
        </p:txBody>
      </p:sp>
      <p:sp>
        <p:nvSpPr>
          <p:cNvPr id="5" name="">
            <a:extLst xmlns:a="http://schemas.openxmlformats.org/drawingml/2006/main">
              <a:ext uri="{FF2B5EF4-FFF2-40B4-BE49-F238E27FC236}">
                <a16:creationId xmlns:a16="http://schemas.microsoft.com/office/drawing/2014/main" id="{775E8BF4-0B98-4D7F-8D6D-01A2450ECF74}"/>
              </a:ext>
            </a:extLst>
          </p:cNvPr>
          <p:cNvSpPr>
            <a:spLocks xmlns:a="http://schemas.openxmlformats.org/drawingml/2006/main" noGrp="1"/>
          </p:cNvSpPr>
          <p:nvPr/>
        </p:nvSpPr>
        <p:spPr>
          <a:xfrm xmlns:a="http://schemas.openxmlformats.org/drawingml/2006/main">
            <a:off x="552450" y="17907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STOCK MODELS ON HELD-OUT MUJOCO</a:t>
            </a:r>
          </a:p>
        </p:txBody>
      </p:sp>
      <p:sp>
        <p:nvSpPr>
          <p:cNvPr id="6" name="">
            <a:extLst xmlns:a="http://schemas.openxmlformats.org/drawingml/2006/main">
              <a:ext uri="{FF2B5EF4-FFF2-40B4-BE49-F238E27FC236}">
                <a16:creationId xmlns:a16="http://schemas.microsoft.com/office/drawing/2014/main" id="{DF349BBD-D7A1-4915-8C29-B71EB19C6F91}"/>
              </a:ext>
            </a:extLst>
          </p:cNvPr>
          <p:cNvSpPr>
            <a:spLocks xmlns:a="http://schemas.openxmlformats.org/drawingml/2006/main" noGrp="1"/>
          </p:cNvSpPr>
          <p:nvPr/>
        </p:nvSpPr>
        <p:spPr>
          <a:xfrm xmlns:a="http://schemas.openxmlformats.org/drawingml/2006/main">
            <a:off x="552450" y="20478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People found</a:t>
            </a:r>
          </a:p>
        </p:txBody>
      </p:sp>
      <p:graphicFrame>
        <p:nvGraphicFramePr>
          <p:cNvPr id="21" name="Chart"/>
          <p:cNvGraphicFramePr/>
          <p:nvPr/>
        </p:nvGraphicFramePr>
        <p:xfrm>
          <a:off xmlns:a="http://schemas.openxmlformats.org/drawingml/2006/main" x="552450" y="2343150"/>
          <a:ext xmlns:a="http://schemas.openxmlformats.org/drawingml/2006/main" cx="4953000" cy="2781300"/>
        </p:xfrm>
        <a:graphic xmlns:a="http://schemas.openxmlformats.org/drawingml/2006/main">
          <a:graphicData uri="http://schemas.openxmlformats.org/drawingml/2006/chart">
            <c:chart xmlns:r="http://schemas.openxmlformats.org/officeDocument/2006/relationships" xmlns:c="http://schemas.openxmlformats.org/drawingml/2006/chart" r:id="R01afc84e8ae24b94"/>
          </a:graphicData>
        </a:graphic>
      </p:graphicFrame>
      <p:sp>
        <p:nvSpPr>
          <p:cNvPr id="8" name="">
            <a:extLst xmlns:a="http://schemas.openxmlformats.org/drawingml/2006/main">
              <a:ext uri="{FF2B5EF4-FFF2-40B4-BE49-F238E27FC236}">
                <a16:creationId xmlns:a16="http://schemas.microsoft.com/office/drawing/2014/main" id="{896B189E-5732-4A17-9DBA-86E501BA09B6}"/>
              </a:ext>
            </a:extLst>
          </p:cNvPr>
          <p:cNvSpPr>
            <a:spLocks xmlns:a="http://schemas.openxmlformats.org/drawingml/2006/main" noGrp="1"/>
          </p:cNvSpPr>
          <p:nvPr/>
        </p:nvSpPr>
        <p:spPr>
          <a:xfrm xmlns:a="http://schemas.openxmlformats.org/drawingml/2006/main">
            <a:off x="6076950" y="1809750"/>
            <a:ext cx="0" cy="3429000"/>
          </a:xfrm>
          <a:prstGeom xmlns:a="http://schemas.openxmlformats.org/drawingml/2006/main" prst="line">
            <a:avLst/>
          </a:prstGeom>
          <a:noFill xmlns:a="http://schemas.openxmlformats.org/drawingml/2006/main"/>
          <a:ln xmlns:a="http://schemas.openxmlformats.org/drawingml/2006/main" w="19050">
            <a:solidFill>
              <a:srgbClr val="D7E1E7"/>
            </a:solidFill>
          </a:ln>
        </p:spPr>
      </p:sp>
      <p:sp>
        <p:nvSpPr>
          <p:cNvPr id="9" name="">
            <a:extLst xmlns:a="http://schemas.openxmlformats.org/drawingml/2006/main">
              <a:ext uri="{FF2B5EF4-FFF2-40B4-BE49-F238E27FC236}">
                <a16:creationId xmlns:a16="http://schemas.microsoft.com/office/drawing/2014/main" id="{A84C2D1C-3D7C-47F6-AC29-5F5B338514DD}"/>
              </a:ext>
            </a:extLst>
          </p:cNvPr>
          <p:cNvSpPr>
            <a:spLocks xmlns:a="http://schemas.openxmlformats.org/drawingml/2006/main" noGrp="1"/>
          </p:cNvSpPr>
          <p:nvPr/>
        </p:nvSpPr>
        <p:spPr>
          <a:xfrm xmlns:a="http://schemas.openxmlformats.org/drawingml/2006/main">
            <a:off x="6496050" y="179070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B6FAE"/>
                </a:solidFill>
                <a:latin typeface="Arial"/>
                <a:ea typeface="Arial"/>
                <a:cs typeface="Arial"/>
              </a:defRPr>
            </a:pPr>
            <a:r>
              <a:rPr sz="900" b="1">
                <a:solidFill>
                  <a:srgbClr val="2B6FAE"/>
                </a:solidFill>
                <a:latin typeface="Arial"/>
                <a:ea typeface="Arial"/>
                <a:cs typeface="Arial"/>
              </a:rPr>
              <a:t>HEAD FULLY UNDER ON HELD-OUT ISAAC</a:t>
            </a:r>
          </a:p>
        </p:txBody>
      </p:sp>
      <p:sp>
        <p:nvSpPr>
          <p:cNvPr id="10" name="">
            <a:extLst xmlns:a="http://schemas.openxmlformats.org/drawingml/2006/main">
              <a:ext uri="{FF2B5EF4-FFF2-40B4-BE49-F238E27FC236}">
                <a16:creationId xmlns:a16="http://schemas.microsoft.com/office/drawing/2014/main" id="{FB991C4B-5F4D-4996-8D31-D29CB200A28D}"/>
              </a:ext>
            </a:extLst>
          </p:cNvPr>
          <p:cNvSpPr>
            <a:spLocks xmlns:a="http://schemas.openxmlformats.org/drawingml/2006/main" noGrp="1"/>
          </p:cNvSpPr>
          <p:nvPr/>
        </p:nvSpPr>
        <p:spPr>
          <a:xfrm xmlns:a="http://schemas.openxmlformats.org/drawingml/2006/main">
            <a:off x="6496050" y="204787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People found</a:t>
            </a:r>
          </a:p>
        </p:txBody>
      </p:sp>
      <p:graphicFrame>
        <p:nvGraphicFramePr>
          <p:cNvPr id="25" name="Chart"/>
          <p:cNvGraphicFramePr/>
          <p:nvPr/>
        </p:nvGraphicFramePr>
        <p:xfrm>
          <a:off xmlns:a="http://schemas.openxmlformats.org/drawingml/2006/main" x="6496050" y="2343150"/>
          <a:ext xmlns:a="http://schemas.openxmlformats.org/drawingml/2006/main" cx="5143500" cy="2781300"/>
        </p:xfrm>
        <a:graphic xmlns:a="http://schemas.openxmlformats.org/drawingml/2006/main">
          <a:graphicData uri="http://schemas.openxmlformats.org/drawingml/2006/chart">
            <c:chart xmlns:r="http://schemas.openxmlformats.org/officeDocument/2006/relationships" xmlns:c="http://schemas.openxmlformats.org/drawingml/2006/chart" r:id="Rf67c2856b96e4b58"/>
          </a:graphicData>
        </a:graphic>
      </p:graphicFrame>
      <p:sp>
        <p:nvSpPr>
          <p:cNvPr id="12" name="">
            <a:extLst xmlns:a="http://schemas.openxmlformats.org/drawingml/2006/main">
              <a:ext uri="{FF2B5EF4-FFF2-40B4-BE49-F238E27FC236}">
                <a16:creationId xmlns:a16="http://schemas.microsoft.com/office/drawing/2014/main" id="{9FB7B09C-42C9-4AE9-A3A7-DE4C53C22B54}"/>
              </a:ext>
            </a:extLst>
          </p:cNvPr>
          <p:cNvSpPr>
            <a:spLocks xmlns:a="http://schemas.openxmlformats.org/drawingml/2006/main" noGrp="1"/>
          </p:cNvSpPr>
          <p:nvPr/>
        </p:nvSpPr>
        <p:spPr>
          <a:xfrm xmlns:a="http://schemas.openxmlformats.org/drawingml/2006/main">
            <a:off x="552450" y="5457825"/>
            <a:ext cx="11087100" cy="647700"/>
          </a:xfrm>
          <a:prstGeom xmlns:a="http://schemas.openxmlformats.org/drawingml/2006/main" prst="roundRect">
            <a:avLst>
              <a:gd name="adj" fmla="val 20588"/>
            </a:avLst>
          </a:prstGeom>
          <a:solidFill xmlns:a="http://schemas.openxmlformats.org/drawingml/2006/main">
            <a:srgbClr val="EEF5F6"/>
          </a:solidFill>
          <a:ln xmlns:a="http://schemas.openxmlformats.org/drawingml/2006/main" w="9525">
            <a:solidFill>
              <a:srgbClr val="D7E1E7"/>
            </a:solidFill>
          </a:ln>
        </p:spPr>
      </p:sp>
      <p:sp>
        <p:nvSpPr>
          <p:cNvPr id="13" name="">
            <a:extLst xmlns:a="http://schemas.openxmlformats.org/drawingml/2006/main">
              <a:ext uri="{FF2B5EF4-FFF2-40B4-BE49-F238E27FC236}">
                <a16:creationId xmlns:a16="http://schemas.microsoft.com/office/drawing/2014/main" id="{E67EECE9-8FF8-43F0-A574-977254B83DD9}"/>
              </a:ext>
            </a:extLst>
          </p:cNvPr>
          <p:cNvSpPr>
            <a:spLocks xmlns:a="http://schemas.openxmlformats.org/drawingml/2006/main" noGrp="1"/>
          </p:cNvSpPr>
          <p:nvPr/>
        </p:nvSpPr>
        <p:spPr>
          <a:xfrm xmlns:a="http://schemas.openxmlformats.org/drawingml/2006/main">
            <a:off x="781050" y="5581650"/>
            <a:ext cx="1062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297"/>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Decision: keep lightweight YOLO for the hackathon pipeline. Retain RF-DETR as the strongest zero-shot candidate for unfamiliar footage.</a:t>
            </a:r>
          </a:p>
        </p:txBody>
      </p:sp>
      <p:sp>
        <p:nvSpPr>
          <p:cNvPr id="14" name="">
            <a:extLst xmlns:a="http://schemas.openxmlformats.org/drawingml/2006/main">
              <a:ext uri="{FF2B5EF4-FFF2-40B4-BE49-F238E27FC236}">
                <a16:creationId xmlns:a16="http://schemas.microsoft.com/office/drawing/2014/main" id="{1F59D3C2-293B-434A-8B2A-907933609E7E}"/>
              </a:ext>
            </a:extLst>
          </p:cNvPr>
          <p:cNvSpPr>
            <a:spLocks xmlns:a="http://schemas.openxmlformats.org/drawingml/2006/main" noGrp="1"/>
          </p:cNvSpPr>
          <p:nvPr/>
        </p:nvSpPr>
        <p:spPr>
          <a:xfrm xmlns:a="http://schemas.openxmlformats.org/drawingml/2006/main">
            <a:off x="552450" y="6505575"/>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259"/>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ALL VALUES ON SIMULATION · SAME SCENE OR CHARACTER SET WHERE NOTED</a:t>
            </a:r>
          </a:p>
        </p:txBody>
      </p:sp>
    </p:spTree>
    <p:extLst>
      <p:ext uri="{BB962C8B-B14F-4D97-AF65-F5344CB8AC3E}">
        <p14:creationId xmlns:p14="http://schemas.microsoft.com/office/powerpoint/2010/main" val="970690326"/>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CE80020-4478-48D4-8C37-C439E0E1E02E}"/>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TRACKING DECISION</a:t>
            </a:r>
          </a:p>
        </p:txBody>
      </p:sp>
      <p:sp>
        <p:nvSpPr>
          <p:cNvPr id="2" name="">
            <a:extLst xmlns:a="http://schemas.openxmlformats.org/drawingml/2006/main">
              <a:ext uri="{FF2B5EF4-FFF2-40B4-BE49-F238E27FC236}">
                <a16:creationId xmlns:a16="http://schemas.microsoft.com/office/drawing/2014/main" id="{3CF48213-33FD-4C53-AEF9-47E1C1F50FC7}"/>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0A70660-4C60-4E90-A631-3BF848080D8C}"/>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FC094D-947D-4CD6-8447-E4763D7C2C5F}"/>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Stable identities made the head timer possible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853be13a9914675"/>
          <a:stretch xmlns:a="http://schemas.openxmlformats.org/drawingml/2006/main"/>
        </p:blipFill>
        <p:spPr>
          <a:xfrm xmlns:a="http://schemas.openxmlformats.org/drawingml/2006/main">
            <a:off x="552450" y="2515791"/>
            <a:ext cx="7239000" cy="2035969"/>
          </a:xfrm>
          <a:prstGeom xmlns:a="http://schemas.openxmlformats.org/drawingml/2006/main" prst="roundRect">
            <a:avLst>
              <a:gd name="adj" fmla="val 4571"/>
            </a:avLst>
          </a:prstGeom>
        </p:spPr>
      </p:pic>
      <p:sp>
        <p:nvSpPr>
          <p:cNvPr id="6" name="">
            <a:extLst xmlns:a="http://schemas.openxmlformats.org/drawingml/2006/main">
              <a:ext uri="{FF2B5EF4-FFF2-40B4-BE49-F238E27FC236}">
                <a16:creationId xmlns:a16="http://schemas.microsoft.com/office/drawing/2014/main" id="{EF2C0578-A6C7-4541-8A2E-FCDD63D850C8}"/>
              </a:ext>
            </a:extLst>
          </p:cNvPr>
          <p:cNvSpPr>
            <a:spLocks xmlns:a="http://schemas.openxmlformats.org/drawingml/2006/main" noGrp="1"/>
          </p:cNvSpPr>
          <p:nvPr/>
        </p:nvSpPr>
        <p:spPr>
          <a:xfrm xmlns:a="http://schemas.openxmlformats.org/drawingml/2006/main">
            <a:off x="8172450" y="1943100"/>
            <a:ext cx="1257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4950" b="1">
                <a:solidFill>
                  <a:srgbClr val="C43D4D"/>
                </a:solidFill>
                <a:latin typeface="Arial"/>
                <a:ea typeface="Arial"/>
                <a:cs typeface="Arial"/>
              </a:defRPr>
            </a:pPr>
            <a:r>
              <a:rPr sz="4950" b="1">
                <a:solidFill>
                  <a:srgbClr val="C43D4D"/>
                </a:solidFill>
                <a:latin typeface="Arial"/>
                <a:ea typeface="Arial"/>
                <a:cs typeface="Arial"/>
              </a:rPr>
              <a:t>18</a:t>
            </a:r>
          </a:p>
        </p:txBody>
      </p:sp>
      <p:sp>
        <p:nvSpPr>
          <p:cNvPr id="7" name="">
            <a:extLst xmlns:a="http://schemas.openxmlformats.org/drawingml/2006/main">
              <a:ext uri="{FF2B5EF4-FFF2-40B4-BE49-F238E27FC236}">
                <a16:creationId xmlns:a16="http://schemas.microsoft.com/office/drawing/2014/main" id="{63040CB5-547E-4A6F-8577-366C8B2D2A07}"/>
              </a:ext>
            </a:extLst>
          </p:cNvPr>
          <p:cNvSpPr>
            <a:spLocks xmlns:a="http://schemas.openxmlformats.org/drawingml/2006/main" noGrp="1"/>
          </p:cNvSpPr>
          <p:nvPr/>
        </p:nvSpPr>
        <p:spPr>
          <a:xfrm xmlns:a="http://schemas.openxmlformats.org/drawingml/2006/main">
            <a:off x="9391650" y="2133600"/>
            <a:ext cx="2247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IDs for four people</a:t>
            </a:r>
          </a:p>
        </p:txBody>
      </p:sp>
      <p:sp>
        <p:nvSpPr>
          <p:cNvPr id="8" name="">
            <a:extLst xmlns:a="http://schemas.openxmlformats.org/drawingml/2006/main">
              <a:ext uri="{FF2B5EF4-FFF2-40B4-BE49-F238E27FC236}">
                <a16:creationId xmlns:a16="http://schemas.microsoft.com/office/drawing/2014/main" id="{69C5BB8D-6157-4DA4-AD3A-7714BF2BF28B}"/>
              </a:ext>
            </a:extLst>
          </p:cNvPr>
          <p:cNvSpPr>
            <a:spLocks xmlns:a="http://schemas.openxmlformats.org/drawingml/2006/main" noGrp="1"/>
          </p:cNvSpPr>
          <p:nvPr/>
        </p:nvSpPr>
        <p:spPr>
          <a:xfrm xmlns:a="http://schemas.openxmlformats.org/drawingml/2006/main">
            <a:off x="8248650" y="2924175"/>
            <a:ext cx="3257550" cy="0"/>
          </a:xfrm>
          <a:prstGeom xmlns:a="http://schemas.openxmlformats.org/drawingml/2006/main" prst="line">
            <a:avLst/>
          </a:prstGeom>
          <a:noFill xmlns:a="http://schemas.openxmlformats.org/drawingml/2006/main"/>
          <a:ln xmlns:a="http://schemas.openxmlformats.org/drawingml/2006/main" w="19050">
            <a:solidFill>
              <a:srgbClr val="D7E1E7"/>
            </a:solidFill>
          </a:ln>
        </p:spPr>
      </p:sp>
      <p:sp>
        <p:nvSpPr>
          <p:cNvPr id="9" name="">
            <a:extLst xmlns:a="http://schemas.openxmlformats.org/drawingml/2006/main">
              <a:ext uri="{FF2B5EF4-FFF2-40B4-BE49-F238E27FC236}">
                <a16:creationId xmlns:a16="http://schemas.microsoft.com/office/drawing/2014/main" id="{4869652B-6BCA-4E34-80E6-A8A8CE35AEEB}"/>
              </a:ext>
            </a:extLst>
          </p:cNvPr>
          <p:cNvSpPr>
            <a:spLocks xmlns:a="http://schemas.openxmlformats.org/drawingml/2006/main" noGrp="1"/>
          </p:cNvSpPr>
          <p:nvPr/>
        </p:nvSpPr>
        <p:spPr>
          <a:xfrm xmlns:a="http://schemas.openxmlformats.org/drawingml/2006/main">
            <a:off x="8172450" y="3162300"/>
            <a:ext cx="1257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4950" b="1">
                <a:solidFill>
                  <a:srgbClr val="087F72"/>
                </a:solidFill>
                <a:latin typeface="Arial"/>
                <a:ea typeface="Arial"/>
                <a:cs typeface="Arial"/>
              </a:defRPr>
            </a:pPr>
            <a:r>
              <a:rPr sz="4950" b="1">
                <a:solidFill>
                  <a:srgbClr val="087F72"/>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0D0B82C7-7920-486A-BB84-B32C4ADB1F63}"/>
              </a:ext>
            </a:extLst>
          </p:cNvPr>
          <p:cNvSpPr>
            <a:spLocks xmlns:a="http://schemas.openxmlformats.org/drawingml/2006/main" noGrp="1"/>
          </p:cNvSpPr>
          <p:nvPr/>
        </p:nvSpPr>
        <p:spPr>
          <a:xfrm xmlns:a="http://schemas.openxmlformats.org/drawingml/2006/main">
            <a:off x="9391650" y="3257550"/>
            <a:ext cx="2247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IDs after cleanup and stitching</a:t>
            </a:r>
          </a:p>
        </p:txBody>
      </p:sp>
      <p:sp>
        <p:nvSpPr>
          <p:cNvPr id="11" name="">
            <a:extLst xmlns:a="http://schemas.openxmlformats.org/drawingml/2006/main">
              <a:ext uri="{FF2B5EF4-FFF2-40B4-BE49-F238E27FC236}">
                <a16:creationId xmlns:a16="http://schemas.microsoft.com/office/drawing/2014/main" id="{9E36E2F6-8404-4232-8896-D81A3FD9C09A}"/>
              </a:ext>
            </a:extLst>
          </p:cNvPr>
          <p:cNvSpPr>
            <a:spLocks xmlns:a="http://schemas.openxmlformats.org/drawingml/2006/main" noGrp="1"/>
          </p:cNvSpPr>
          <p:nvPr/>
        </p:nvSpPr>
        <p:spPr>
          <a:xfrm xmlns:a="http://schemas.openxmlformats.org/drawingml/2006/main">
            <a:off x="8172450" y="4191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2B6FAE"/>
                </a:solidFill>
                <a:latin typeface="Arial"/>
                <a:ea typeface="Arial"/>
                <a:cs typeface="Arial"/>
              </a:defRPr>
            </a:pPr>
            <a:r>
              <a:rPr sz="1800" b="1">
                <a:solidFill>
                  <a:srgbClr val="2B6FAE"/>
                </a:solidFill>
                <a:latin typeface="Arial"/>
                <a:ea typeface="Arial"/>
                <a:cs typeface="Arial"/>
              </a:rPr>
              <a:t>0 switches</a:t>
            </a:r>
          </a:p>
        </p:txBody>
      </p:sp>
      <p:sp>
        <p:nvSpPr>
          <p:cNvPr id="12" name="">
            <a:extLst xmlns:a="http://schemas.openxmlformats.org/drawingml/2006/main">
              <a:ext uri="{FF2B5EF4-FFF2-40B4-BE49-F238E27FC236}">
                <a16:creationId xmlns:a16="http://schemas.microsoft.com/office/drawing/2014/main" id="{3A73E57E-5BE3-4D0C-8AEC-ED3A19047C5A}"/>
              </a:ext>
            </a:extLst>
          </p:cNvPr>
          <p:cNvSpPr>
            <a:spLocks xmlns:a="http://schemas.openxmlformats.org/drawingml/2006/main" noGrp="1"/>
          </p:cNvSpPr>
          <p:nvPr/>
        </p:nvSpPr>
        <p:spPr>
          <a:xfrm xmlns:a="http://schemas.openxmlformats.org/drawingml/2006/main">
            <a:off x="8172450" y="45910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5E7182"/>
                </a:solidFill>
                <a:latin typeface="Arial"/>
                <a:ea typeface="Arial"/>
                <a:cs typeface="Arial"/>
              </a:defRPr>
            </a:pPr>
            <a:r>
              <a:rPr sz="1275" b="0">
                <a:solidFill>
                  <a:srgbClr val="5E7182"/>
                </a:solidFill>
                <a:latin typeface="Arial"/>
                <a:ea typeface="Arial"/>
                <a:cs typeface="Arial"/>
              </a:rPr>
              <a:t>across all five MuJoCo scenarios</a:t>
            </a:r>
          </a:p>
        </p:txBody>
      </p:sp>
      <p:sp>
        <p:nvSpPr>
          <p:cNvPr id="13" name="">
            <a:extLst xmlns:a="http://schemas.openxmlformats.org/drawingml/2006/main">
              <a:ext uri="{FF2B5EF4-FFF2-40B4-BE49-F238E27FC236}">
                <a16:creationId xmlns:a16="http://schemas.microsoft.com/office/drawing/2014/main" id="{148F46C2-E497-49B0-B242-9E1B174F48EB}"/>
              </a:ext>
            </a:extLst>
          </p:cNvPr>
          <p:cNvSpPr>
            <a:spLocks xmlns:a="http://schemas.openxmlformats.org/drawingml/2006/main" noGrp="1"/>
          </p:cNvSpPr>
          <p:nvPr/>
        </p:nvSpPr>
        <p:spPr>
          <a:xfrm xmlns:a="http://schemas.openxmlformats.org/drawingml/2006/main">
            <a:off x="552450" y="5514975"/>
            <a:ext cx="11087100" cy="609600"/>
          </a:xfrm>
          <a:prstGeom xmlns:a="http://schemas.openxmlformats.org/drawingml/2006/main" prst="roundRect">
            <a:avLst>
              <a:gd name="adj" fmla="val 21875"/>
            </a:avLst>
          </a:prstGeom>
          <a:solidFill xmlns:a="http://schemas.openxmlformats.org/drawingml/2006/main">
            <a:srgbClr val="EEF4FA"/>
          </a:solidFill>
          <a:ln xmlns:a="http://schemas.openxmlformats.org/drawingml/2006/main" w="9525">
            <a:solidFill>
              <a:srgbClr val="2B6FAE"/>
            </a:solidFill>
          </a:ln>
        </p:spPr>
      </p:sp>
      <p:sp>
        <p:nvSpPr>
          <p:cNvPr id="14" name="">
            <a:extLst xmlns:a="http://schemas.openxmlformats.org/drawingml/2006/main">
              <a:ext uri="{FF2B5EF4-FFF2-40B4-BE49-F238E27FC236}">
                <a16:creationId xmlns:a16="http://schemas.microsoft.com/office/drawing/2014/main" id="{9589BA8E-5BC0-429D-81C5-65818649D056}"/>
              </a:ext>
            </a:extLst>
          </p:cNvPr>
          <p:cNvSpPr>
            <a:spLocks xmlns:a="http://schemas.openxmlformats.org/drawingml/2006/main" noGrp="1"/>
          </p:cNvSpPr>
          <p:nvPr/>
        </p:nvSpPr>
        <p:spPr>
          <a:xfrm xmlns:a="http://schemas.openxmlformats.org/drawingml/2006/main">
            <a:off x="781050" y="5638800"/>
            <a:ext cx="10629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87"/>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Clear water kept submerged bodies visible. The team changed the alarm from “person missing” to “head not above water.”</a:t>
            </a:r>
          </a:p>
        </p:txBody>
      </p:sp>
      <p:sp>
        <p:nvSpPr>
          <p:cNvPr id="15" name="">
            <a:extLst xmlns:a="http://schemas.openxmlformats.org/drawingml/2006/main">
              <a:ext uri="{FF2B5EF4-FFF2-40B4-BE49-F238E27FC236}">
                <a16:creationId xmlns:a16="http://schemas.microsoft.com/office/drawing/2014/main" id="{E77B708B-205A-4EE8-8EE9-771EF902122F}"/>
              </a:ext>
            </a:extLst>
          </p:cNvPr>
          <p:cNvSpPr>
            <a:spLocks xmlns:a="http://schemas.openxmlformats.org/drawingml/2006/main" noGrp="1"/>
          </p:cNvSpPr>
          <p:nvPr/>
        </p:nvSpPr>
        <p:spPr>
          <a:xfrm xmlns:a="http://schemas.openxmlformats.org/drawingml/2006/main">
            <a:off x="552450" y="6505575"/>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259"/>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HELD-OUT MUJOCO RESURFACE SCENARIO · SYNTHETIC ONLY</a:t>
            </a:r>
          </a:p>
        </p:txBody>
      </p:sp>
    </p:spTree>
    <p:extLst>
      <p:ext uri="{BB962C8B-B14F-4D97-AF65-F5344CB8AC3E}">
        <p14:creationId xmlns:p14="http://schemas.microsoft.com/office/powerpoint/2010/main" val="972632028"/>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F4E6D55-CE9B-4BC2-8E67-FC23E31522C1}"/>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PRODUCT EXPERIENCE</a:t>
            </a:r>
          </a:p>
        </p:txBody>
      </p:sp>
      <p:sp>
        <p:nvSpPr>
          <p:cNvPr id="2" name="">
            <a:extLst xmlns:a="http://schemas.openxmlformats.org/drawingml/2006/main">
              <a:ext uri="{FF2B5EF4-FFF2-40B4-BE49-F238E27FC236}">
                <a16:creationId xmlns:a16="http://schemas.microsoft.com/office/drawing/2014/main" id="{0273CF54-5CD2-40DE-8244-925D35C8E0DB}"/>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84C975C0-C287-4CA5-86F4-7808E881DE13}"/>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AD0AE1-0322-4C03-B203-1F87F9A80979}"/>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The demo explains the state change, not just the box</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319a66274f744be"/>
          <a:srcRect xmlns:a="http://schemas.openxmlformats.org/drawingml/2006/main" l="0" t="942" r="0" b="942"/>
          <a:stretch xmlns:a="http://schemas.openxmlformats.org/drawingml/2006/main">
            <a:fillRect l="0" t="0" r="0" b="0"/>
          </a:stretch>
        </p:blipFill>
        <p:spPr>
          <a:xfrm xmlns:a="http://schemas.openxmlformats.org/drawingml/2006/main">
            <a:off x="552450" y="1847850"/>
            <a:ext cx="7524750" cy="4152900"/>
          </a:xfrm>
          <a:prstGeom xmlns:a="http://schemas.openxmlformats.org/drawingml/2006/main" prst="roundRect">
            <a:avLst>
              <a:gd name="adj" fmla="val 4128"/>
            </a:avLst>
          </a:prstGeom>
        </p:spPr>
      </p:pic>
      <p:sp>
        <p:nvSpPr>
          <p:cNvPr id="6" name="">
            <a:extLst xmlns:a="http://schemas.openxmlformats.org/drawingml/2006/main">
              <a:ext uri="{FF2B5EF4-FFF2-40B4-BE49-F238E27FC236}">
                <a16:creationId xmlns:a16="http://schemas.microsoft.com/office/drawing/2014/main" id="{72327000-1E19-444C-BFA4-F9E616CC971B}"/>
              </a:ext>
            </a:extLst>
          </p:cNvPr>
          <p:cNvSpPr>
            <a:spLocks xmlns:a="http://schemas.openxmlformats.org/drawingml/2006/main" noGrp="1"/>
          </p:cNvSpPr>
          <p:nvPr/>
        </p:nvSpPr>
        <p:spPr>
          <a:xfrm xmlns:a="http://schemas.openxmlformats.org/drawingml/2006/main">
            <a:off x="8382000" y="1847850"/>
            <a:ext cx="3257550" cy="4152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7E1E7"/>
            </a:solidFill>
          </a:ln>
        </p:spPr>
      </p:sp>
      <p:sp>
        <p:nvSpPr>
          <p:cNvPr id="7" name="">
            <a:extLst xmlns:a="http://schemas.openxmlformats.org/drawingml/2006/main">
              <a:ext uri="{FF2B5EF4-FFF2-40B4-BE49-F238E27FC236}">
                <a16:creationId xmlns:a16="http://schemas.microsoft.com/office/drawing/2014/main" id="{6350558D-93F7-4C28-A741-BDC82630B11E}"/>
              </a:ext>
            </a:extLst>
          </p:cNvPr>
          <p:cNvSpPr>
            <a:spLocks xmlns:a="http://schemas.openxmlformats.org/drawingml/2006/main" noGrp="1"/>
          </p:cNvSpPr>
          <p:nvPr/>
        </p:nvSpPr>
        <p:spPr>
          <a:xfrm xmlns:a="http://schemas.openxmlformats.org/drawingml/2006/main">
            <a:off x="8629650" y="205740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FRONTEND</a:t>
            </a:r>
          </a:p>
        </p:txBody>
      </p:sp>
      <p:sp>
        <p:nvSpPr>
          <p:cNvPr id="8" name="">
            <a:extLst xmlns:a="http://schemas.openxmlformats.org/drawingml/2006/main">
              <a:ext uri="{FF2B5EF4-FFF2-40B4-BE49-F238E27FC236}">
                <a16:creationId xmlns:a16="http://schemas.microsoft.com/office/drawing/2014/main" id="{60F48AFD-EF84-468F-BBBC-8A9D1E54123B}"/>
              </a:ext>
            </a:extLst>
          </p:cNvPr>
          <p:cNvSpPr>
            <a:spLocks xmlns:a="http://schemas.openxmlformats.org/drawingml/2006/main" noGrp="1"/>
          </p:cNvSpPr>
          <p:nvPr/>
        </p:nvSpPr>
        <p:spPr>
          <a:xfrm xmlns:a="http://schemas.openxmlformats.org/drawingml/2006/main">
            <a:off x="8629650" y="2552700"/>
            <a:ext cx="114300" cy="438150"/>
          </a:xfrm>
          <a:prstGeom xmlns:a="http://schemas.openxmlformats.org/drawingml/2006/main" prst="roundRect">
            <a:avLst>
              <a:gd name="adj" fmla="val 50000"/>
            </a:avLst>
          </a:prstGeom>
          <a:solidFill xmlns:a="http://schemas.openxmlformats.org/drawingml/2006/main">
            <a:srgbClr val="087F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6F249A4-8D7E-4931-9754-F30074D052C8}"/>
              </a:ext>
            </a:extLst>
          </p:cNvPr>
          <p:cNvSpPr>
            <a:spLocks xmlns:a="http://schemas.openxmlformats.org/drawingml/2006/main" noGrp="1"/>
          </p:cNvSpPr>
          <p:nvPr/>
        </p:nvSpPr>
        <p:spPr>
          <a:xfrm xmlns:a="http://schemas.openxmlformats.org/drawingml/2006/main">
            <a:off x="8896350" y="2505075"/>
            <a:ext cx="1066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GREEN</a:t>
            </a:r>
          </a:p>
        </p:txBody>
      </p:sp>
      <p:sp>
        <p:nvSpPr>
          <p:cNvPr id="10" name="">
            <a:extLst xmlns:a="http://schemas.openxmlformats.org/drawingml/2006/main">
              <a:ext uri="{FF2B5EF4-FFF2-40B4-BE49-F238E27FC236}">
                <a16:creationId xmlns:a16="http://schemas.microsoft.com/office/drawing/2014/main" id="{F903D66B-E22E-472B-88F8-C6A96F0544C8}"/>
              </a:ext>
            </a:extLst>
          </p:cNvPr>
          <p:cNvSpPr>
            <a:spLocks xmlns:a="http://schemas.openxmlformats.org/drawingml/2006/main" noGrp="1"/>
          </p:cNvSpPr>
          <p:nvPr/>
        </p:nvSpPr>
        <p:spPr>
          <a:xfrm xmlns:a="http://schemas.openxmlformats.org/drawingml/2006/main">
            <a:off x="8896350" y="276225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tracked normally</a:t>
            </a:r>
          </a:p>
        </p:txBody>
      </p:sp>
      <p:sp>
        <p:nvSpPr>
          <p:cNvPr id="11" name="">
            <a:extLst xmlns:a="http://schemas.openxmlformats.org/drawingml/2006/main">
              <a:ext uri="{FF2B5EF4-FFF2-40B4-BE49-F238E27FC236}">
                <a16:creationId xmlns:a16="http://schemas.microsoft.com/office/drawing/2014/main" id="{FFF4089A-2D09-4BDD-BE46-871442B5D3AC}"/>
              </a:ext>
            </a:extLst>
          </p:cNvPr>
          <p:cNvSpPr>
            <a:spLocks xmlns:a="http://schemas.openxmlformats.org/drawingml/2006/main" noGrp="1"/>
          </p:cNvSpPr>
          <p:nvPr/>
        </p:nvSpPr>
        <p:spPr>
          <a:xfrm xmlns:a="http://schemas.openxmlformats.org/drawingml/2006/main">
            <a:off x="8629650" y="3276600"/>
            <a:ext cx="114300" cy="438150"/>
          </a:xfrm>
          <a:prstGeom xmlns:a="http://schemas.openxmlformats.org/drawingml/2006/main" prst="roundRect">
            <a:avLst>
              <a:gd name="adj" fmla="val 50000"/>
            </a:avLst>
          </a:prstGeom>
          <a:solidFill xmlns:a="http://schemas.openxmlformats.org/drawingml/2006/main">
            <a:srgbClr val="A86E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BBDC58-FEBA-489F-B6DE-E52ED8D73C9C}"/>
              </a:ext>
            </a:extLst>
          </p:cNvPr>
          <p:cNvSpPr>
            <a:spLocks xmlns:a="http://schemas.openxmlformats.org/drawingml/2006/main" noGrp="1"/>
          </p:cNvSpPr>
          <p:nvPr/>
        </p:nvSpPr>
        <p:spPr>
          <a:xfrm xmlns:a="http://schemas.openxmlformats.org/drawingml/2006/main">
            <a:off x="8896350" y="3228975"/>
            <a:ext cx="1066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defRPr sz="1200" b="1">
                <a:solidFill>
                  <a:srgbClr val="A86E00"/>
                </a:solidFill>
                <a:latin typeface="Arial"/>
                <a:ea typeface="Arial"/>
                <a:cs typeface="Arial"/>
              </a:defRPr>
            </a:pPr>
            <a:r>
              <a:rPr sz="1200" b="1">
                <a:solidFill>
                  <a:srgbClr val="A86E00"/>
                </a:solidFill>
                <a:latin typeface="Arial"/>
                <a:ea typeface="Arial"/>
                <a:cs typeface="Arial"/>
              </a:rPr>
              <a:t>YELLOW</a:t>
            </a:r>
          </a:p>
        </p:txBody>
      </p:sp>
      <p:sp>
        <p:nvSpPr>
          <p:cNvPr id="13" name="">
            <a:extLst xmlns:a="http://schemas.openxmlformats.org/drawingml/2006/main">
              <a:ext uri="{FF2B5EF4-FFF2-40B4-BE49-F238E27FC236}">
                <a16:creationId xmlns:a16="http://schemas.microsoft.com/office/drawing/2014/main" id="{EC8E7893-809E-41AF-83AE-18D37861F3EA}"/>
              </a:ext>
            </a:extLst>
          </p:cNvPr>
          <p:cNvSpPr>
            <a:spLocks xmlns:a="http://schemas.openxmlformats.org/drawingml/2006/main" noGrp="1"/>
          </p:cNvSpPr>
          <p:nvPr/>
        </p:nvSpPr>
        <p:spPr>
          <a:xfrm xmlns:a="http://schemas.openxmlformats.org/drawingml/2006/main">
            <a:off x="8896350" y="348615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head timer running</a:t>
            </a:r>
          </a:p>
        </p:txBody>
      </p:sp>
      <p:sp>
        <p:nvSpPr>
          <p:cNvPr id="14" name="">
            <a:extLst xmlns:a="http://schemas.openxmlformats.org/drawingml/2006/main">
              <a:ext uri="{FF2B5EF4-FFF2-40B4-BE49-F238E27FC236}">
                <a16:creationId xmlns:a16="http://schemas.microsoft.com/office/drawing/2014/main" id="{79688913-23CF-4F43-9662-6D8D32B222EC}"/>
              </a:ext>
            </a:extLst>
          </p:cNvPr>
          <p:cNvSpPr>
            <a:spLocks xmlns:a="http://schemas.openxmlformats.org/drawingml/2006/main" noGrp="1"/>
          </p:cNvSpPr>
          <p:nvPr/>
        </p:nvSpPr>
        <p:spPr>
          <a:xfrm xmlns:a="http://schemas.openxmlformats.org/drawingml/2006/main">
            <a:off x="8629650" y="4000500"/>
            <a:ext cx="114300" cy="438150"/>
          </a:xfrm>
          <a:prstGeom xmlns:a="http://schemas.openxmlformats.org/drawingml/2006/main" prst="roundRect">
            <a:avLst>
              <a:gd name="adj" fmla="val 50000"/>
            </a:avLst>
          </a:prstGeom>
          <a:solidFill xmlns:a="http://schemas.openxmlformats.org/drawingml/2006/main">
            <a:srgbClr val="C43D4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5CC176-3A74-47D8-A6D7-073B68A278DD}"/>
              </a:ext>
            </a:extLst>
          </p:cNvPr>
          <p:cNvSpPr>
            <a:spLocks xmlns:a="http://schemas.openxmlformats.org/drawingml/2006/main" noGrp="1"/>
          </p:cNvSpPr>
          <p:nvPr/>
        </p:nvSpPr>
        <p:spPr>
          <a:xfrm xmlns:a="http://schemas.openxmlformats.org/drawingml/2006/main">
            <a:off x="8896350" y="3952875"/>
            <a:ext cx="1066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defRPr sz="1200" b="1">
                <a:solidFill>
                  <a:srgbClr val="C43D4D"/>
                </a:solidFill>
                <a:latin typeface="Arial"/>
                <a:ea typeface="Arial"/>
                <a:cs typeface="Arial"/>
              </a:defRPr>
            </a:pPr>
            <a:r>
              <a:rPr sz="1200" b="1">
                <a:solidFill>
                  <a:srgbClr val="C43D4D"/>
                </a:solidFill>
                <a:latin typeface="Arial"/>
                <a:ea typeface="Arial"/>
                <a:cs typeface="Arial"/>
              </a:rPr>
              <a:t>RED</a:t>
            </a:r>
          </a:p>
        </p:txBody>
      </p:sp>
      <p:sp>
        <p:nvSpPr>
          <p:cNvPr id="16" name="">
            <a:extLst xmlns:a="http://schemas.openxmlformats.org/drawingml/2006/main">
              <a:ext uri="{FF2B5EF4-FFF2-40B4-BE49-F238E27FC236}">
                <a16:creationId xmlns:a16="http://schemas.microsoft.com/office/drawing/2014/main" id="{CD933424-7344-4A52-BFBB-D6705C0FB2D7}"/>
              </a:ext>
            </a:extLst>
          </p:cNvPr>
          <p:cNvSpPr>
            <a:spLocks xmlns:a="http://schemas.openxmlformats.org/drawingml/2006/main" noGrp="1"/>
          </p:cNvSpPr>
          <p:nvPr/>
        </p:nvSpPr>
        <p:spPr>
          <a:xfrm xmlns:a="http://schemas.openxmlformats.org/drawingml/2006/main">
            <a:off x="8896350" y="421005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check the pool</a:t>
            </a:r>
          </a:p>
        </p:txBody>
      </p:sp>
      <p:sp>
        <p:nvSpPr>
          <p:cNvPr id="17" name="">
            <a:extLst xmlns:a="http://schemas.openxmlformats.org/drawingml/2006/main">
              <a:ext uri="{FF2B5EF4-FFF2-40B4-BE49-F238E27FC236}">
                <a16:creationId xmlns:a16="http://schemas.microsoft.com/office/drawing/2014/main" id="{47E05DEE-262A-4030-B807-15A569B06B9A}"/>
              </a:ext>
            </a:extLst>
          </p:cNvPr>
          <p:cNvSpPr>
            <a:spLocks xmlns:a="http://schemas.openxmlformats.org/drawingml/2006/main" noGrp="1"/>
          </p:cNvSpPr>
          <p:nvPr/>
        </p:nvSpPr>
        <p:spPr>
          <a:xfrm xmlns:a="http://schemas.openxmlformats.org/drawingml/2006/main">
            <a:off x="8629650" y="4781550"/>
            <a:ext cx="2762250" cy="0"/>
          </a:xfrm>
          <a:prstGeom xmlns:a="http://schemas.openxmlformats.org/drawingml/2006/main" prst="line">
            <a:avLst/>
          </a:prstGeom>
          <a:noFill xmlns:a="http://schemas.openxmlformats.org/drawingml/2006/main"/>
          <a:ln xmlns:a="http://schemas.openxmlformats.org/drawingml/2006/main" w="9525">
            <a:solidFill>
              <a:srgbClr val="D7E1E7"/>
            </a:solidFill>
          </a:ln>
        </p:spPr>
      </p:sp>
      <p:sp>
        <p:nvSpPr>
          <p:cNvPr id="18" name="">
            <a:extLst xmlns:a="http://schemas.openxmlformats.org/drawingml/2006/main">
              <a:ext uri="{FF2B5EF4-FFF2-40B4-BE49-F238E27FC236}">
                <a16:creationId xmlns:a16="http://schemas.microsoft.com/office/drawing/2014/main" id="{432D452D-D704-445E-BD04-02B01B995F0F}"/>
              </a:ext>
            </a:extLst>
          </p:cNvPr>
          <p:cNvSpPr>
            <a:spLocks xmlns:a="http://schemas.openxmlformats.org/drawingml/2006/main" noGrp="1"/>
          </p:cNvSpPr>
          <p:nvPr/>
        </p:nvSpPr>
        <p:spPr>
          <a:xfrm xmlns:a="http://schemas.openxmlformats.org/drawingml/2006/main">
            <a:off x="8629650" y="49530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B6FAE"/>
                </a:solidFill>
                <a:latin typeface="Arial"/>
                <a:ea typeface="Arial"/>
                <a:cs typeface="Arial"/>
              </a:defRPr>
            </a:pPr>
            <a:r>
              <a:rPr sz="825" b="1">
                <a:solidFill>
                  <a:srgbClr val="2B6FAE"/>
                </a:solidFill>
                <a:latin typeface="Arial"/>
                <a:ea typeface="Arial"/>
                <a:cs typeface="Arial"/>
              </a:rPr>
              <a:t>USER CONTROL</a:t>
            </a:r>
          </a:p>
        </p:txBody>
      </p:sp>
      <p:sp>
        <p:nvSpPr>
          <p:cNvPr id="19" name="">
            <a:extLst xmlns:a="http://schemas.openxmlformats.org/drawingml/2006/main">
              <a:ext uri="{FF2B5EF4-FFF2-40B4-BE49-F238E27FC236}">
                <a16:creationId xmlns:a16="http://schemas.microsoft.com/office/drawing/2014/main" id="{0789BA5B-2F07-444C-A3F8-A15790D310E5}"/>
              </a:ext>
            </a:extLst>
          </p:cNvPr>
          <p:cNvSpPr>
            <a:spLocks xmlns:a="http://schemas.openxmlformats.org/drawingml/2006/main" noGrp="1"/>
          </p:cNvSpPr>
          <p:nvPr/>
        </p:nvSpPr>
        <p:spPr>
          <a:xfrm xmlns:a="http://schemas.openxmlformats.org/drawingml/2006/main">
            <a:off x="8629650" y="520065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Alert preference</a:t>
            </a:r>
          </a:p>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Timer reason and incident replay</a:t>
            </a:r>
          </a:p>
        </p:txBody>
      </p:sp>
      <p:sp>
        <p:nvSpPr>
          <p:cNvPr id="20" name="">
            <a:extLst xmlns:a="http://schemas.openxmlformats.org/drawingml/2006/main">
              <a:ext uri="{FF2B5EF4-FFF2-40B4-BE49-F238E27FC236}">
                <a16:creationId xmlns:a16="http://schemas.microsoft.com/office/drawing/2014/main" id="{8F74ADD3-4F88-41A1-98BB-FCCEF1185172}"/>
              </a:ext>
            </a:extLst>
          </p:cNvPr>
          <p:cNvSpPr>
            <a:spLocks xmlns:a="http://schemas.openxmlformats.org/drawingml/2006/main" noGrp="1"/>
          </p:cNvSpPr>
          <p:nvPr/>
        </p:nvSpPr>
        <p:spPr>
          <a:xfrm xmlns:a="http://schemas.openxmlformats.org/drawingml/2006/main">
            <a:off x="8629650" y="5734050"/>
            <a:ext cx="276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C43D4D"/>
                </a:solidFill>
                <a:latin typeface="Arial"/>
                <a:ea typeface="Arial"/>
                <a:cs typeface="Arial"/>
              </a:defRPr>
            </a:pPr>
            <a:r>
              <a:rPr sz="750" b="1">
                <a:solidFill>
                  <a:srgbClr val="C43D4D"/>
                </a:solidFill>
                <a:latin typeface="Arial"/>
                <a:ea typeface="Arial"/>
                <a:cs typeface="Arial"/>
              </a:rPr>
              <a:t>DEMO MODE MUST BE DISCLOSED</a:t>
            </a:r>
          </a:p>
        </p:txBody>
      </p:sp>
      <p:sp>
        <p:nvSpPr>
          <p:cNvPr id="21" name="">
            <a:extLst xmlns:a="http://schemas.openxmlformats.org/drawingml/2006/main">
              <a:ext uri="{FF2B5EF4-FFF2-40B4-BE49-F238E27FC236}">
                <a16:creationId xmlns:a16="http://schemas.microsoft.com/office/drawing/2014/main" id="{9D75A339-6D72-4F01-BF5A-4FDC71E6D0A9}"/>
              </a:ext>
            </a:extLst>
          </p:cNvPr>
          <p:cNvSpPr>
            <a:spLocks xmlns:a="http://schemas.openxmlformats.org/drawingml/2006/main" noGrp="1"/>
          </p:cNvSpPr>
          <p:nvPr/>
        </p:nvSpPr>
        <p:spPr>
          <a:xfrm xmlns:a="http://schemas.openxmlformats.org/drawingml/2006/main">
            <a:off x="552450" y="6505575"/>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259"/>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ACTIVATE MONITORING · SHOW GREEN, YELLOW, RED · REPLAY THE EVENT</a:t>
            </a:r>
          </a:p>
        </p:txBody>
      </p:sp>
    </p:spTree>
    <p:extLst>
      <p:ext uri="{BB962C8B-B14F-4D97-AF65-F5344CB8AC3E}">
        <p14:creationId xmlns:p14="http://schemas.microsoft.com/office/powerpoint/2010/main" val="736431703"/>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96A8C6-4D1F-4BE1-BC1E-915213F69000}"/>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EVALUATION DISCIPLINE</a:t>
            </a:r>
          </a:p>
        </p:txBody>
      </p:sp>
      <p:sp>
        <p:nvSpPr>
          <p:cNvPr id="2" name="">
            <a:extLst xmlns:a="http://schemas.openxmlformats.org/drawingml/2006/main">
              <a:ext uri="{FF2B5EF4-FFF2-40B4-BE49-F238E27FC236}">
                <a16:creationId xmlns:a16="http://schemas.microsoft.com/office/drawing/2014/main" id="{B65F45AA-8538-492D-9ACA-6CE1C7F6B1B4}"/>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CD757C29-C9CE-494B-8AD0-E8876317A384}"/>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0D665C-6577-4062-BD5F-287367F6A6D1}"/>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Three mistakes changed the evaluation rules</a:t>
            </a:r>
          </a:p>
        </p:txBody>
      </p:sp>
      <p:sp>
        <p:nvSpPr>
          <p:cNvPr id="5" name="">
            <a:extLst xmlns:a="http://schemas.openxmlformats.org/drawingml/2006/main">
              <a:ext uri="{FF2B5EF4-FFF2-40B4-BE49-F238E27FC236}">
                <a16:creationId xmlns:a16="http://schemas.microsoft.com/office/drawing/2014/main" id="{A3654E27-C575-4AEB-8C44-C20449B62E6E}"/>
              </a:ext>
            </a:extLst>
          </p:cNvPr>
          <p:cNvSpPr>
            <a:spLocks xmlns:a="http://schemas.openxmlformats.org/drawingml/2006/main" noGrp="1"/>
          </p:cNvSpPr>
          <p:nvPr/>
        </p:nvSpPr>
        <p:spPr>
          <a:xfrm xmlns:a="http://schemas.openxmlformats.org/drawingml/2006/main">
            <a:off x="552450" y="1847850"/>
            <a:ext cx="628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C43D4D"/>
                </a:solidFill>
                <a:latin typeface="Arial"/>
                <a:ea typeface="Arial"/>
                <a:cs typeface="Arial"/>
              </a:defRPr>
            </a:pPr>
            <a:r>
              <a:rPr sz="1950" b="1">
                <a:solidFill>
                  <a:srgbClr val="C43D4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5D92949-C6FF-4EC4-8422-5AA3F572078E}"/>
              </a:ext>
            </a:extLst>
          </p:cNvPr>
          <p:cNvSpPr>
            <a:spLocks xmlns:a="http://schemas.openxmlformats.org/drawingml/2006/main" noGrp="1"/>
          </p:cNvSpPr>
          <p:nvPr/>
        </p:nvSpPr>
        <p:spPr>
          <a:xfrm xmlns:a="http://schemas.openxmlformats.org/drawingml/2006/main">
            <a:off x="1257300" y="18478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67"/>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Water was missing in one render batch</a:t>
            </a:r>
          </a:p>
        </p:txBody>
      </p:sp>
      <p:sp>
        <p:nvSpPr>
          <p:cNvPr id="7" name="">
            <a:extLst xmlns:a="http://schemas.openxmlformats.org/drawingml/2006/main">
              <a:ext uri="{FF2B5EF4-FFF2-40B4-BE49-F238E27FC236}">
                <a16:creationId xmlns:a16="http://schemas.microsoft.com/office/drawing/2014/main" id="{A720D008-832A-4644-9E91-62915571BDF3}"/>
              </a:ext>
            </a:extLst>
          </p:cNvPr>
          <p:cNvSpPr>
            <a:spLocks xmlns:a="http://schemas.openxmlformats.org/drawingml/2006/main" noGrp="1"/>
          </p:cNvSpPr>
          <p:nvPr/>
        </p:nvSpPr>
        <p:spPr>
          <a:xfrm xmlns:a="http://schemas.openxmlformats.org/drawingml/2006/main">
            <a:off x="4781550" y="1847850"/>
            <a:ext cx="2686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Scores looked unrealistically high</a:t>
            </a:r>
          </a:p>
        </p:txBody>
      </p:sp>
      <p:sp>
        <p:nvSpPr>
          <p:cNvPr id="8" name="">
            <a:extLst xmlns:a="http://schemas.openxmlformats.org/drawingml/2006/main">
              <a:ext uri="{FF2B5EF4-FFF2-40B4-BE49-F238E27FC236}">
                <a16:creationId xmlns:a16="http://schemas.microsoft.com/office/drawing/2014/main" id="{41E85CE0-B73F-4471-97BF-77C3073DB3C5}"/>
              </a:ext>
            </a:extLst>
          </p:cNvPr>
          <p:cNvSpPr>
            <a:spLocks xmlns:a="http://schemas.openxmlformats.org/drawingml/2006/main" noGrp="1"/>
          </p:cNvSpPr>
          <p:nvPr/>
        </p:nvSpPr>
        <p:spPr>
          <a:xfrm xmlns:a="http://schemas.openxmlformats.org/drawingml/2006/main">
            <a:off x="7734300" y="1828800"/>
            <a:ext cx="3905250" cy="647700"/>
          </a:xfrm>
          <a:prstGeom xmlns:a="http://schemas.openxmlformats.org/drawingml/2006/main" prst="roundRect">
            <a:avLst>
              <a:gd name="adj" fmla="val 20588"/>
            </a:avLst>
          </a:prstGeom>
          <a:solidFill xmlns:a="http://schemas.openxmlformats.org/drawingml/2006/main">
            <a:srgbClr val="EEF5F6"/>
          </a:solidFill>
          <a:ln xmlns:a="http://schemas.openxmlformats.org/drawingml/2006/main" w="9525">
            <a:solidFill>
              <a:srgbClr val="D7E1E7"/>
            </a:solidFill>
          </a:ln>
        </p:spPr>
      </p:sp>
      <p:sp>
        <p:nvSpPr>
          <p:cNvPr id="9" name="">
            <a:extLst xmlns:a="http://schemas.openxmlformats.org/drawingml/2006/main">
              <a:ext uri="{FF2B5EF4-FFF2-40B4-BE49-F238E27FC236}">
                <a16:creationId xmlns:a16="http://schemas.microsoft.com/office/drawing/2014/main" id="{1AD6A4D7-CD50-4F54-8AD8-C7DC71D56AD3}"/>
              </a:ext>
            </a:extLst>
          </p:cNvPr>
          <p:cNvSpPr>
            <a:spLocks xmlns:a="http://schemas.openxmlformats.org/drawingml/2006/main" noGrp="1"/>
          </p:cNvSpPr>
          <p:nvPr/>
        </p:nvSpPr>
        <p:spPr>
          <a:xfrm xmlns:a="http://schemas.openxmlformats.org/drawingml/2006/main">
            <a:off x="7943850" y="1924050"/>
            <a:ext cx="3486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087F72"/>
                </a:solidFill>
                <a:latin typeface="Arial"/>
                <a:ea typeface="Arial"/>
                <a:cs typeface="Arial"/>
              </a:defRPr>
            </a:pPr>
            <a:r>
              <a:rPr sz="1350" b="1">
                <a:solidFill>
                  <a:srgbClr val="087F72"/>
                </a:solidFill>
                <a:latin typeface="Arial"/>
                <a:ea typeface="Arial"/>
                <a:cs typeface="Arial"/>
              </a:rPr>
              <a:t>Render evidence before scoring</a:t>
            </a:r>
          </a:p>
        </p:txBody>
      </p:sp>
      <p:sp>
        <p:nvSpPr>
          <p:cNvPr id="10" name="">
            <a:extLst xmlns:a="http://schemas.openxmlformats.org/drawingml/2006/main">
              <a:ext uri="{FF2B5EF4-FFF2-40B4-BE49-F238E27FC236}">
                <a16:creationId xmlns:a16="http://schemas.microsoft.com/office/drawing/2014/main" id="{8C932759-A711-443D-8DD6-D6225DF35F07}"/>
              </a:ext>
            </a:extLst>
          </p:cNvPr>
          <p:cNvSpPr>
            <a:spLocks xmlns:a="http://schemas.openxmlformats.org/drawingml/2006/main" noGrp="1"/>
          </p:cNvSpPr>
          <p:nvPr/>
        </p:nvSpPr>
        <p:spPr>
          <a:xfrm xmlns:a="http://schemas.openxmlformats.org/drawingml/2006/main">
            <a:off x="552450" y="2647950"/>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F8AB6E2-AA52-42C6-BD38-9B45469BC96F}"/>
              </a:ext>
            </a:extLst>
          </p:cNvPr>
          <p:cNvSpPr>
            <a:spLocks xmlns:a="http://schemas.openxmlformats.org/drawingml/2006/main" noGrp="1"/>
          </p:cNvSpPr>
          <p:nvPr/>
        </p:nvSpPr>
        <p:spPr>
          <a:xfrm xmlns:a="http://schemas.openxmlformats.org/drawingml/2006/main">
            <a:off x="552450" y="3028950"/>
            <a:ext cx="628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C43D4D"/>
                </a:solidFill>
                <a:latin typeface="Arial"/>
                <a:ea typeface="Arial"/>
                <a:cs typeface="Arial"/>
              </a:defRPr>
            </a:pPr>
            <a:r>
              <a:rPr sz="1950" b="1">
                <a:solidFill>
                  <a:srgbClr val="C43D4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0E2D6E6C-F3A5-4775-9CB8-4AE9D2F60791}"/>
              </a:ext>
            </a:extLst>
          </p:cNvPr>
          <p:cNvSpPr>
            <a:spLocks xmlns:a="http://schemas.openxmlformats.org/drawingml/2006/main" noGrp="1"/>
          </p:cNvSpPr>
          <p:nvPr/>
        </p:nvSpPr>
        <p:spPr>
          <a:xfrm xmlns:a="http://schemas.openxmlformats.org/drawingml/2006/main">
            <a:off x="1257300" y="30289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67"/>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A test script swapped color channels</a:t>
            </a:r>
          </a:p>
        </p:txBody>
      </p:sp>
      <p:sp>
        <p:nvSpPr>
          <p:cNvPr id="13" name="">
            <a:extLst xmlns:a="http://schemas.openxmlformats.org/drawingml/2006/main">
              <a:ext uri="{FF2B5EF4-FFF2-40B4-BE49-F238E27FC236}">
                <a16:creationId xmlns:a16="http://schemas.microsoft.com/office/drawing/2014/main" id="{ACB18634-4D75-437F-A9F5-AD4C22CB3A17}"/>
              </a:ext>
            </a:extLst>
          </p:cNvPr>
          <p:cNvSpPr>
            <a:spLocks xmlns:a="http://schemas.openxmlformats.org/drawingml/2006/main" noGrp="1"/>
          </p:cNvSpPr>
          <p:nvPr/>
        </p:nvSpPr>
        <p:spPr>
          <a:xfrm xmlns:a="http://schemas.openxmlformats.org/drawingml/2006/main">
            <a:off x="4781550" y="3028950"/>
            <a:ext cx="2686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Two scripts disagreed</a:t>
            </a:r>
          </a:p>
        </p:txBody>
      </p:sp>
      <p:sp>
        <p:nvSpPr>
          <p:cNvPr id="14" name="">
            <a:extLst xmlns:a="http://schemas.openxmlformats.org/drawingml/2006/main">
              <a:ext uri="{FF2B5EF4-FFF2-40B4-BE49-F238E27FC236}">
                <a16:creationId xmlns:a16="http://schemas.microsoft.com/office/drawing/2014/main" id="{BCFE9556-1267-4B35-9663-B7FDFC0F39A8}"/>
              </a:ext>
            </a:extLst>
          </p:cNvPr>
          <p:cNvSpPr>
            <a:spLocks xmlns:a="http://schemas.openxmlformats.org/drawingml/2006/main" noGrp="1"/>
          </p:cNvSpPr>
          <p:nvPr/>
        </p:nvSpPr>
        <p:spPr>
          <a:xfrm xmlns:a="http://schemas.openxmlformats.org/drawingml/2006/main">
            <a:off x="7734300" y="3009900"/>
            <a:ext cx="3905250" cy="647700"/>
          </a:xfrm>
          <a:prstGeom xmlns:a="http://schemas.openxmlformats.org/drawingml/2006/main" prst="roundRect">
            <a:avLst>
              <a:gd name="adj" fmla="val 20588"/>
            </a:avLst>
          </a:prstGeom>
          <a:solidFill xmlns:a="http://schemas.openxmlformats.org/drawingml/2006/main">
            <a:srgbClr val="EEF5F6"/>
          </a:solidFill>
          <a:ln xmlns:a="http://schemas.openxmlformats.org/drawingml/2006/main" w="9525">
            <a:solidFill>
              <a:srgbClr val="D7E1E7"/>
            </a:solidFill>
          </a:ln>
        </p:spPr>
      </p:sp>
      <p:sp>
        <p:nvSpPr>
          <p:cNvPr id="15" name="">
            <a:extLst xmlns:a="http://schemas.openxmlformats.org/drawingml/2006/main">
              <a:ext uri="{FF2B5EF4-FFF2-40B4-BE49-F238E27FC236}">
                <a16:creationId xmlns:a16="http://schemas.microsoft.com/office/drawing/2014/main" id="{E4F272BD-21A1-4EF1-A76A-B37324783678}"/>
              </a:ext>
            </a:extLst>
          </p:cNvPr>
          <p:cNvSpPr>
            <a:spLocks xmlns:a="http://schemas.openxmlformats.org/drawingml/2006/main" noGrp="1"/>
          </p:cNvSpPr>
          <p:nvPr/>
        </p:nvSpPr>
        <p:spPr>
          <a:xfrm xmlns:a="http://schemas.openxmlformats.org/drawingml/2006/main">
            <a:off x="7943850" y="3105150"/>
            <a:ext cx="3486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087F72"/>
                </a:solidFill>
                <a:latin typeface="Arial"/>
                <a:ea typeface="Arial"/>
                <a:cs typeface="Arial"/>
              </a:defRPr>
            </a:pPr>
            <a:r>
              <a:rPr sz="1350" b="1">
                <a:solidFill>
                  <a:srgbClr val="087F72"/>
                </a:solidFill>
                <a:latin typeface="Arial"/>
                <a:ea typeface="Arial"/>
                <a:cs typeface="Arial"/>
              </a:rPr>
              <a:t>Cross-check with an independent path</a:t>
            </a:r>
          </a:p>
        </p:txBody>
      </p:sp>
      <p:sp>
        <p:nvSpPr>
          <p:cNvPr id="16" name="">
            <a:extLst xmlns:a="http://schemas.openxmlformats.org/drawingml/2006/main">
              <a:ext uri="{FF2B5EF4-FFF2-40B4-BE49-F238E27FC236}">
                <a16:creationId xmlns:a16="http://schemas.microsoft.com/office/drawing/2014/main" id="{5935039D-A603-4438-98FB-00DA24665349}"/>
              </a:ext>
            </a:extLst>
          </p:cNvPr>
          <p:cNvSpPr>
            <a:spLocks xmlns:a="http://schemas.openxmlformats.org/drawingml/2006/main" noGrp="1"/>
          </p:cNvSpPr>
          <p:nvPr/>
        </p:nvSpPr>
        <p:spPr>
          <a:xfrm xmlns:a="http://schemas.openxmlformats.org/drawingml/2006/main">
            <a:off x="552450" y="3829050"/>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EEB7106-CA7B-4CE4-B7CF-CFAD187B6401}"/>
              </a:ext>
            </a:extLst>
          </p:cNvPr>
          <p:cNvSpPr>
            <a:spLocks xmlns:a="http://schemas.openxmlformats.org/drawingml/2006/main" noGrp="1"/>
          </p:cNvSpPr>
          <p:nvPr/>
        </p:nvSpPr>
        <p:spPr>
          <a:xfrm xmlns:a="http://schemas.openxmlformats.org/drawingml/2006/main">
            <a:off x="552450" y="4210050"/>
            <a:ext cx="628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C43D4D"/>
                </a:solidFill>
                <a:latin typeface="Arial"/>
                <a:ea typeface="Arial"/>
                <a:cs typeface="Arial"/>
              </a:defRPr>
            </a:pPr>
            <a:r>
              <a:rPr sz="1950" b="1">
                <a:solidFill>
                  <a:srgbClr val="C43D4D"/>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0F89739A-F939-44BB-AB32-8AF7924D3F8A}"/>
              </a:ext>
            </a:extLst>
          </p:cNvPr>
          <p:cNvSpPr>
            <a:spLocks xmlns:a="http://schemas.openxmlformats.org/drawingml/2006/main" noGrp="1"/>
          </p:cNvSpPr>
          <p:nvPr/>
        </p:nvSpPr>
        <p:spPr>
          <a:xfrm xmlns:a="http://schemas.openxmlformats.org/drawingml/2006/main">
            <a:off x="1257300" y="42100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The first head label was too strict</a:t>
            </a:r>
          </a:p>
        </p:txBody>
      </p:sp>
      <p:sp>
        <p:nvSpPr>
          <p:cNvPr id="19" name="">
            <a:extLst xmlns:a="http://schemas.openxmlformats.org/drawingml/2006/main">
              <a:ext uri="{FF2B5EF4-FFF2-40B4-BE49-F238E27FC236}">
                <a16:creationId xmlns:a16="http://schemas.microsoft.com/office/drawing/2014/main" id="{5967D16A-648E-4F94-B7D5-0772CD62E92E}"/>
              </a:ext>
            </a:extLst>
          </p:cNvPr>
          <p:cNvSpPr>
            <a:spLocks xmlns:a="http://schemas.openxmlformats.org/drawingml/2006/main" noGrp="1"/>
          </p:cNvSpPr>
          <p:nvPr/>
        </p:nvSpPr>
        <p:spPr>
          <a:xfrm xmlns:a="http://schemas.openxmlformats.org/drawingml/2006/main">
            <a:off x="4781550" y="4210050"/>
            <a:ext cx="2686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Swimmers counted as submerged</a:t>
            </a:r>
          </a:p>
        </p:txBody>
      </p:sp>
      <p:sp>
        <p:nvSpPr>
          <p:cNvPr id="20" name="">
            <a:extLst xmlns:a="http://schemas.openxmlformats.org/drawingml/2006/main">
              <a:ext uri="{FF2B5EF4-FFF2-40B4-BE49-F238E27FC236}">
                <a16:creationId xmlns:a16="http://schemas.microsoft.com/office/drawing/2014/main" id="{FCDB06CD-66FD-4833-9C3B-8E6D91838408}"/>
              </a:ext>
            </a:extLst>
          </p:cNvPr>
          <p:cNvSpPr>
            <a:spLocks xmlns:a="http://schemas.openxmlformats.org/drawingml/2006/main" noGrp="1"/>
          </p:cNvSpPr>
          <p:nvPr/>
        </p:nvSpPr>
        <p:spPr>
          <a:xfrm xmlns:a="http://schemas.openxmlformats.org/drawingml/2006/main">
            <a:off x="7734300" y="4191000"/>
            <a:ext cx="3905250" cy="647700"/>
          </a:xfrm>
          <a:prstGeom xmlns:a="http://schemas.openxmlformats.org/drawingml/2006/main" prst="roundRect">
            <a:avLst>
              <a:gd name="adj" fmla="val 20588"/>
            </a:avLst>
          </a:prstGeom>
          <a:solidFill xmlns:a="http://schemas.openxmlformats.org/drawingml/2006/main">
            <a:srgbClr val="EEF5F6"/>
          </a:solidFill>
          <a:ln xmlns:a="http://schemas.openxmlformats.org/drawingml/2006/main" w="9525">
            <a:solidFill>
              <a:srgbClr val="D7E1E7"/>
            </a:solidFill>
          </a:ln>
        </p:spPr>
      </p:sp>
      <p:sp>
        <p:nvSpPr>
          <p:cNvPr id="21" name="">
            <a:extLst xmlns:a="http://schemas.openxmlformats.org/drawingml/2006/main">
              <a:ext uri="{FF2B5EF4-FFF2-40B4-BE49-F238E27FC236}">
                <a16:creationId xmlns:a16="http://schemas.microsoft.com/office/drawing/2014/main" id="{0A3D324B-E287-4ADA-BBFB-D2CE972CC8D4}"/>
              </a:ext>
            </a:extLst>
          </p:cNvPr>
          <p:cNvSpPr>
            <a:spLocks xmlns:a="http://schemas.openxmlformats.org/drawingml/2006/main" noGrp="1"/>
          </p:cNvSpPr>
          <p:nvPr/>
        </p:nvSpPr>
        <p:spPr>
          <a:xfrm xmlns:a="http://schemas.openxmlformats.org/drawingml/2006/main">
            <a:off x="7943850" y="4286250"/>
            <a:ext cx="3486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087F72"/>
                </a:solidFill>
                <a:latin typeface="Arial"/>
                <a:ea typeface="Arial"/>
                <a:cs typeface="Arial"/>
              </a:defRPr>
            </a:pPr>
            <a:r>
              <a:rPr sz="1350" b="1">
                <a:solidFill>
                  <a:srgbClr val="087F72"/>
                </a:solidFill>
                <a:latin typeface="Arial"/>
                <a:ea typeface="Arial"/>
                <a:cs typeface="Arial"/>
              </a:rPr>
              <a:t>Rebuild labels from stored head height</a:t>
            </a:r>
          </a:p>
        </p:txBody>
      </p:sp>
      <p:sp>
        <p:nvSpPr>
          <p:cNvPr id="22" name="">
            <a:extLst xmlns:a="http://schemas.openxmlformats.org/drawingml/2006/main">
              <a:ext uri="{FF2B5EF4-FFF2-40B4-BE49-F238E27FC236}">
                <a16:creationId xmlns:a16="http://schemas.microsoft.com/office/drawing/2014/main" id="{8A41A9E7-369C-4DED-B088-82C8A3A71758}"/>
              </a:ext>
            </a:extLst>
          </p:cNvPr>
          <p:cNvSpPr>
            <a:spLocks xmlns:a="http://schemas.openxmlformats.org/drawingml/2006/main" noGrp="1"/>
          </p:cNvSpPr>
          <p:nvPr/>
        </p:nvSpPr>
        <p:spPr>
          <a:xfrm xmlns:a="http://schemas.openxmlformats.org/drawingml/2006/main">
            <a:off x="552450" y="5562600"/>
            <a:ext cx="11087100" cy="647700"/>
          </a:xfrm>
          <a:prstGeom xmlns:a="http://schemas.openxmlformats.org/drawingml/2006/main" prst="roundRect">
            <a:avLst>
              <a:gd name="adj" fmla="val 20588"/>
            </a:avLst>
          </a:prstGeom>
          <a:solidFill xmlns:a="http://schemas.openxmlformats.org/drawingml/2006/main">
            <a:srgbClr val="EEF4FA"/>
          </a:solidFill>
          <a:ln xmlns:a="http://schemas.openxmlformats.org/drawingml/2006/main" w="9525">
            <a:solidFill>
              <a:srgbClr val="2B6FAE"/>
            </a:solidFill>
          </a:ln>
        </p:spPr>
      </p:sp>
      <p:sp>
        <p:nvSpPr>
          <p:cNvPr id="23" name="">
            <a:extLst xmlns:a="http://schemas.openxmlformats.org/drawingml/2006/main">
              <a:ext uri="{FF2B5EF4-FFF2-40B4-BE49-F238E27FC236}">
                <a16:creationId xmlns:a16="http://schemas.microsoft.com/office/drawing/2014/main" id="{2E302EF3-0DE9-4990-8F66-B44C5C331CDD}"/>
              </a:ext>
            </a:extLst>
          </p:cNvPr>
          <p:cNvSpPr>
            <a:spLocks xmlns:a="http://schemas.openxmlformats.org/drawingml/2006/main" noGrp="1"/>
          </p:cNvSpPr>
          <p:nvPr/>
        </p:nvSpPr>
        <p:spPr>
          <a:xfrm xmlns:a="http://schemas.openxmlformats.org/drawingml/2006/main">
            <a:off x="781050" y="5695950"/>
            <a:ext cx="10629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The team fixed each issue and reran every published number. Accuracy remains synthetic-only.</a:t>
            </a:r>
          </a:p>
        </p:txBody>
      </p:sp>
      <p:sp>
        <p:nvSpPr>
          <p:cNvPr id="24" name="">
            <a:extLst xmlns:a="http://schemas.openxmlformats.org/drawingml/2006/main">
              <a:ext uri="{FF2B5EF4-FFF2-40B4-BE49-F238E27FC236}">
                <a16:creationId xmlns:a16="http://schemas.microsoft.com/office/drawing/2014/main" id="{2E2913DD-32CB-4ECF-9920-B7B4EE742E45}"/>
              </a:ext>
            </a:extLst>
          </p:cNvPr>
          <p:cNvSpPr>
            <a:spLocks xmlns:a="http://schemas.openxmlformats.org/drawingml/2006/main" noGrp="1"/>
          </p:cNvSpPr>
          <p:nvPr/>
        </p:nvSpPr>
        <p:spPr>
          <a:xfrm xmlns:a="http://schemas.openxmlformats.org/drawingml/2006/main">
            <a:off x="552450" y="6505575"/>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259"/>
          </a:bodyPr>
          <a:lstStyle xmlns:a="http://schemas.openxmlformats.org/drawingml/2006/main"/>
          <a:p xmlns:a="http://schemas.openxmlformats.org/drawingml/2006/main">
            <a:pPr>
              <a:defRPr sz="675" b="0">
                <a:solidFill>
                  <a:srgbClr val="5E7182"/>
                </a:solidFill>
                <a:latin typeface="Arial"/>
                <a:ea typeface="Arial"/>
                <a:cs typeface="Arial"/>
              </a:defRPr>
            </a:pPr>
            <a:r>
              <a:rPr sz="675" b="0">
                <a:solidFill>
                  <a:srgbClr val="5E7182"/>
                </a:solidFill>
                <a:latin typeface="Arial"/>
                <a:ea typeface="Arial"/>
                <a:cs typeface="Arial"/>
              </a:rPr>
              <a:t>EVALUATION AND FAILURE CASES</a:t>
            </a:r>
          </a:p>
        </p:txBody>
      </p:sp>
    </p:spTree>
    <p:extLst>
      <p:ext uri="{BB962C8B-B14F-4D97-AF65-F5344CB8AC3E}">
        <p14:creationId xmlns:p14="http://schemas.microsoft.com/office/powerpoint/2010/main" val="1674883810"/>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11BEBA-6567-4853-B85E-40E965EE0D44}"/>
              </a:ext>
            </a:extLst>
          </p:cNvPr>
          <p:cNvSpPr>
            <a:spLocks xmlns:a="http://schemas.openxmlformats.org/drawingml/2006/main" noGrp="1"/>
          </p:cNvSpPr>
          <p:nvPr/>
        </p:nvSpPr>
        <p:spPr>
          <a:xfrm xmlns:a="http://schemas.openxmlformats.org/drawingml/2006/main">
            <a:off x="552450" y="2667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087F72"/>
                </a:solidFill>
                <a:latin typeface="Arial"/>
                <a:ea typeface="Arial"/>
                <a:cs typeface="Arial"/>
              </a:defRPr>
            </a:pPr>
            <a:r>
              <a:rPr sz="975" b="1">
                <a:solidFill>
                  <a:srgbClr val="087F72"/>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8833B47F-79E4-4523-B1F3-737DA3038B81}"/>
              </a:ext>
            </a:extLst>
          </p:cNvPr>
          <p:cNvSpPr>
            <a:spLocks xmlns:a="http://schemas.openxmlformats.org/drawingml/2006/main" noGrp="1"/>
          </p:cNvSpPr>
          <p:nvPr/>
        </p:nvSpPr>
        <p:spPr>
          <a:xfrm xmlns:a="http://schemas.openxmlformats.org/drawingml/2006/main">
            <a:off x="11144250" y="2667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5E7182"/>
                </a:solidFill>
                <a:latin typeface="Arial"/>
                <a:ea typeface="Arial"/>
                <a:cs typeface="Arial"/>
              </a:defRPr>
            </a:pPr>
            <a:r>
              <a:rPr sz="975" b="1">
                <a:solidFill>
                  <a:srgbClr val="5E718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E243A3F-5C18-4643-8FCE-B09D9D97AD0A}"/>
              </a:ext>
            </a:extLst>
          </p:cNvPr>
          <p:cNvSpPr>
            <a:spLocks xmlns:a="http://schemas.openxmlformats.org/drawingml/2006/main" noGrp="1"/>
          </p:cNvSpPr>
          <p:nvPr/>
        </p:nvSpPr>
        <p:spPr>
          <a:xfrm xmlns:a="http://schemas.openxmlformats.org/drawingml/2006/main">
            <a:off x="552450" y="638175"/>
            <a:ext cx="11087100" cy="9525"/>
          </a:xfrm>
          <a:prstGeom xmlns:a="http://schemas.openxmlformats.org/drawingml/2006/main" prst="rect">
            <a:avLst/>
          </a:prstGeom>
          <a:solidFill xmlns:a="http://schemas.openxmlformats.org/drawingml/2006/main">
            <a:srgbClr val="D7E1E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DF34A7-B0E2-4B47-9BB1-8A19205FD1FF}"/>
              </a:ext>
            </a:extLst>
          </p:cNvPr>
          <p:cNvSpPr>
            <a:spLocks xmlns:a="http://schemas.openxmlformats.org/drawingml/2006/main" noGrp="1"/>
          </p:cNvSpPr>
          <p:nvPr/>
        </p:nvSpPr>
        <p:spPr>
          <a:xfrm xmlns:a="http://schemas.openxmlformats.org/drawingml/2006/main">
            <a:off x="552450" y="857250"/>
            <a:ext cx="11087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Real footage is the next test, not a victory lap</a:t>
            </a:r>
          </a:p>
        </p:txBody>
      </p:sp>
      <p:sp>
        <p:nvSpPr>
          <p:cNvPr id="5" name="">
            <a:extLst xmlns:a="http://schemas.openxmlformats.org/drawingml/2006/main">
              <a:ext uri="{FF2B5EF4-FFF2-40B4-BE49-F238E27FC236}">
                <a16:creationId xmlns:a16="http://schemas.microsoft.com/office/drawing/2014/main" id="{5E916233-9C89-4ED1-8DAD-D4C816462F2A}"/>
              </a:ext>
            </a:extLst>
          </p:cNvPr>
          <p:cNvSpPr>
            <a:spLocks xmlns:a="http://schemas.openxmlformats.org/drawingml/2006/main" noGrp="1"/>
          </p:cNvSpPr>
          <p:nvPr/>
        </p:nvSpPr>
        <p:spPr>
          <a:xfrm xmlns:a="http://schemas.openxmlformats.org/drawingml/2006/main">
            <a:off x="552450" y="19431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087F72"/>
                </a:solidFill>
                <a:latin typeface="Arial"/>
                <a:ea typeface="Arial"/>
                <a:cs typeface="Arial"/>
              </a:defRPr>
            </a:pPr>
            <a:r>
              <a:rPr sz="900" b="1">
                <a:solidFill>
                  <a:srgbClr val="087F72"/>
                </a:solidFill>
                <a:latin typeface="Arial"/>
                <a:ea typeface="Arial"/>
                <a:cs typeface="Arial"/>
              </a:rPr>
              <a:t>VALIDATE</a:t>
            </a:r>
          </a:p>
        </p:txBody>
      </p:sp>
      <p:sp>
        <p:nvSpPr>
          <p:cNvPr id="6" name="">
            <a:extLst xmlns:a="http://schemas.openxmlformats.org/drawingml/2006/main">
              <a:ext uri="{FF2B5EF4-FFF2-40B4-BE49-F238E27FC236}">
                <a16:creationId xmlns:a16="http://schemas.microsoft.com/office/drawing/2014/main" id="{F05F022F-2A37-4C0F-BDB0-63EB5E4ACD48}"/>
              </a:ext>
            </a:extLst>
          </p:cNvPr>
          <p:cNvSpPr>
            <a:spLocks xmlns:a="http://schemas.openxmlformats.org/drawingml/2006/main" noGrp="1"/>
          </p:cNvSpPr>
          <p:nvPr/>
        </p:nvSpPr>
        <p:spPr>
          <a:xfrm xmlns:a="http://schemas.openxmlformats.org/drawingml/2006/main">
            <a:off x="552450" y="22669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324D"/>
                </a:solidFill>
                <a:latin typeface="Arial"/>
                <a:ea typeface="Arial"/>
                <a:cs typeface="Arial"/>
              </a:defRPr>
            </a:pPr>
            <a:r>
              <a:rPr sz="1725" b="1">
                <a:solidFill>
                  <a:srgbClr val="17324D"/>
                </a:solidFill>
                <a:latin typeface="Arial"/>
                <a:ea typeface="Arial"/>
                <a:cs typeface="Arial"/>
              </a:rPr>
              <a:t>Record safe staged pool clips</a:t>
            </a:r>
          </a:p>
        </p:txBody>
      </p:sp>
      <p:sp>
        <p:nvSpPr>
          <p:cNvPr id="7" name="">
            <a:extLst xmlns:a="http://schemas.openxmlformats.org/drawingml/2006/main">
              <a:ext uri="{FF2B5EF4-FFF2-40B4-BE49-F238E27FC236}">
                <a16:creationId xmlns:a16="http://schemas.microsoft.com/office/drawing/2014/main" id="{F1841017-086F-4BA6-AEEC-7A7B7E394C05}"/>
              </a:ext>
            </a:extLst>
          </p:cNvPr>
          <p:cNvSpPr>
            <a:spLocks xmlns:a="http://schemas.openxmlformats.org/drawingml/2006/main" noGrp="1"/>
          </p:cNvSpPr>
          <p:nvPr/>
        </p:nvSpPr>
        <p:spPr>
          <a:xfrm xmlns:a="http://schemas.openxmlformats.org/drawingml/2006/main">
            <a:off x="552450" y="264795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Label each head above or below water. Split train and test by recording session.</a:t>
            </a:r>
          </a:p>
        </p:txBody>
      </p:sp>
      <p:sp>
        <p:nvSpPr>
          <p:cNvPr id="8" name="">
            <a:extLst xmlns:a="http://schemas.openxmlformats.org/drawingml/2006/main">
              <a:ext uri="{FF2B5EF4-FFF2-40B4-BE49-F238E27FC236}">
                <a16:creationId xmlns:a16="http://schemas.microsoft.com/office/drawing/2014/main" id="{95638EDE-C9EB-4DAC-A170-01EA3A91D9B8}"/>
              </a:ext>
            </a:extLst>
          </p:cNvPr>
          <p:cNvSpPr>
            <a:spLocks xmlns:a="http://schemas.openxmlformats.org/drawingml/2006/main" noGrp="1"/>
          </p:cNvSpPr>
          <p:nvPr/>
        </p:nvSpPr>
        <p:spPr>
          <a:xfrm xmlns:a="http://schemas.openxmlformats.org/drawingml/2006/main">
            <a:off x="552450" y="35623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B6FAE"/>
                </a:solidFill>
                <a:latin typeface="Arial"/>
                <a:ea typeface="Arial"/>
                <a:cs typeface="Arial"/>
              </a:defRPr>
            </a:pPr>
            <a:r>
              <a:rPr sz="900" b="1">
                <a:solidFill>
                  <a:srgbClr val="2B6FAE"/>
                </a:solidFill>
                <a:latin typeface="Arial"/>
                <a:ea typeface="Arial"/>
                <a:cs typeface="Arial"/>
              </a:rPr>
              <a:t>MEASURE</a:t>
            </a:r>
          </a:p>
        </p:txBody>
      </p:sp>
      <p:sp>
        <p:nvSpPr>
          <p:cNvPr id="9" name="">
            <a:extLst xmlns:a="http://schemas.openxmlformats.org/drawingml/2006/main">
              <a:ext uri="{FF2B5EF4-FFF2-40B4-BE49-F238E27FC236}">
                <a16:creationId xmlns:a16="http://schemas.microsoft.com/office/drawing/2014/main" id="{ED937093-3AD1-4DFE-B5B4-22C8F9CD86F8}"/>
              </a:ext>
            </a:extLst>
          </p:cNvPr>
          <p:cNvSpPr>
            <a:spLocks xmlns:a="http://schemas.openxmlformats.org/drawingml/2006/main" noGrp="1"/>
          </p:cNvSpPr>
          <p:nvPr/>
        </p:nvSpPr>
        <p:spPr>
          <a:xfrm xmlns:a="http://schemas.openxmlformats.org/drawingml/2006/main">
            <a:off x="55245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7324D"/>
                </a:solidFill>
                <a:latin typeface="Arial"/>
                <a:ea typeface="Arial"/>
                <a:cs typeface="Arial"/>
              </a:defRPr>
            </a:pPr>
            <a:r>
              <a:rPr sz="1725" b="1">
                <a:solidFill>
                  <a:srgbClr val="17324D"/>
                </a:solidFill>
                <a:latin typeface="Arial"/>
                <a:ea typeface="Arial"/>
                <a:cs typeface="Arial"/>
              </a:rPr>
              <a:t>Report operational errors</a:t>
            </a:r>
          </a:p>
        </p:txBody>
      </p:sp>
      <p:sp>
        <p:nvSpPr>
          <p:cNvPr id="10" name="">
            <a:extLst xmlns:a="http://schemas.openxmlformats.org/drawingml/2006/main">
              <a:ext uri="{FF2B5EF4-FFF2-40B4-BE49-F238E27FC236}">
                <a16:creationId xmlns:a16="http://schemas.microsoft.com/office/drawing/2014/main" id="{E6814A5D-957F-4117-8313-04ABBAA1E801}"/>
              </a:ext>
            </a:extLst>
          </p:cNvPr>
          <p:cNvSpPr>
            <a:spLocks xmlns:a="http://schemas.openxmlformats.org/drawingml/2006/main" noGrp="1"/>
          </p:cNvSpPr>
          <p:nvPr/>
        </p:nvSpPr>
        <p:spPr>
          <a:xfrm xmlns:a="http://schemas.openxmlformats.org/drawingml/2006/main">
            <a:off x="552450" y="426720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E7182"/>
                </a:solidFill>
                <a:latin typeface="Arial"/>
                <a:ea typeface="Arial"/>
                <a:cs typeface="Arial"/>
              </a:defRPr>
            </a:pPr>
            <a:r>
              <a:rPr sz="1350" b="0">
                <a:solidFill>
                  <a:srgbClr val="5E7182"/>
                </a:solidFill>
                <a:latin typeface="Arial"/>
                <a:ea typeface="Arial"/>
                <a:cs typeface="Arial"/>
              </a:rPr>
              <a:t>Detection delay, missed events, false warnings per monitored hour, and identity errors.</a:t>
            </a:r>
          </a:p>
        </p:txBody>
      </p:sp>
      <p:sp>
        <p:nvSpPr>
          <p:cNvPr id="11" name="">
            <a:extLst xmlns:a="http://schemas.openxmlformats.org/drawingml/2006/main">
              <a:ext uri="{FF2B5EF4-FFF2-40B4-BE49-F238E27FC236}">
                <a16:creationId xmlns:a16="http://schemas.microsoft.com/office/drawing/2014/main" id="{C6084BA8-E450-4AB4-A0EE-0F2441180BBC}"/>
              </a:ext>
            </a:extLst>
          </p:cNvPr>
          <p:cNvSpPr>
            <a:spLocks xmlns:a="http://schemas.openxmlformats.org/drawingml/2006/main" noGrp="1"/>
          </p:cNvSpPr>
          <p:nvPr/>
        </p:nvSpPr>
        <p:spPr>
          <a:xfrm xmlns:a="http://schemas.openxmlformats.org/drawingml/2006/main">
            <a:off x="552450" y="51816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A86E00"/>
                </a:solidFill>
                <a:latin typeface="Arial"/>
                <a:ea typeface="Arial"/>
                <a:cs typeface="Arial"/>
              </a:defRPr>
            </a:pPr>
            <a:r>
              <a:rPr sz="900" b="1">
                <a:solidFill>
                  <a:srgbClr val="A86E00"/>
                </a:solidFill>
                <a:latin typeface="Arial"/>
                <a:ea typeface="Arial"/>
                <a:cs typeface="Arial"/>
              </a:rPr>
              <a:t>CONNECT</a:t>
            </a:r>
          </a:p>
        </p:txBody>
      </p:sp>
      <p:sp>
        <p:nvSpPr>
          <p:cNvPr id="12" name="">
            <a:extLst xmlns:a="http://schemas.openxmlformats.org/drawingml/2006/main">
              <a:ext uri="{FF2B5EF4-FFF2-40B4-BE49-F238E27FC236}">
                <a16:creationId xmlns:a16="http://schemas.microsoft.com/office/drawing/2014/main" id="{9048D0B8-49CF-46CE-9CF8-ACBE0CCFD513}"/>
              </a:ext>
            </a:extLst>
          </p:cNvPr>
          <p:cNvSpPr>
            <a:spLocks xmlns:a="http://schemas.openxmlformats.org/drawingml/2006/main" noGrp="1"/>
          </p:cNvSpPr>
          <p:nvPr/>
        </p:nvSpPr>
        <p:spPr>
          <a:xfrm xmlns:a="http://schemas.openxmlformats.org/drawingml/2006/main">
            <a:off x="552450" y="5410200"/>
            <a:ext cx="542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04"/>
          </a:bodyPr>
          <a:lstStyle xmlns:a="http://schemas.openxmlformats.org/drawingml/2006/main"/>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Uploaded video now</a:t>
            </a:r>
          </a:p>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Webcam and RTSP next</a:t>
            </a:r>
          </a:p>
          <a:p xmlns:a="http://schemas.openxmlformats.org/drawingml/2006/main">
            <a:pPr>
              <a:defRPr sz="1425" b="1">
                <a:solidFill>
                  <a:srgbClr val="17324D"/>
                </a:solidFill>
                <a:latin typeface="Arial"/>
                <a:ea typeface="Arial"/>
                <a:cs typeface="Arial"/>
              </a:defRPr>
            </a:pPr>
            <a:r>
              <a:rPr sz="1425" b="1">
                <a:solidFill>
                  <a:srgbClr val="17324D"/>
                </a:solidFill>
                <a:latin typeface="Arial"/>
                <a:ea typeface="Arial"/>
                <a:cs typeface="Arial"/>
              </a:rPr>
              <a:t>Ring and Nest later</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c92621fe83b4b29"/>
          <a:srcRect xmlns:a="http://schemas.openxmlformats.org/drawingml/2006/main" l="8768" t="0" r="8768" b="0"/>
          <a:stretch xmlns:a="http://schemas.openxmlformats.org/drawingml/2006/main">
            <a:fillRect l="0" t="0" r="0" b="0"/>
          </a:stretch>
        </p:blipFill>
        <p:spPr>
          <a:xfrm xmlns:a="http://schemas.openxmlformats.org/drawingml/2006/main">
            <a:off x="6419850" y="1866900"/>
            <a:ext cx="5219700" cy="3562350"/>
          </a:xfrm>
          <a:prstGeom xmlns:a="http://schemas.openxmlformats.org/drawingml/2006/main" prst="roundRect">
            <a:avLst>
              <a:gd name="adj" fmla="val 5882"/>
            </a:avLst>
          </a:prstGeom>
        </p:spPr>
      </p:pic>
      <p:sp>
        <p:nvSpPr>
          <p:cNvPr id="14" name="">
            <a:extLst xmlns:a="http://schemas.openxmlformats.org/drawingml/2006/main">
              <a:ext uri="{FF2B5EF4-FFF2-40B4-BE49-F238E27FC236}">
                <a16:creationId xmlns:a16="http://schemas.microsoft.com/office/drawing/2014/main" id="{F93C81BC-B17A-465A-80D7-39E0EF726712}"/>
              </a:ext>
            </a:extLst>
          </p:cNvPr>
          <p:cNvSpPr>
            <a:spLocks xmlns:a="http://schemas.openxmlformats.org/drawingml/2006/main" noGrp="1"/>
          </p:cNvSpPr>
          <p:nvPr/>
        </p:nvSpPr>
        <p:spPr>
          <a:xfrm xmlns:a="http://schemas.openxmlformats.org/drawingml/2006/main">
            <a:off x="6419850" y="563880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350" b="1">
                <a:solidFill>
                  <a:srgbClr val="17324D"/>
                </a:solidFill>
                <a:latin typeface="Arial"/>
                <a:ea typeface="Arial"/>
                <a:cs typeface="Arial"/>
              </a:defRPr>
            </a:pPr>
            <a:r>
              <a:rPr sz="1350" b="1">
                <a:solidFill>
                  <a:srgbClr val="17324D"/>
                </a:solidFill>
                <a:latin typeface="Arial"/>
                <a:ea typeface="Arial"/>
                <a:cs typeface="Arial"/>
              </a:rPr>
              <a:t>The overlay stays in our application. Camera APIs only change the source adapter.</a:t>
            </a:r>
          </a:p>
        </p:txBody>
      </p:sp>
      <p:sp>
        <p:nvSpPr>
          <p:cNvPr id="15" name="">
            <a:extLst xmlns:a="http://schemas.openxmlformats.org/drawingml/2006/main">
              <a:ext uri="{FF2B5EF4-FFF2-40B4-BE49-F238E27FC236}">
                <a16:creationId xmlns:a16="http://schemas.microsoft.com/office/drawing/2014/main" id="{313BF0A1-2800-463A-9B1D-1135A690D75B}"/>
              </a:ext>
            </a:extLst>
          </p:cNvPr>
          <p:cNvSpPr>
            <a:spLocks xmlns:a="http://schemas.openxmlformats.org/drawingml/2006/main" noGrp="1"/>
          </p:cNvSpPr>
          <p:nvPr/>
        </p:nvSpPr>
        <p:spPr>
          <a:xfrm xmlns:a="http://schemas.openxmlformats.org/drawingml/2006/main">
            <a:off x="552450" y="6172200"/>
            <a:ext cx="11087100" cy="400050"/>
          </a:xfrm>
          <a:prstGeom xmlns:a="http://schemas.openxmlformats.org/drawingml/2006/main" prst="roundRect">
            <a:avLst>
              <a:gd name="adj" fmla="val 28571"/>
            </a:avLst>
          </a:prstGeom>
          <a:solidFill xmlns:a="http://schemas.openxmlformats.org/drawingml/2006/main">
            <a:srgbClr val="EEF5F6"/>
          </a:solidFill>
          <a:ln xmlns:a="http://schemas.openxmlformats.org/drawingml/2006/main" w="9525">
            <a:solidFill>
              <a:srgbClr val="087F72"/>
            </a:solidFill>
          </a:ln>
        </p:spPr>
      </p:sp>
      <p:sp>
        <p:nvSpPr>
          <p:cNvPr id="16" name="">
            <a:extLst xmlns:a="http://schemas.openxmlformats.org/drawingml/2006/main">
              <a:ext uri="{FF2B5EF4-FFF2-40B4-BE49-F238E27FC236}">
                <a16:creationId xmlns:a16="http://schemas.microsoft.com/office/drawing/2014/main" id="{E3CC3CD9-CB41-4000-8856-6207809A446D}"/>
              </a:ext>
            </a:extLst>
          </p:cNvPr>
          <p:cNvSpPr>
            <a:spLocks xmlns:a="http://schemas.openxmlformats.org/drawingml/2006/main" noGrp="1"/>
          </p:cNvSpPr>
          <p:nvPr/>
        </p:nvSpPr>
        <p:spPr>
          <a:xfrm xmlns:a="http://schemas.openxmlformats.org/drawingml/2006/main">
            <a:off x="742950" y="6229350"/>
            <a:ext cx="10706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17324D"/>
                </a:solidFill>
                <a:latin typeface="Arial"/>
                <a:ea typeface="Arial"/>
                <a:cs typeface="Arial"/>
              </a:defRPr>
            </a:pPr>
            <a:r>
              <a:rPr sz="1275" b="1">
                <a:solidFill>
                  <a:srgbClr val="17324D"/>
                </a:solidFill>
                <a:latin typeface="Arial"/>
                <a:ea typeface="Arial"/>
                <a:cs typeface="Arial"/>
              </a:rPr>
              <a:t>A supervision aid. It does not replace watching children, pool fences, or lifeguards.</a:t>
            </a:r>
          </a:p>
        </p:txBody>
      </p:sp>
    </p:spTree>
    <p:extLst>
      <p:ext uri="{BB962C8B-B14F-4D97-AF65-F5344CB8AC3E}">
        <p14:creationId xmlns:p14="http://schemas.microsoft.com/office/powerpoint/2010/main" val="13328443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2026-09-27T03:44:01.7250000Z</dcterms:created>
  <dcterms:modified xsi:type="dcterms:W3CDTF">2026-09-27T03:44:01.7250000Z</dcterms:modified>
</coreProperties>
</file>