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bb6c14d3c741b6" /><Relationship Type="http://schemas.openxmlformats.org/officeDocument/2006/relationships/extended-properties" Target="/docProps/app.xml" Id="Rc0c401615da441dc" /><Relationship Type="http://schemas.openxmlformats.org/officeDocument/2006/relationships/officeDocument" Target="/ppt/presentation.xml" Id="R4fc1c382ad234739" /></Relationships>
</file>

<file path=ppt/presentation.xml><?xml version="1.0" encoding="utf-8"?>
<p:presentation xmlns:p="http://schemas.openxmlformats.org/presentationml/2006/main">
  <p:sldMasterIdLst>
    <p:sldMasterId xmlns:r="http://schemas.openxmlformats.org/officeDocument/2006/relationships" id="2147483648" r:id="R6bb4508d7df643ac"/>
  </p:sldMasterIdLst>
  <p:notesMasterIdLst>
    <p:notesMasterId xmlns:r="http://schemas.openxmlformats.org/officeDocument/2006/relationships" r:id="R7adb4c1480f8442a"/>
  </p:notesMasterIdLst>
  <p:sldIdLst>
    <p:sldId xmlns:r="http://schemas.openxmlformats.org/officeDocument/2006/relationships" id="256" r:id="Rff98f5b725474e99"/>
    <p:sldId xmlns:r="http://schemas.openxmlformats.org/officeDocument/2006/relationships" id="257" r:id="Rbc546d8da7c2407d"/>
    <p:sldId xmlns:r="http://schemas.openxmlformats.org/officeDocument/2006/relationships" id="258" r:id="Rd0246421026d48e0"/>
    <p:sldId xmlns:r="http://schemas.openxmlformats.org/officeDocument/2006/relationships" id="259" r:id="Rb4bb51b0beed4383"/>
    <p:sldId xmlns:r="http://schemas.openxmlformats.org/officeDocument/2006/relationships" id="260" r:id="Rf81debf49d754068"/>
    <p:sldId xmlns:r="http://schemas.openxmlformats.org/officeDocument/2006/relationships" id="261" r:id="Rf1519552e69a4b2c"/>
    <p:sldId xmlns:r="http://schemas.openxmlformats.org/officeDocument/2006/relationships" id="262" r:id="R8859174c3480438e"/>
    <p:sldId xmlns:r="http://schemas.openxmlformats.org/officeDocument/2006/relationships" id="263" r:id="Rf60806d3c8634543"/>
    <p:sldId xmlns:r="http://schemas.openxmlformats.org/officeDocument/2006/relationships" id="264" r:id="R2861c00991db43c4"/>
    <p:sldId xmlns:r="http://schemas.openxmlformats.org/officeDocument/2006/relationships" id="265" r:id="Rc245bdcfdaef42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d47cfa78ae412c" /><Relationship Type="http://schemas.openxmlformats.org/officeDocument/2006/relationships/slideMaster" Target="/ppt/slideMasters/slideMaster1.xml" Id="R6bb4508d7df643ac" /><Relationship Type="http://schemas.openxmlformats.org/officeDocument/2006/relationships/notesMaster" Target="/ppt/notesMasters/notesMaster1.xml" Id="R7adb4c1480f8442a" /><Relationship Type="http://schemas.openxmlformats.org/officeDocument/2006/relationships/presProps" Target="/ppt/presProps.xml" Id="Rd8b46de8028342af" /><Relationship Type="http://schemas.openxmlformats.org/officeDocument/2006/relationships/tableStyles" Target="/ppt/tableStyles.xml" Id="R0f10bb12ccf947ff" /><Relationship Type="http://schemas.openxmlformats.org/officeDocument/2006/relationships/slide" Target="/ppt/slides/slide1.xml" Id="Rff98f5b725474e99" /><Relationship Type="http://schemas.openxmlformats.org/officeDocument/2006/relationships/slide" Target="/ppt/slides/slide2.xml" Id="Rbc546d8da7c2407d" /><Relationship Type="http://schemas.openxmlformats.org/officeDocument/2006/relationships/slide" Target="/ppt/slides/slide3.xml" Id="Rd0246421026d48e0" /><Relationship Type="http://schemas.openxmlformats.org/officeDocument/2006/relationships/slide" Target="/ppt/slides/slide4.xml" Id="Rb4bb51b0beed4383" /><Relationship Type="http://schemas.openxmlformats.org/officeDocument/2006/relationships/slide" Target="/ppt/slides/slide5.xml" Id="Rf81debf49d754068" /><Relationship Type="http://schemas.openxmlformats.org/officeDocument/2006/relationships/slide" Target="/ppt/slides/slide6.xml" Id="Rf1519552e69a4b2c" /><Relationship Type="http://schemas.openxmlformats.org/officeDocument/2006/relationships/slide" Target="/ppt/slides/slide7.xml" Id="R8859174c3480438e" /><Relationship Type="http://schemas.openxmlformats.org/officeDocument/2006/relationships/slide" Target="/ppt/slides/slide8.xml" Id="Rf60806d3c8634543" /><Relationship Type="http://schemas.openxmlformats.org/officeDocument/2006/relationships/slide" Target="/ppt/slides/slide9.xml" Id="R2861c00991db43c4" /><Relationship Type="http://schemas.openxmlformats.org/officeDocument/2006/relationships/slide" Target="/ppt/slides/slide10.xml" Id="Rc245bdcfdaef42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d7b7612cbe43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c6ab8fabe14868" /><Relationship Type="http://schemas.openxmlformats.org/officeDocument/2006/relationships/notesMaster" Target="/ppt/notesMasters/notesMaster1.xml" Id="Re1acc369481949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5bbd5fd59e4790" /><Relationship Type="http://schemas.openxmlformats.org/officeDocument/2006/relationships/notesMaster" Target="/ppt/notesMasters/notesMaster1.xml" Id="Rbc2d12e9329e4d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323b1c27e0455d" /><Relationship Type="http://schemas.openxmlformats.org/officeDocument/2006/relationships/notesMaster" Target="/ppt/notesMasters/notesMaster1.xml" Id="Rdb361cf18e474e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fac2379aad41b6" /><Relationship Type="http://schemas.openxmlformats.org/officeDocument/2006/relationships/notesMaster" Target="/ppt/notesMasters/notesMaster1.xml" Id="R04b7c5f93d234a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d28a19c2324fe9" /><Relationship Type="http://schemas.openxmlformats.org/officeDocument/2006/relationships/notesMaster" Target="/ppt/notesMasters/notesMaster1.xml" Id="Re16404f6f10246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6f401b50244c0a" /><Relationship Type="http://schemas.openxmlformats.org/officeDocument/2006/relationships/notesMaster" Target="/ppt/notesMasters/notesMaster1.xml" Id="R8783daf21c004e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4e1e754a684357" /><Relationship Type="http://schemas.openxmlformats.org/officeDocument/2006/relationships/notesMaster" Target="/ppt/notesMasters/notesMaster1.xml" Id="Rf1e9ace4c36e41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8d753e87224a35" /><Relationship Type="http://schemas.openxmlformats.org/officeDocument/2006/relationships/notesMaster" Target="/ppt/notesMasters/notesMaster1.xml" Id="Ref705c9f888447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427930d6b94a4d" /><Relationship Type="http://schemas.openxmlformats.org/officeDocument/2006/relationships/notesMaster" Target="/ppt/notesMasters/notesMaster1.xml" Id="Rd395d44afdd943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8be1617a2e4a15" /><Relationship Type="http://schemas.openxmlformats.org/officeDocument/2006/relationships/notesMaster" Target="/ppt/notesMasters/notesMaster1.xml" Id="Rafdd14b3088049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you are at a backyard pool with friends or family. For one moment, everyone looks away. The camera keeps recording, but recording alone cannot tell you when normal play has turned into danger. Life Vision adds that missing layer. It watches each person over time and warns the adult when someone's head has stayed below the water too long.</a:t>
            </a:r>
          </a:p>
          <a:p xmlns:a="http://schemas.openxmlformats.org/drawingml/2006/main">
            <a:r>
              <a:t/>
            </a:r>
          </a:p>
          <a:p xmlns:a="http://schemas.openxmlformats.org/drawingml/2006/main">
            <a:r>
              <a:t>Sources:</a:t>
            </a:r>
          </a:p>
          <a:p xmlns:a="http://schemas.openxmlformats.org/drawingml/2006/main">
            <a:r>
              <a:t>- Concept image generated for this presentation. It does not depict a real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Consumer Product Safety Commission reviewed reported pool and spa fatalities involving children under five. Sixty-one percent involved a gap in adult supervision, meaning an adult lost contact with the child long enough for the child to reach the water. Many of these homes already have a backyard camera. Our first use case is simple: turn that existing view into a second set of eyes, while keeping supervision and physical pool barriers as the primary protections.</a:t>
            </a:r>
          </a:p>
          <a:p xmlns:a="http://schemas.openxmlformats.org/drawingml/2006/main">
            <a:r>
              <a:t/>
            </a:r>
          </a:p>
          <a:p xmlns:a="http://schemas.openxmlformats.org/drawingml/2006/main">
            <a:r>
              <a:t>Sources:</a:t>
            </a:r>
          </a:p>
          <a:p xmlns:a="http://schemas.openxmlformats.org/drawingml/2006/main">
            <a:r>
              <a:t>- U.S. CPSC, Pool or Spa Submersion: Estimated Nonfatal Drowning Injuries and Reported Drownings, 2024 Report, Table 14: https://www.cpsc.gov/s3fs-public/Pool-or-Spa-Submersion-Estimated-Nonfatal-Drowning-Injuries-and-Reported-Drownings-2024-Report.pdf</a:t>
            </a:r>
          </a:p>
          <a:p xmlns:a="http://schemas.openxmlformats.org/drawingml/2006/main">
            <a:r>
              <a:t>- Pool image generated for this presentation. It depicts safe staged activity, not a real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selects a prerecorded clip for the hackathon, then presses Activate Monitoring. We intentionally made activation theatrical, with a quick Matrix-style scan, so the audience can see exactly when analysis starts. Every person receives a stable ID and a green box. If a head remains below the surface, a timer starts. The box turns yellow at the warning threshold, then red if the condition persists. The interface always explains the decision, for example head not above water for 3.1 seconds. The user chooses yellow and red alerts, red only, or on-screen alerts.</a:t>
            </a:r>
          </a:p>
          <a:p xmlns:a="http://schemas.openxmlformats.org/drawingml/2006/main">
            <a:r>
              <a:t/>
            </a:r>
          </a:p>
          <a:p xmlns:a="http://schemas.openxmlformats.org/drawingml/2006/main">
            <a:r>
              <a:t>Sources:</a:t>
            </a:r>
          </a:p>
          <a:p xmlns:a="http://schemas.openxmlformats.org/drawingml/2006/main">
            <a:r>
              <a:t>- Repository frontend: frontend/index.html, frontend/styles.css, frontend/app.js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reads a video with media timestamps. The detector finds each person and the available evidence for the head. ByteTrack links detections across frames. Our own identity layer handles short losses and resurfacing, because tracker IDs alone do not survive every dive. The event engine owns the timers, missing-person registry, and entry alert. It writes results as timestamped JSON, and the frontend draws those results over the video. For the demo this all runs locally from files, so network or cloud failures cannot break the presentation.</a:t>
            </a:r>
          </a:p>
          <a:p xmlns:a="http://schemas.openxmlformats.org/drawingml/2006/main">
            <a:r>
              <a:t/>
            </a:r>
          </a:p>
          <a:p xmlns:a="http://schemas.openxmlformats.org/drawingml/2006/main">
            <a:r>
              <a:t>Sources:</a:t>
            </a:r>
          </a:p>
          <a:p xmlns:a="http://schemas.openxmlformats.org/drawingml/2006/main">
            <a:r>
              <a:t>- Repository architecture: docs/global/architecture.md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MuJoCo test bench with a shallow end, a deep end, buoyancy, and scripted behaviors such as swimming, resurfacing, collapse, entry, and a silent sink. The simulator gives us exact boxes and exact head height in every frame, so we can test the tracker and event logic without hand labeling. We also built an Isaac Sim scene with more realistic people, lighting, and water. Simulation lets us test dangerous cases safely, but it does not replace real pool footage.</a:t>
            </a:r>
          </a:p>
          <a:p xmlns:a="http://schemas.openxmlformats.org/drawingml/2006/main">
            <a:r>
              <a:t/>
            </a:r>
          </a:p>
          <a:p xmlns:a="http://schemas.openxmlformats.org/drawingml/2006/main">
            <a:r>
              <a:t>Sources:</a:t>
            </a:r>
          </a:p>
          <a:p xmlns:a="http://schemas.openxmlformats.org/drawingml/2006/main">
            <a:r>
              <a:t>- Repository simulation details: docs/global/simulation.md</a:t>
            </a:r>
          </a:p>
          <a:p xmlns:a="http://schemas.openxmlformats.org/drawingml/2006/main">
            <a:r>
              <a:t>- Isaac results: model/README.md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recall specifically when the head is fully below water on our held-out Isaac Sim clip. Stock YOLO11n found only sixteen percent. Stock RF-DETR-S found seventy-five percent. A YOLO model trained on the older MuJoCo characters transferred better at eighty-three percent. Our YOLO model fine-tuned on 261 Isaac frames reached ninety-five percent. Precision remained ninety-five percent. These are synthetic results from one scene and character set. They prove that our training and evaluation pipeline works. They do not predict real-world accuracy.</a:t>
            </a:r>
          </a:p>
          <a:p xmlns:a="http://schemas.openxmlformats.org/drawingml/2006/main">
            <a:r>
              <a:t/>
            </a:r>
          </a:p>
          <a:p xmlns:a="http://schemas.openxmlformats.org/drawingml/2006/main">
            <a:r>
              <a:t>Sources:</a:t>
            </a:r>
          </a:p>
          <a:p xmlns:a="http://schemas.openxmlformats.org/drawingml/2006/main">
            <a:r>
              <a:t>- Repository measured results: model/README.md, held-out seed-0 clip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tracker produced eighteen IDs for four people. That makes a per-person timer useless. We added three layers: box cleanup removes duplicate and partial detections, an ID starts only after several consistent frames, and identity stitching gives a resurfacing person their previous ID when the timing and location agree. On the five MuJoCo scenarios, the fine-tuned detector plus these rules produced one ID per person with zero switches. We also learned that a submerged body remains visible in clear water, so the alarm must time the head rather than wait for the whole box to disappear.</a:t>
            </a:r>
          </a:p>
          <a:p xmlns:a="http://schemas.openxmlformats.org/drawingml/2006/main">
            <a:r>
              <a:t/>
            </a:r>
          </a:p>
          <a:p xmlns:a="http://schemas.openxmlformats.org/drawingml/2006/main">
            <a:r>
              <a:t>Sources:</a:t>
            </a:r>
          </a:p>
          <a:p xmlns:a="http://schemas.openxmlformats.org/drawingml/2006/main">
            <a:r>
              <a:t>- Repository tracking results: docs/global/simulation.md</a:t>
            </a:r>
          </a:p>
          <a:p xmlns:a="http://schemas.openxmlformats.org/drawingml/2006/main">
            <a:r>
              <a:t>- Visual: presentation/images/before_after_tracking.png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camera enters through the same source adapter. The hackathon uses uploaded video first, then a webcam. A compatible IP camera can provide an RTSP stream. Ring now offers an official developer platform with authorized device access, webhooks, and WebRTC video. Google Nest provides WebRTC or RTSP through Device Access, depending on the model. The colored overlay appears in our application, not inside the native Ring or Google Home screen. Account authorization and commercial review come later.</a:t>
            </a:r>
          </a:p>
          <a:p xmlns:a="http://schemas.openxmlformats.org/drawingml/2006/main">
            <a:r>
              <a:t/>
            </a:r>
          </a:p>
          <a:p xmlns:a="http://schemas.openxmlformats.org/drawingml/2006/main">
            <a:r>
              <a:t>Sources:</a:t>
            </a:r>
          </a:p>
          <a:p xmlns:a="http://schemas.openxmlformats.org/drawingml/2006/main">
            <a:r>
              <a:t>- Ring Developer Experience: https://developer.amazon.com/docs/ring/get-started.html</a:t>
            </a:r>
          </a:p>
          <a:p xmlns:a="http://schemas.openxmlformats.org/drawingml/2006/main">
            <a:r>
              <a:t>- Google Nest supported devices: https://developers.google.com/nest/device-access/supported-devices</a:t>
            </a:r>
          </a:p>
          <a:p xmlns:a="http://schemas.openxmlformats.org/drawingml/2006/main">
            <a:r>
              <a:t>- Camera concept image generated for this presentation. It does not show a branded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prerecorded pool clip. We use staged behavior in shallow water with a dedicated observer. When I activate monitoring, the scan starts and the system assigns each person an ID. Watch Person 02. The box starts green. As the head-submersion evidence persists, the timer appears and the box changes to yellow. At the demo alarm threshold, it turns red and the alert fires. The timeline records what changed and why. State accurately whether the run uses real model inference, a recording of a pipeline run, or scripted interface results. Never describe scripted boxes as live model inference.</a:t>
            </a:r>
          </a:p>
          <a:p xmlns:a="http://schemas.openxmlformats.org/drawingml/2006/main">
            <a:r>
              <a:t/>
            </a:r>
          </a:p>
          <a:p xmlns:a="http://schemas.openxmlformats.org/drawingml/2006/main">
            <a:r>
              <a:t>Sources:</a:t>
            </a:r>
          </a:p>
          <a:p xmlns:a="http://schemas.openxmlformats.org/drawingml/2006/main">
            <a:r>
              <a:t>- Frontend: frontend/index.html</a:t>
            </a:r>
          </a:p>
          <a:p xmlns:a="http://schemas.openxmlformats.org/drawingml/2006/main">
            <a:r>
              <a:t>- Fallback visual: presentation/images/demo_hq_tracking_still.png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accuracy number in this presentation comes from synthetic footage. The simulator lacks real glare, splashing, occlusion, camera compression, and the diversity of real people. Our next experiment is real pool footage split by recording session. We will label whether each head is above or below the surface, fine-tune on the training sessions, and evaluate only on separate sessions. We will report detection delay, missed events, false warnings per monitored hour, and identity errors. Life Vision remains a supervision aid. It does not replace watching children, pool fences, or lifeguards. We are not asking families to buy another camera. We are testing whether the camera they already have can recognize when the water stops looking normal.</a:t>
            </a:r>
          </a:p>
          <a:p xmlns:a="http://schemas.openxmlformats.org/drawingml/2006/main">
            <a:r>
              <a:t/>
            </a:r>
          </a:p>
          <a:p xmlns:a="http://schemas.openxmlformats.org/drawingml/2006/main">
            <a:r>
              <a:t>Sources:</a:t>
            </a:r>
          </a:p>
          <a:p xmlns:a="http://schemas.openxmlformats.org/drawingml/2006/main">
            <a:r>
              <a:t>- Repository decisions: docs/global/decisions.md</a:t>
            </a:r>
          </a:p>
          <a:p xmlns:a="http://schemas.openxmlformats.org/drawingml/2006/main">
            <a:r>
              <a:t>- Evaluation plan: docs/global/architecture.md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c7c7df5e824c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24753e6b0e44f5" /><Relationship Type="http://schemas.openxmlformats.org/officeDocument/2006/relationships/slideLayout" Target="/ppt/slideLayouts/slideLayout1.xml" Id="Re1222fb3960145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222fb3960145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c7bbc815dc48dd" /><Relationship Type="http://schemas.openxmlformats.org/officeDocument/2006/relationships/image" Target="/ppt/media/image.png" Id="Rd6269bf9e0f0459d" /><Relationship Type="http://schemas.openxmlformats.org/officeDocument/2006/relationships/notesSlide" Target="/ppt/notesSlides/notesSlide1.xml" Id="R01c84a4034a14e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6a4509803e4814" /><Relationship Type="http://schemas.openxmlformats.org/officeDocument/2006/relationships/image" Target="/ppt/media/image2.png" Id="R785c5754a9a04d41" /><Relationship Type="http://schemas.openxmlformats.org/officeDocument/2006/relationships/notesSlide" Target="/ppt/notesSlides/notesSlide2.xml" Id="R3226216e31344a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f6913dd2644c91" /><Relationship Type="http://schemas.openxmlformats.org/officeDocument/2006/relationships/notesSlide" Target="/ppt/notesSlides/notesSlide3.xml" Id="Rfe9f99293655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a8d70280c54a2b" /><Relationship Type="http://schemas.openxmlformats.org/officeDocument/2006/relationships/notesSlide" Target="/ppt/notesSlides/notesSlide4.xml" Id="Re4420c2a78774d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04c2dde2d74e54" /><Relationship Type="http://schemas.openxmlformats.org/officeDocument/2006/relationships/image" Target="/ppt/media/image3.png" Id="Rf1ee16dcf670425f" /><Relationship Type="http://schemas.openxmlformats.org/officeDocument/2006/relationships/image" Target="/ppt/media/image4.png" Id="R71c490dabc3c4469" /><Relationship Type="http://schemas.openxmlformats.org/officeDocument/2006/relationships/notesSlide" Target="/ppt/notesSlides/notesSlide5.xml" Id="R9db07d0ba3c54e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b2e12be5f54685" /><Relationship Type="http://schemas.openxmlformats.org/officeDocument/2006/relationships/chart" Target="/ppt/slides/charts/chart1.xml" Id="Rc47364155237411c" /><Relationship Type="http://schemas.openxmlformats.org/officeDocument/2006/relationships/notesSlide" Target="/ppt/notesSlides/notesSlide6.xml" Id="Rfc6c96518d904e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94e9e9cccc4293" /><Relationship Type="http://schemas.openxmlformats.org/officeDocument/2006/relationships/image" Target="/ppt/media/image5.png" Id="Re7fa718d281b4426" /><Relationship Type="http://schemas.openxmlformats.org/officeDocument/2006/relationships/notesSlide" Target="/ppt/notesSlides/notesSlide7.xml" Id="R7e00243db8134f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1aebd8ef304750" /><Relationship Type="http://schemas.openxmlformats.org/officeDocument/2006/relationships/image" Target="/ppt/media/image6.png" Id="Rbda381b8617a4703" /><Relationship Type="http://schemas.openxmlformats.org/officeDocument/2006/relationships/notesSlide" Target="/ppt/notesSlides/notesSlide8.xml" Id="R8a0559568faf4b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ed7589a0ee4eb5" /><Relationship Type="http://schemas.openxmlformats.org/officeDocument/2006/relationships/image" Target="/ppt/media/image7.png" Id="Rb1ad329370fe436d" /><Relationship Type="http://schemas.openxmlformats.org/officeDocument/2006/relationships/notesSlide" Target="/ppt/notesSlides/notesSlide9.xml" Id="R0d420e1728dd4f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256ff9a03e4cb9" /><Relationship Type="http://schemas.openxmlformats.org/officeDocument/2006/relationships/notesSlide" Target="/ppt/notesSlides/notesSlide10.xml" Id="R37d116cada1e42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Recall, head fully under</c:v>
          </c:tx>
          <c:spPr>
            <a:solidFill xmlns:a="http://schemas.openxmlformats.org/drawingml/2006/main">
              <a:srgbClr val="087F72"/>
            </a:solidFill>
          </c:spPr>
          <c:dPt>
            <c:idx val="0"/>
            <c:invertIfNegative val="0"/>
            <c:spPr>
              <a:solidFill xmlns:a="http://schemas.openxmlformats.org/drawingml/2006/main">
                <a:srgbClr val="5E7182"/>
              </a:solidFill>
            </c:spPr>
          </c:dPt>
          <c:dPt>
            <c:idx val="1"/>
            <c:invertIfNegative val="0"/>
            <c:spPr>
              <a:solidFill xmlns:a="http://schemas.openxmlformats.org/drawingml/2006/main">
                <a:srgbClr val="2B6FAE"/>
              </a:solidFill>
            </c:spPr>
          </c:dPt>
          <c:dPt>
            <c:idx val="2"/>
            <c:invertIfNegative val="0"/>
            <c:spPr>
              <a:solidFill xmlns:a="http://schemas.openxmlformats.org/drawingml/2006/main">
                <a:srgbClr val="A86E00"/>
              </a:solidFill>
            </c:spPr>
          </c:dPt>
          <c:dPt>
            <c:idx val="3"/>
            <c:invertIfNegative val="0"/>
            <c:spPr>
              <a:solidFill xmlns:a="http://schemas.openxmlformats.org/drawingml/2006/main">
                <a:srgbClr val="087F72"/>
              </a:solidFill>
            </c:spPr>
          </c:dPt>
          <c:cat>
            <c:strRef>
              <c:f>'Chart Data'!$A$2:$A$5</c:f>
              <c:strCache>
                <c:ptCount val="4"/>
                <c:pt idx="0">
                  <c:v>Stock YOLO11n</c:v>
                </c:pt>
                <c:pt idx="1">
                  <c:v>Stock RF-DETR-S</c:v>
                </c:pt>
                <c:pt idx="2">
                  <c:v>MuJoCo tuned YOLO</c:v>
                </c:pt>
                <c:pt idx="3">
                  <c:v>Isaac tuned YOLO</c:v>
                </c:pt>
              </c:strCache>
            </c:strRef>
          </c:cat>
          <c:val>
            <c:numRef>
              <c:f>'Chart Data'!$B$2:$B$5</c:f>
              <c:numCache>
                <c:formatCode>0"%"</c:formatCode>
                <c:ptCount val="4"/>
                <c:pt idx="0">
                  <c:v>16</c:v>
                </c:pt>
                <c:pt idx="1">
                  <c:v>75</c:v>
                </c:pt>
                <c:pt idx="2">
                  <c:v>83</c:v>
                </c:pt>
                <c:pt idx="3">
                  <c:v>95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718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324D"/>
                </a:solidFill>
                <a:latin typeface="Arial"/>
                <a:ea typeface="Arial"/>
                <a:cs typeface="Arial"/>
              </a:defRPr>
            </a:pPr>
          </a:p>
        </c:txPr>
        <c:crossAx val="48650112"/>
        <c:crossBetween val="between"/>
      </c:valAx>
      <c:spPr>
        <a:solidFill xmlns:a="http://schemas.openxmlformats.org/drawingml/2006/main">
          <a:srgbClr val="F8FAFC"/>
        </a:solidFill>
        <a:ln xmlns:a="http://schemas.openxmlformats.org/drawingml/2006/main" w="0">
          <a:noFill/>
        </a:ln>
      </c:spPr>
    </c:plotArea>
    <c:plotVisOnly val="1"/>
  </c:chart>
  <c:spPr>
    <a:solidFill xmlns:a="http://schemas.openxmlformats.org/drawingml/2006/main">
      <a:srgbClr val="F8FA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6269bf9e0f0459d"/>
          <a:srcRect xmlns:a="http://schemas.openxmlformats.org/drawingml/2006/main" l="25092" t="0" r="25092" b="0"/>
          <a:stretch xmlns:a="http://schemas.openxmlformats.org/drawingml/2006/main">
            <a:fillRect l="0" t="0" r="0" b="0"/>
          </a:stretch>
        </p:blipFill>
        <p:spPr>
          <a:xfrm xmlns:a="http://schemas.openxmlformats.org/drawingml/2006/main">
            <a:off x="6648450" y="609600"/>
            <a:ext cx="4991100" cy="5638800"/>
          </a:xfrm>
          <a:prstGeom xmlns:a="http://schemas.openxmlformats.org/drawingml/2006/main" prst="roundRect">
            <a:avLst>
              <a:gd name="adj" fmla="val 4580"/>
            </a:avLst>
          </a:prstGeom>
        </p:spPr>
      </p:pic>
      <p:sp>
        <p:nvSpPr>
          <p:cNvPr id="2" name="">
            <a:extLst xmlns:a="http://schemas.openxmlformats.org/drawingml/2006/main">
              <a:ext uri="{FF2B5EF4-FFF2-40B4-BE49-F238E27FC236}">
                <a16:creationId xmlns:a16="http://schemas.microsoft.com/office/drawing/2014/main" id="{2FB5D6FE-40D1-4F1F-8EBD-0F9E7719B9A4}"/>
              </a:ext>
            </a:extLst>
          </p:cNvPr>
          <p:cNvSpPr>
            <a:spLocks xmlns:a="http://schemas.openxmlformats.org/drawingml/2006/main" noGrp="1"/>
          </p:cNvSpPr>
          <p:nvPr/>
        </p:nvSpPr>
        <p:spPr>
          <a:xfrm xmlns:a="http://schemas.openxmlformats.org/drawingml/2006/main">
            <a:off x="6076950" y="609600"/>
            <a:ext cx="19050" cy="5638800"/>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9E75AF-E1E7-4EB4-9746-FF9903465AD0}"/>
              </a:ext>
            </a:extLst>
          </p:cNvPr>
          <p:cNvSpPr>
            <a:spLocks xmlns:a="http://schemas.openxmlformats.org/drawingml/2006/main" noGrp="1"/>
          </p:cNvSpPr>
          <p:nvPr/>
        </p:nvSpPr>
        <p:spPr>
          <a:xfrm xmlns:a="http://schemas.openxmlformats.org/drawingml/2006/main">
            <a:off x="552450" y="876300"/>
            <a:ext cx="361950" cy="361950"/>
          </a:xfrm>
          <a:prstGeom xmlns:a="http://schemas.openxmlformats.org/drawingml/2006/main" prst="roundRect">
            <a:avLst>
              <a:gd name="adj" fmla="val 26316"/>
            </a:avLst>
          </a:prstGeom>
          <a:solidFill xmlns:a="http://schemas.openxmlformats.org/drawingml/2006/main">
            <a:srgbClr val="087F7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F476F4-17BA-405F-BF3A-F0E18433687B}"/>
              </a:ext>
            </a:extLst>
          </p:cNvPr>
          <p:cNvSpPr>
            <a:spLocks xmlns:a="http://schemas.openxmlformats.org/drawingml/2006/main" noGrp="1"/>
          </p:cNvSpPr>
          <p:nvPr/>
        </p:nvSpPr>
        <p:spPr>
          <a:xfrm xmlns:a="http://schemas.openxmlformats.org/drawingml/2006/main">
            <a:off x="628650" y="1057275"/>
            <a:ext cx="47625" cy="104775"/>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A4CDE9-4125-4546-A76B-C19F47B200DD}"/>
              </a:ext>
            </a:extLst>
          </p:cNvPr>
          <p:cNvSpPr>
            <a:spLocks xmlns:a="http://schemas.openxmlformats.org/drawingml/2006/main" noGrp="1"/>
          </p:cNvSpPr>
          <p:nvPr/>
        </p:nvSpPr>
        <p:spPr>
          <a:xfrm xmlns:a="http://schemas.openxmlformats.org/drawingml/2006/main">
            <a:off x="714375" y="962025"/>
            <a:ext cx="47625" cy="200025"/>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C550E4-9F6F-4FF2-9181-D568A2F806EC}"/>
              </a:ext>
            </a:extLst>
          </p:cNvPr>
          <p:cNvSpPr>
            <a:spLocks xmlns:a="http://schemas.openxmlformats.org/drawingml/2006/main" noGrp="1"/>
          </p:cNvSpPr>
          <p:nvPr/>
        </p:nvSpPr>
        <p:spPr>
          <a:xfrm xmlns:a="http://schemas.openxmlformats.org/drawingml/2006/main">
            <a:off x="800100" y="1009650"/>
            <a:ext cx="47625" cy="1524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4FBE6F-12DB-409C-A933-F4DF024F6778}"/>
              </a:ext>
            </a:extLst>
          </p:cNvPr>
          <p:cNvSpPr>
            <a:spLocks xmlns:a="http://schemas.openxmlformats.org/drawingml/2006/main" noGrp="1"/>
          </p:cNvSpPr>
          <p:nvPr/>
        </p:nvSpPr>
        <p:spPr>
          <a:xfrm xmlns:a="http://schemas.openxmlformats.org/drawingml/2006/main">
            <a:off x="552450" y="1647825"/>
            <a:ext cx="409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defRPr sz="4050" b="1">
                <a:solidFill>
                  <a:srgbClr val="17324D"/>
                </a:solidFill>
                <a:latin typeface="Arial"/>
                <a:ea typeface="Arial"/>
                <a:cs typeface="Arial"/>
              </a:defRPr>
            </a:pPr>
            <a:r>
              <a:rPr sz="4050" b="1">
                <a:solidFill>
                  <a:srgbClr val="17324D"/>
                </a:solidFill>
                <a:latin typeface="Arial"/>
                <a:ea typeface="Arial"/>
                <a:cs typeface="Arial"/>
              </a:rPr>
              <a:t>LIFE VISION</a:t>
            </a:r>
          </a:p>
        </p:txBody>
      </p:sp>
      <p:sp>
        <p:nvSpPr>
          <p:cNvPr id="8" name="">
            <a:extLst xmlns:a="http://schemas.openxmlformats.org/drawingml/2006/main">
              <a:ext uri="{FF2B5EF4-FFF2-40B4-BE49-F238E27FC236}">
                <a16:creationId xmlns:a16="http://schemas.microsoft.com/office/drawing/2014/main" id="{FB63CEBA-0A29-48A6-B677-7B620A0113B4}"/>
              </a:ext>
            </a:extLst>
          </p:cNvPr>
          <p:cNvSpPr>
            <a:spLocks xmlns:a="http://schemas.openxmlformats.org/drawingml/2006/main" noGrp="1"/>
          </p:cNvSpPr>
          <p:nvPr/>
        </p:nvSpPr>
        <p:spPr>
          <a:xfrm xmlns:a="http://schemas.openxmlformats.org/drawingml/2006/main">
            <a:off x="552450" y="2428875"/>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087F72"/>
                </a:solidFill>
                <a:latin typeface="Arial"/>
                <a:ea typeface="Arial"/>
                <a:cs typeface="Arial"/>
              </a:defRPr>
            </a:pPr>
            <a:r>
              <a:rPr sz="1875" b="0">
                <a:solidFill>
                  <a:srgbClr val="087F72"/>
                </a:solidFill>
                <a:latin typeface="Arial"/>
                <a:ea typeface="Arial"/>
                <a:cs typeface="Arial"/>
              </a:rPr>
              <a:t>Explainable pool-risk monitoring</a:t>
            </a:r>
          </a:p>
          <a:p xmlns:a="http://schemas.openxmlformats.org/drawingml/2006/main">
            <a:pPr>
              <a:defRPr sz="1875" b="0">
                <a:solidFill>
                  <a:srgbClr val="087F72"/>
                </a:solidFill>
                <a:latin typeface="Arial"/>
                <a:ea typeface="Arial"/>
                <a:cs typeface="Arial"/>
              </a:defRPr>
            </a:pPr>
            <a:r>
              <a:rPr sz="1875" b="0">
                <a:solidFill>
                  <a:srgbClr val="087F72"/>
                </a:solidFill>
                <a:latin typeface="Arial"/>
                <a:ea typeface="Arial"/>
                <a:cs typeface="Arial"/>
              </a:rPr>
              <a:t>for cameras families already own</a:t>
            </a:r>
          </a:p>
        </p:txBody>
      </p:sp>
      <p:sp>
        <p:nvSpPr>
          <p:cNvPr id="9" name="">
            <a:extLst xmlns:a="http://schemas.openxmlformats.org/drawingml/2006/main">
              <a:ext uri="{FF2B5EF4-FFF2-40B4-BE49-F238E27FC236}">
                <a16:creationId xmlns:a16="http://schemas.microsoft.com/office/drawing/2014/main" id="{1E8E5A08-CCCB-45DA-BD67-5934CCBF9E95}"/>
              </a:ext>
            </a:extLst>
          </p:cNvPr>
          <p:cNvSpPr>
            <a:spLocks xmlns:a="http://schemas.openxmlformats.org/drawingml/2006/main" noGrp="1"/>
          </p:cNvSpPr>
          <p:nvPr/>
        </p:nvSpPr>
        <p:spPr>
          <a:xfrm xmlns:a="http://schemas.openxmlformats.org/drawingml/2006/main">
            <a:off x="552450" y="56578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17324D"/>
                </a:solidFill>
                <a:latin typeface="Arial"/>
                <a:ea typeface="Arial"/>
                <a:cs typeface="Arial"/>
              </a:defRPr>
            </a:pPr>
            <a:r>
              <a:rPr sz="1050" b="1">
                <a:solidFill>
                  <a:srgbClr val="17324D"/>
                </a:solidFill>
                <a:latin typeface="Arial"/>
                <a:ea typeface="Arial"/>
                <a:cs typeface="Arial"/>
              </a:rPr>
              <a:t>Hackathon prototype</a:t>
            </a:r>
          </a:p>
        </p:txBody>
      </p:sp>
      <p:sp>
        <p:nvSpPr>
          <p:cNvPr id="10" name="">
            <a:extLst xmlns:a="http://schemas.openxmlformats.org/drawingml/2006/main">
              <a:ext uri="{FF2B5EF4-FFF2-40B4-BE49-F238E27FC236}">
                <a16:creationId xmlns:a16="http://schemas.microsoft.com/office/drawing/2014/main" id="{EF29C00F-0527-4E3A-B176-5FED2773BE7A}"/>
              </a:ext>
            </a:extLst>
          </p:cNvPr>
          <p:cNvSpPr>
            <a:spLocks xmlns:a="http://schemas.openxmlformats.org/drawingml/2006/main" noGrp="1"/>
          </p:cNvSpPr>
          <p:nvPr/>
        </p:nvSpPr>
        <p:spPr>
          <a:xfrm xmlns:a="http://schemas.openxmlformats.org/drawingml/2006/main">
            <a:off x="552450" y="59912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E7182"/>
                </a:solidFill>
                <a:latin typeface="Arial"/>
                <a:ea typeface="Arial"/>
                <a:cs typeface="Arial"/>
              </a:defRPr>
            </a:pPr>
            <a:r>
              <a:rPr sz="900" b="0">
                <a:solidFill>
                  <a:srgbClr val="5E7182"/>
                </a:solidFill>
                <a:latin typeface="Arial"/>
                <a:ea typeface="Arial"/>
                <a:cs typeface="Arial"/>
              </a:rPr>
              <a:t>David · Rohan · Sunny · Joanne · Sam</a:t>
            </a:r>
          </a:p>
        </p:txBody>
      </p:sp>
    </p:spTree>
    <p:extLst>
      <p:ext uri="{BB962C8B-B14F-4D97-AF65-F5344CB8AC3E}">
        <p14:creationId xmlns:p14="http://schemas.microsoft.com/office/powerpoint/2010/main" val="209220862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BE5B3B-E898-4DCC-A8B0-B69CD289EB61}"/>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THE USE CASE</a:t>
            </a:r>
          </a:p>
        </p:txBody>
      </p:sp>
      <p:sp>
        <p:nvSpPr>
          <p:cNvPr id="2" name="">
            <a:extLst xmlns:a="http://schemas.openxmlformats.org/drawingml/2006/main">
              <a:ext uri="{FF2B5EF4-FFF2-40B4-BE49-F238E27FC236}">
                <a16:creationId xmlns:a16="http://schemas.microsoft.com/office/drawing/2014/main" id="{688D6BFA-3516-4B0D-8C4C-F41A4085C796}"/>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2B43CAE-58DD-4887-96D8-FB94D6EE3AE3}"/>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5B796B-4A46-44D9-B8F3-93E1EA10F5FF}"/>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235"/>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A short gap in supervision can become a pool emergency</a:t>
            </a:r>
          </a:p>
        </p:txBody>
      </p:sp>
      <p:sp>
        <p:nvSpPr>
          <p:cNvPr id="5" name="">
            <a:extLst xmlns:a="http://schemas.openxmlformats.org/drawingml/2006/main">
              <a:ext uri="{FF2B5EF4-FFF2-40B4-BE49-F238E27FC236}">
                <a16:creationId xmlns:a16="http://schemas.microsoft.com/office/drawing/2014/main" id="{68B65258-59B8-4AEC-B304-CAD2278954F1}"/>
              </a:ext>
            </a:extLst>
          </p:cNvPr>
          <p:cNvSpPr>
            <a:spLocks xmlns:a="http://schemas.openxmlformats.org/drawingml/2006/main" noGrp="1"/>
          </p:cNvSpPr>
          <p:nvPr/>
        </p:nvSpPr>
        <p:spPr>
          <a:xfrm xmlns:a="http://schemas.openxmlformats.org/drawingml/2006/main">
            <a:off x="552450" y="1828800"/>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6150" b="1">
                <a:solidFill>
                  <a:srgbClr val="087F72"/>
                </a:solidFill>
                <a:latin typeface="Arial"/>
                <a:ea typeface="Arial"/>
                <a:cs typeface="Arial"/>
              </a:defRPr>
            </a:pPr>
            <a:r>
              <a:rPr sz="6150" b="1">
                <a:solidFill>
                  <a:srgbClr val="087F72"/>
                </a:solidFill>
                <a:latin typeface="Arial"/>
                <a:ea typeface="Arial"/>
                <a:cs typeface="Arial"/>
              </a:rPr>
              <a:t>61%</a:t>
            </a:r>
          </a:p>
        </p:txBody>
      </p:sp>
      <p:sp>
        <p:nvSpPr>
          <p:cNvPr id="6" name="">
            <a:extLst xmlns:a="http://schemas.openxmlformats.org/drawingml/2006/main">
              <a:ext uri="{FF2B5EF4-FFF2-40B4-BE49-F238E27FC236}">
                <a16:creationId xmlns:a16="http://schemas.microsoft.com/office/drawing/2014/main" id="{A3F75E30-6E4B-4F50-8B0D-0000808CF3E3}"/>
              </a:ext>
            </a:extLst>
          </p:cNvPr>
          <p:cNvSpPr>
            <a:spLocks xmlns:a="http://schemas.openxmlformats.org/drawingml/2006/main" noGrp="1"/>
          </p:cNvSpPr>
          <p:nvPr/>
        </p:nvSpPr>
        <p:spPr>
          <a:xfrm xmlns:a="http://schemas.openxmlformats.org/drawingml/2006/main">
            <a:off x="590550" y="2971800"/>
            <a:ext cx="4000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of reported pool and spa fatalities involving children under five were associated with a gap in adult supervision</a:t>
            </a:r>
          </a:p>
        </p:txBody>
      </p:sp>
      <p:sp>
        <p:nvSpPr>
          <p:cNvPr id="7" name="">
            <a:extLst xmlns:a="http://schemas.openxmlformats.org/drawingml/2006/main">
              <a:ext uri="{FF2B5EF4-FFF2-40B4-BE49-F238E27FC236}">
                <a16:creationId xmlns:a16="http://schemas.microsoft.com/office/drawing/2014/main" id="{1E1FD65F-C5A1-485D-9D08-F86F07BAD5E4}"/>
              </a:ext>
            </a:extLst>
          </p:cNvPr>
          <p:cNvSpPr>
            <a:spLocks xmlns:a="http://schemas.openxmlformats.org/drawingml/2006/main" noGrp="1"/>
          </p:cNvSpPr>
          <p:nvPr/>
        </p:nvSpPr>
        <p:spPr>
          <a:xfrm xmlns:a="http://schemas.openxmlformats.org/drawingml/2006/main">
            <a:off x="590550" y="46672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5E7182"/>
                </a:solidFill>
                <a:latin typeface="Arial"/>
                <a:ea typeface="Arial"/>
                <a:cs typeface="Arial"/>
              </a:defRPr>
            </a:pPr>
            <a:r>
              <a:rPr sz="825" b="1">
                <a:solidFill>
                  <a:srgbClr val="5E7182"/>
                </a:solidFill>
                <a:latin typeface="Arial"/>
                <a:ea typeface="Arial"/>
                <a:cs typeface="Arial"/>
              </a:rPr>
              <a:t>FIRST USE CASE</a:t>
            </a:r>
          </a:p>
        </p:txBody>
      </p:sp>
      <p:sp>
        <p:nvSpPr>
          <p:cNvPr id="8" name="">
            <a:extLst xmlns:a="http://schemas.openxmlformats.org/drawingml/2006/main">
              <a:ext uri="{FF2B5EF4-FFF2-40B4-BE49-F238E27FC236}">
                <a16:creationId xmlns:a16="http://schemas.microsoft.com/office/drawing/2014/main" id="{8D3770C7-3CC1-4448-B149-9A742F1BA611}"/>
              </a:ext>
            </a:extLst>
          </p:cNvPr>
          <p:cNvSpPr>
            <a:spLocks xmlns:a="http://schemas.openxmlformats.org/drawingml/2006/main" noGrp="1"/>
          </p:cNvSpPr>
          <p:nvPr/>
        </p:nvSpPr>
        <p:spPr>
          <a:xfrm xmlns:a="http://schemas.openxmlformats.org/drawingml/2006/main">
            <a:off x="590550" y="4933950"/>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Backyard pool · existing camera · responsible adult nearby</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85c5754a9a04d41"/>
          <a:srcRect xmlns:a="http://schemas.openxmlformats.org/drawingml/2006/main" l="6048" t="0" r="6048" b="0"/>
          <a:stretch xmlns:a="http://schemas.openxmlformats.org/drawingml/2006/main">
            <a:fillRect l="0" t="0" r="0" b="0"/>
          </a:stretch>
        </p:blipFill>
        <p:spPr>
          <a:xfrm xmlns:a="http://schemas.openxmlformats.org/drawingml/2006/main">
            <a:off x="5391150" y="1714500"/>
            <a:ext cx="6248400" cy="4000500"/>
          </a:xfrm>
          <a:prstGeom xmlns:a="http://schemas.openxmlformats.org/drawingml/2006/main" prst="roundRect">
            <a:avLst>
              <a:gd name="adj" fmla="val 4762"/>
            </a:avLst>
          </a:prstGeom>
        </p:spPr>
      </p:pic>
      <p:sp>
        <p:nvSpPr>
          <p:cNvPr id="10" name="">
            <a:extLst xmlns:a="http://schemas.openxmlformats.org/drawingml/2006/main">
              <a:ext uri="{FF2B5EF4-FFF2-40B4-BE49-F238E27FC236}">
                <a16:creationId xmlns:a16="http://schemas.microsoft.com/office/drawing/2014/main" id="{4703C56C-6EB0-42B6-8BFC-0D3D205DB9DE}"/>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CPSC 2024 REPORT · REPORTED FATALITIES, 2019–2021</a:t>
            </a:r>
          </a:p>
        </p:txBody>
      </p:sp>
    </p:spTree>
    <p:extLst>
      <p:ext uri="{BB962C8B-B14F-4D97-AF65-F5344CB8AC3E}">
        <p14:creationId xmlns:p14="http://schemas.microsoft.com/office/powerpoint/2010/main" val="121678937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24" name=""/>
          <p:cNvCxnSpPr>
            <a:stCxn xmlns:a="http://schemas.openxmlformats.org/drawingml/2006/main" id="7" idx="3"/>
            <a:endCxn xmlns:a="http://schemas.openxmlformats.org/drawingml/2006/main" id="9" idx="1"/>
          </p:cNvCxnSpPr>
          <p:nvPr/>
        </p:nvCxnSpPr>
        <p:spPr>
          <a:xfrm xmlns:a="http://schemas.openxmlformats.org/drawingml/2006/main">
            <a:off x="5838825" y="2447925"/>
            <a:ext cx="752475"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a:off x="2819400" y="2447925"/>
            <a:ext cx="752475" cy="0"/>
          </a:xfrm>
          <a:prstGeom xmlns:a="http://schemas.openxmlformats.org/drawingml/2006/main" prst="straightConnector1">
            <a:avLst/>
          </a:prstGeom>
          <a:ln xmlns:a="http://schemas.openxmlformats.org/drawingml/2006/main" w="19050">
            <a:solidFill>
              <a:srgbClr val="5E7182"/>
            </a:solidFill>
            <a:tailEnd type="arrow" w="med" len="med"/>
          </a:ln>
        </p:spPr>
      </p:cxnSp>
      <p:sp>
        <p:nvSpPr>
          <p:cNvPr id="26" name="">
            <a:extLst xmlns:a="http://schemas.openxmlformats.org/drawingml/2006/main">
              <a:ext uri="{FF2B5EF4-FFF2-40B4-BE49-F238E27FC236}">
                <a16:creationId xmlns:a16="http://schemas.microsoft.com/office/drawing/2014/main" id="{1181EB33-3E06-4F72-AB3C-0A6CAA0028AD}"/>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USER INTERACTION</a:t>
            </a:r>
          </a:p>
        </p:txBody>
      </p:sp>
      <p:sp>
        <p:nvSpPr>
          <p:cNvPr id="2" name="">
            <a:extLst xmlns:a="http://schemas.openxmlformats.org/drawingml/2006/main">
              <a:ext uri="{FF2B5EF4-FFF2-40B4-BE49-F238E27FC236}">
                <a16:creationId xmlns:a16="http://schemas.microsoft.com/office/drawing/2014/main" id="{5D1701F8-D820-4E06-9AC7-C9097EEBC0A5}"/>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73B0820-F69B-43F2-A921-821792B2A249}"/>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26EC74-2CCE-4179-9104-63B6CEC5BD4D}"/>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Every alert shows who, why, and for how long</a:t>
            </a:r>
          </a:p>
        </p:txBody>
      </p:sp>
      <p:sp>
        <p:nvSpPr>
          <p:cNvPr id="5" name="">
            <a:extLst xmlns:a="http://schemas.openxmlformats.org/drawingml/2006/main">
              <a:ext uri="{FF2B5EF4-FFF2-40B4-BE49-F238E27FC236}">
                <a16:creationId xmlns:a16="http://schemas.microsoft.com/office/drawing/2014/main" id="{0AF07CE7-5761-48E8-8085-6D883C5A833A}"/>
              </a:ext>
            </a:extLst>
          </p:cNvPr>
          <p:cNvSpPr>
            <a:spLocks xmlns:a="http://schemas.openxmlformats.org/drawingml/2006/main" noGrp="1"/>
          </p:cNvSpPr>
          <p:nvPr/>
        </p:nvSpPr>
        <p:spPr>
          <a:xfrm xmlns:a="http://schemas.openxmlformats.org/drawingml/2006/main">
            <a:off x="552450" y="2095500"/>
            <a:ext cx="226695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9050">
            <a:solidFill>
              <a:srgbClr val="087F72"/>
            </a:solidFill>
          </a:ln>
        </p:spPr>
      </p:sp>
      <p:sp>
        <p:nvSpPr>
          <p:cNvPr id="6" name="">
            <a:extLst xmlns:a="http://schemas.openxmlformats.org/drawingml/2006/main">
              <a:ext uri="{FF2B5EF4-FFF2-40B4-BE49-F238E27FC236}">
                <a16:creationId xmlns:a16="http://schemas.microsoft.com/office/drawing/2014/main" id="{6924797A-55EE-41E7-8876-FC159ECE7DB4}"/>
              </a:ext>
            </a:extLst>
          </p:cNvPr>
          <p:cNvSpPr>
            <a:spLocks xmlns:a="http://schemas.openxmlformats.org/drawingml/2006/main" noGrp="1"/>
          </p:cNvSpPr>
          <p:nvPr/>
        </p:nvSpPr>
        <p:spPr>
          <a:xfrm xmlns:a="http://schemas.openxmlformats.org/drawingml/2006/main">
            <a:off x="666750"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87F72"/>
                </a:solidFill>
                <a:latin typeface="Arial"/>
                <a:ea typeface="Arial"/>
                <a:cs typeface="Arial"/>
              </a:defRPr>
            </a:pPr>
            <a:r>
              <a:rPr sz="1275" b="1">
                <a:solidFill>
                  <a:srgbClr val="087F72"/>
                </a:solidFill>
                <a:latin typeface="Arial"/>
                <a:ea typeface="Arial"/>
                <a:cs typeface="Arial"/>
              </a:rPr>
              <a:t>GREEN</a:t>
            </a:r>
          </a:p>
          <a:p xmlns:a="http://schemas.openxmlformats.org/drawingml/2006/main">
            <a:pPr>
              <a:defRPr sz="1275" b="1">
                <a:solidFill>
                  <a:srgbClr val="087F72"/>
                </a:solidFill>
                <a:latin typeface="Arial"/>
                <a:ea typeface="Arial"/>
                <a:cs typeface="Arial"/>
              </a:defRPr>
            </a:pPr>
            <a:r>
              <a:rPr sz="1275" b="1">
                <a:solidFill>
                  <a:srgbClr val="087F72"/>
                </a:solidFill>
                <a:latin typeface="Arial"/>
                <a:ea typeface="Arial"/>
                <a:cs typeface="Arial"/>
              </a:rPr>
              <a:t>tracked normally</a:t>
            </a:r>
          </a:p>
        </p:txBody>
      </p:sp>
      <p:sp>
        <p:nvSpPr>
          <p:cNvPr id="7" name="">
            <a:extLst xmlns:a="http://schemas.openxmlformats.org/drawingml/2006/main">
              <a:ext uri="{FF2B5EF4-FFF2-40B4-BE49-F238E27FC236}">
                <a16:creationId xmlns:a16="http://schemas.microsoft.com/office/drawing/2014/main" id="{A3519441-6970-4906-8ABE-E1ACCD0CCA09}"/>
              </a:ext>
            </a:extLst>
          </p:cNvPr>
          <p:cNvSpPr>
            <a:spLocks xmlns:a="http://schemas.openxmlformats.org/drawingml/2006/main" noGrp="1"/>
          </p:cNvSpPr>
          <p:nvPr/>
        </p:nvSpPr>
        <p:spPr>
          <a:xfrm xmlns:a="http://schemas.openxmlformats.org/drawingml/2006/main">
            <a:off x="3571875" y="2095500"/>
            <a:ext cx="226695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9050">
            <a:solidFill>
              <a:srgbClr val="A86E00"/>
            </a:solidFill>
          </a:ln>
        </p:spPr>
      </p:sp>
      <p:sp>
        <p:nvSpPr>
          <p:cNvPr id="8" name="">
            <a:extLst xmlns:a="http://schemas.openxmlformats.org/drawingml/2006/main">
              <a:ext uri="{FF2B5EF4-FFF2-40B4-BE49-F238E27FC236}">
                <a16:creationId xmlns:a16="http://schemas.microsoft.com/office/drawing/2014/main" id="{9F33DB2C-2EFD-4B1A-86F2-E7948152D71A}"/>
              </a:ext>
            </a:extLst>
          </p:cNvPr>
          <p:cNvSpPr>
            <a:spLocks xmlns:a="http://schemas.openxmlformats.org/drawingml/2006/main" noGrp="1"/>
          </p:cNvSpPr>
          <p:nvPr/>
        </p:nvSpPr>
        <p:spPr>
          <a:xfrm xmlns:a="http://schemas.openxmlformats.org/drawingml/2006/main">
            <a:off x="3686175"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A86E00"/>
                </a:solidFill>
                <a:latin typeface="Arial"/>
                <a:ea typeface="Arial"/>
                <a:cs typeface="Arial"/>
              </a:defRPr>
            </a:pPr>
            <a:r>
              <a:rPr sz="1275" b="1">
                <a:solidFill>
                  <a:srgbClr val="A86E00"/>
                </a:solidFill>
                <a:latin typeface="Arial"/>
                <a:ea typeface="Arial"/>
                <a:cs typeface="Arial"/>
              </a:rPr>
              <a:t>YELLOW</a:t>
            </a:r>
          </a:p>
          <a:p xmlns:a="http://schemas.openxmlformats.org/drawingml/2006/main">
            <a:pPr>
              <a:defRPr sz="1275" b="1">
                <a:solidFill>
                  <a:srgbClr val="A86E00"/>
                </a:solidFill>
                <a:latin typeface="Arial"/>
                <a:ea typeface="Arial"/>
                <a:cs typeface="Arial"/>
              </a:defRPr>
            </a:pPr>
            <a:r>
              <a:rPr sz="1275" b="1">
                <a:solidFill>
                  <a:srgbClr val="A86E00"/>
                </a:solidFill>
                <a:latin typeface="Arial"/>
                <a:ea typeface="Arial"/>
                <a:cs typeface="Arial"/>
              </a:rPr>
              <a:t>warning timer</a:t>
            </a:r>
          </a:p>
        </p:txBody>
      </p:sp>
      <p:sp>
        <p:nvSpPr>
          <p:cNvPr id="9" name="">
            <a:extLst xmlns:a="http://schemas.openxmlformats.org/drawingml/2006/main">
              <a:ext uri="{FF2B5EF4-FFF2-40B4-BE49-F238E27FC236}">
                <a16:creationId xmlns:a16="http://schemas.microsoft.com/office/drawing/2014/main" id="{CBF2D678-AC7A-43D5-9C38-7622E2D7C236}"/>
              </a:ext>
            </a:extLst>
          </p:cNvPr>
          <p:cNvSpPr>
            <a:spLocks xmlns:a="http://schemas.openxmlformats.org/drawingml/2006/main" noGrp="1"/>
          </p:cNvSpPr>
          <p:nvPr/>
        </p:nvSpPr>
        <p:spPr>
          <a:xfrm xmlns:a="http://schemas.openxmlformats.org/drawingml/2006/main">
            <a:off x="6591300" y="2095500"/>
            <a:ext cx="226695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9050">
            <a:solidFill>
              <a:srgbClr val="C43D4D"/>
            </a:solidFill>
          </a:ln>
        </p:spPr>
      </p:sp>
      <p:sp>
        <p:nvSpPr>
          <p:cNvPr id="10" name="">
            <a:extLst xmlns:a="http://schemas.openxmlformats.org/drawingml/2006/main">
              <a:ext uri="{FF2B5EF4-FFF2-40B4-BE49-F238E27FC236}">
                <a16:creationId xmlns:a16="http://schemas.microsoft.com/office/drawing/2014/main" id="{036F1127-0E09-48DD-8A1B-FF59850AE888}"/>
              </a:ext>
            </a:extLst>
          </p:cNvPr>
          <p:cNvSpPr>
            <a:spLocks xmlns:a="http://schemas.openxmlformats.org/drawingml/2006/main" noGrp="1"/>
          </p:cNvSpPr>
          <p:nvPr/>
        </p:nvSpPr>
        <p:spPr>
          <a:xfrm xmlns:a="http://schemas.openxmlformats.org/drawingml/2006/main">
            <a:off x="6705600"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C43D4D"/>
                </a:solidFill>
                <a:latin typeface="Arial"/>
                <a:ea typeface="Arial"/>
                <a:cs typeface="Arial"/>
              </a:defRPr>
            </a:pPr>
            <a:r>
              <a:rPr sz="1275" b="1">
                <a:solidFill>
                  <a:srgbClr val="C43D4D"/>
                </a:solidFill>
                <a:latin typeface="Arial"/>
                <a:ea typeface="Arial"/>
                <a:cs typeface="Arial"/>
              </a:rPr>
              <a:t>RED</a:t>
            </a:r>
          </a:p>
          <a:p xmlns:a="http://schemas.openxmlformats.org/drawingml/2006/main">
            <a:pPr>
              <a:defRPr sz="1275" b="1">
                <a:solidFill>
                  <a:srgbClr val="C43D4D"/>
                </a:solidFill>
                <a:latin typeface="Arial"/>
                <a:ea typeface="Arial"/>
                <a:cs typeface="Arial"/>
              </a:defRPr>
            </a:pPr>
            <a:r>
              <a:rPr sz="1275" b="1">
                <a:solidFill>
                  <a:srgbClr val="C43D4D"/>
                </a:solidFill>
                <a:latin typeface="Arial"/>
                <a:ea typeface="Arial"/>
                <a:cs typeface="Arial"/>
              </a:rPr>
              <a:t>check the pool</a:t>
            </a:r>
          </a:p>
        </p:txBody>
      </p:sp>
      <p:sp>
        <p:nvSpPr>
          <p:cNvPr id="13" name="">
            <a:extLst xmlns:a="http://schemas.openxmlformats.org/drawingml/2006/main">
              <a:ext uri="{FF2B5EF4-FFF2-40B4-BE49-F238E27FC236}">
                <a16:creationId xmlns:a16="http://schemas.microsoft.com/office/drawing/2014/main" id="{811BEB78-77E6-490E-ACD0-73476798EAC3}"/>
              </a:ext>
            </a:extLst>
          </p:cNvPr>
          <p:cNvSpPr>
            <a:spLocks xmlns:a="http://schemas.openxmlformats.org/drawingml/2006/main" noGrp="1"/>
          </p:cNvSpPr>
          <p:nvPr/>
        </p:nvSpPr>
        <p:spPr>
          <a:xfrm xmlns:a="http://schemas.openxmlformats.org/drawingml/2006/main">
            <a:off x="2724150" y="1752600"/>
            <a:ext cx="971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Head evidence changes</a:t>
            </a:r>
          </a:p>
        </p:txBody>
      </p:sp>
      <p:sp>
        <p:nvSpPr>
          <p:cNvPr id="14" name="">
            <a:extLst xmlns:a="http://schemas.openxmlformats.org/drawingml/2006/main">
              <a:ext uri="{FF2B5EF4-FFF2-40B4-BE49-F238E27FC236}">
                <a16:creationId xmlns:a16="http://schemas.microsoft.com/office/drawing/2014/main" id="{1E907AE6-5B70-4913-8AA6-C3C797C5179D}"/>
              </a:ext>
            </a:extLst>
          </p:cNvPr>
          <p:cNvSpPr>
            <a:spLocks xmlns:a="http://schemas.openxmlformats.org/drawingml/2006/main" noGrp="1"/>
          </p:cNvSpPr>
          <p:nvPr/>
        </p:nvSpPr>
        <p:spPr>
          <a:xfrm xmlns:a="http://schemas.openxmlformats.org/drawingml/2006/main">
            <a:off x="5743575" y="1752600"/>
            <a:ext cx="971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5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Condition persists</a:t>
            </a:r>
          </a:p>
        </p:txBody>
      </p:sp>
      <p:sp>
        <p:nvSpPr>
          <p:cNvPr id="15" name="">
            <a:extLst xmlns:a="http://schemas.openxmlformats.org/drawingml/2006/main">
              <a:ext uri="{FF2B5EF4-FFF2-40B4-BE49-F238E27FC236}">
                <a16:creationId xmlns:a16="http://schemas.microsoft.com/office/drawing/2014/main" id="{5D1B1901-4CAD-4052-A815-E57B4E390918}"/>
              </a:ext>
            </a:extLst>
          </p:cNvPr>
          <p:cNvSpPr>
            <a:spLocks xmlns:a="http://schemas.openxmlformats.org/drawingml/2006/main" noGrp="1"/>
          </p:cNvSpPr>
          <p:nvPr/>
        </p:nvSpPr>
        <p:spPr>
          <a:xfrm xmlns:a="http://schemas.openxmlformats.org/drawingml/2006/main">
            <a:off x="9401175" y="1857375"/>
            <a:ext cx="2238375" cy="1409700"/>
          </a:xfrm>
          <a:prstGeom xmlns:a="http://schemas.openxmlformats.org/drawingml/2006/main" prst="roundRect">
            <a:avLst>
              <a:gd name="adj" fmla="val 10811"/>
            </a:avLst>
          </a:prstGeom>
          <a:solidFill xmlns:a="http://schemas.openxmlformats.org/drawingml/2006/main">
            <a:srgbClr val="EEF5F6"/>
          </a:solidFill>
          <a:ln xmlns:a="http://schemas.openxmlformats.org/drawingml/2006/main" w="9525">
            <a:solidFill>
              <a:srgbClr val="D7E1E7"/>
            </a:solidFill>
          </a:ln>
        </p:spPr>
      </p:sp>
      <p:sp>
        <p:nvSpPr>
          <p:cNvPr id="16" name="">
            <a:extLst xmlns:a="http://schemas.openxmlformats.org/drawingml/2006/main">
              <a:ext uri="{FF2B5EF4-FFF2-40B4-BE49-F238E27FC236}">
                <a16:creationId xmlns:a16="http://schemas.microsoft.com/office/drawing/2014/main" id="{64987306-37D8-4EA6-B7AE-C66A6315B4F8}"/>
              </a:ext>
            </a:extLst>
          </p:cNvPr>
          <p:cNvSpPr>
            <a:spLocks xmlns:a="http://schemas.openxmlformats.org/drawingml/2006/main" noGrp="1"/>
          </p:cNvSpPr>
          <p:nvPr/>
        </p:nvSpPr>
        <p:spPr>
          <a:xfrm xmlns:a="http://schemas.openxmlformats.org/drawingml/2006/main">
            <a:off x="9591675" y="2028825"/>
            <a:ext cx="1857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17324D"/>
                </a:solidFill>
                <a:latin typeface="Arial"/>
                <a:ea typeface="Arial"/>
                <a:cs typeface="Arial"/>
              </a:defRPr>
            </a:pPr>
            <a:r>
              <a:rPr sz="900" b="1">
                <a:solidFill>
                  <a:srgbClr val="17324D"/>
                </a:solidFill>
                <a:latin typeface="Arial"/>
                <a:ea typeface="Arial"/>
                <a:cs typeface="Arial"/>
              </a:rPr>
              <a:t>PERSON 02</a:t>
            </a:r>
          </a:p>
        </p:txBody>
      </p:sp>
      <p:sp>
        <p:nvSpPr>
          <p:cNvPr id="17" name="">
            <a:extLst xmlns:a="http://schemas.openxmlformats.org/drawingml/2006/main">
              <a:ext uri="{FF2B5EF4-FFF2-40B4-BE49-F238E27FC236}">
                <a16:creationId xmlns:a16="http://schemas.microsoft.com/office/drawing/2014/main" id="{627554D5-5D53-4BAA-A2EF-6967A49F8C94}"/>
              </a:ext>
            </a:extLst>
          </p:cNvPr>
          <p:cNvSpPr>
            <a:spLocks xmlns:a="http://schemas.openxmlformats.org/drawingml/2006/main" noGrp="1"/>
          </p:cNvSpPr>
          <p:nvPr/>
        </p:nvSpPr>
        <p:spPr>
          <a:xfrm xmlns:a="http://schemas.openxmlformats.org/drawingml/2006/main">
            <a:off x="9591675" y="2381250"/>
            <a:ext cx="185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A86E00"/>
                </a:solidFill>
                <a:latin typeface="Arial"/>
                <a:ea typeface="Arial"/>
                <a:cs typeface="Arial"/>
              </a:defRPr>
            </a:pPr>
            <a:r>
              <a:rPr sz="825" b="1">
                <a:solidFill>
                  <a:srgbClr val="A86E00"/>
                </a:solidFill>
                <a:latin typeface="Arial"/>
                <a:ea typeface="Arial"/>
                <a:cs typeface="Arial"/>
              </a:rPr>
              <a:t>HEAD NOT ABOVE</a:t>
            </a:r>
          </a:p>
        </p:txBody>
      </p:sp>
      <p:sp>
        <p:nvSpPr>
          <p:cNvPr id="18" name="">
            <a:extLst xmlns:a="http://schemas.openxmlformats.org/drawingml/2006/main">
              <a:ext uri="{FF2B5EF4-FFF2-40B4-BE49-F238E27FC236}">
                <a16:creationId xmlns:a16="http://schemas.microsoft.com/office/drawing/2014/main" id="{7D0BB1A7-2542-4B18-9914-B13CF54462A5}"/>
              </a:ext>
            </a:extLst>
          </p:cNvPr>
          <p:cNvSpPr>
            <a:spLocks xmlns:a="http://schemas.openxmlformats.org/drawingml/2006/main" noGrp="1"/>
          </p:cNvSpPr>
          <p:nvPr/>
        </p:nvSpPr>
        <p:spPr>
          <a:xfrm xmlns:a="http://schemas.openxmlformats.org/drawingml/2006/main">
            <a:off x="9591675" y="2638425"/>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3.1 s</a:t>
            </a:r>
          </a:p>
        </p:txBody>
      </p:sp>
      <p:sp>
        <p:nvSpPr>
          <p:cNvPr id="19" name="">
            <a:extLst xmlns:a="http://schemas.openxmlformats.org/drawingml/2006/main">
              <a:ext uri="{FF2B5EF4-FFF2-40B4-BE49-F238E27FC236}">
                <a16:creationId xmlns:a16="http://schemas.microsoft.com/office/drawing/2014/main" id="{DEADF555-EC0D-42AA-BCC9-EAFF5E339387}"/>
              </a:ext>
            </a:extLst>
          </p:cNvPr>
          <p:cNvSpPr>
            <a:spLocks xmlns:a="http://schemas.openxmlformats.org/drawingml/2006/main" noGrp="1"/>
          </p:cNvSpPr>
          <p:nvPr/>
        </p:nvSpPr>
        <p:spPr>
          <a:xfrm xmlns:a="http://schemas.openxmlformats.org/drawingml/2006/main">
            <a:off x="552450" y="39052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1  Choose video or camera</a:t>
            </a:r>
          </a:p>
        </p:txBody>
      </p:sp>
      <p:sp>
        <p:nvSpPr>
          <p:cNvPr id="20" name="">
            <a:extLst xmlns:a="http://schemas.openxmlformats.org/drawingml/2006/main">
              <a:ext uri="{FF2B5EF4-FFF2-40B4-BE49-F238E27FC236}">
                <a16:creationId xmlns:a16="http://schemas.microsoft.com/office/drawing/2014/main" id="{2BCAE680-F9BB-4883-9A16-B6F5E5957AA9}"/>
              </a:ext>
            </a:extLst>
          </p:cNvPr>
          <p:cNvSpPr>
            <a:spLocks xmlns:a="http://schemas.openxmlformats.org/drawingml/2006/main" noGrp="1"/>
          </p:cNvSpPr>
          <p:nvPr/>
        </p:nvSpPr>
        <p:spPr>
          <a:xfrm xmlns:a="http://schemas.openxmlformats.org/drawingml/2006/main">
            <a:off x="4429125" y="39052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2  Activate monitoring</a:t>
            </a:r>
          </a:p>
        </p:txBody>
      </p:sp>
      <p:sp>
        <p:nvSpPr>
          <p:cNvPr id="21" name="">
            <a:extLst xmlns:a="http://schemas.openxmlformats.org/drawingml/2006/main">
              <a:ext uri="{FF2B5EF4-FFF2-40B4-BE49-F238E27FC236}">
                <a16:creationId xmlns:a16="http://schemas.microsoft.com/office/drawing/2014/main" id="{78C7132B-C544-4164-8FC3-12FEECD5B8B0}"/>
              </a:ext>
            </a:extLst>
          </p:cNvPr>
          <p:cNvSpPr>
            <a:spLocks xmlns:a="http://schemas.openxmlformats.org/drawingml/2006/main" noGrp="1"/>
          </p:cNvSpPr>
          <p:nvPr/>
        </p:nvSpPr>
        <p:spPr>
          <a:xfrm xmlns:a="http://schemas.openxmlformats.org/drawingml/2006/main">
            <a:off x="8115300" y="39052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3  Select alert preference</a:t>
            </a:r>
          </a:p>
        </p:txBody>
      </p:sp>
      <p:sp>
        <p:nvSpPr>
          <p:cNvPr id="22" name="">
            <a:extLst xmlns:a="http://schemas.openxmlformats.org/drawingml/2006/main">
              <a:ext uri="{FF2B5EF4-FFF2-40B4-BE49-F238E27FC236}">
                <a16:creationId xmlns:a16="http://schemas.microsoft.com/office/drawing/2014/main" id="{9A715211-8D7F-4318-9534-44E3FD0B5BA9}"/>
              </a:ext>
            </a:extLst>
          </p:cNvPr>
          <p:cNvSpPr>
            <a:spLocks xmlns:a="http://schemas.openxmlformats.org/drawingml/2006/main" noGrp="1"/>
          </p:cNvSpPr>
          <p:nvPr/>
        </p:nvSpPr>
        <p:spPr>
          <a:xfrm xmlns:a="http://schemas.openxmlformats.org/drawingml/2006/main">
            <a:off x="552450" y="47053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5E7182"/>
                </a:solidFill>
                <a:latin typeface="Arial"/>
                <a:ea typeface="Arial"/>
                <a:cs typeface="Arial"/>
              </a:defRPr>
            </a:pPr>
            <a:r>
              <a:rPr sz="1500" b="0">
                <a:solidFill>
                  <a:srgbClr val="5E7182"/>
                </a:solidFill>
                <a:latin typeface="Arial"/>
                <a:ea typeface="Arial"/>
                <a:cs typeface="Arial"/>
              </a:rPr>
              <a:t>A brief Matrix-style scan marks the moment analysis starts. Demo thresholds are always labeled.</a:t>
            </a:r>
          </a:p>
        </p:txBody>
      </p:sp>
      <p:sp>
        <p:nvSpPr>
          <p:cNvPr id="23" name="">
            <a:extLst xmlns:a="http://schemas.openxmlformats.org/drawingml/2006/main">
              <a:ext uri="{FF2B5EF4-FFF2-40B4-BE49-F238E27FC236}">
                <a16:creationId xmlns:a16="http://schemas.microsoft.com/office/drawing/2014/main" id="{56E80807-CC03-46D9-B5FC-A32CE2E09B7F}"/>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RESEARCH PROTOTYPE · SYNTHETIC RESULTS WHERE NOTED</a:t>
            </a:r>
          </a:p>
        </p:txBody>
      </p:sp>
    </p:spTree>
    <p:extLst>
      <p:ext uri="{BB962C8B-B14F-4D97-AF65-F5344CB8AC3E}">
        <p14:creationId xmlns:p14="http://schemas.microsoft.com/office/powerpoint/2010/main" val="87646771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25" name=""/>
          <p:cNvCxnSpPr>
            <a:stCxn xmlns:a="http://schemas.openxmlformats.org/drawingml/2006/main" id="11" idx="3"/>
            <a:endCxn xmlns:a="http://schemas.openxmlformats.org/drawingml/2006/main" id="13" idx="1"/>
          </p:cNvCxnSpPr>
          <p:nvPr/>
        </p:nvCxnSpPr>
        <p:spPr>
          <a:xfrm xmlns:a="http://schemas.openxmlformats.org/drawingml/2006/main">
            <a:off x="8858250" y="2619375"/>
            <a:ext cx="6096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26" name=""/>
          <p:cNvCxnSpPr>
            <a:stCxn xmlns:a="http://schemas.openxmlformats.org/drawingml/2006/main" id="9" idx="3"/>
            <a:endCxn xmlns:a="http://schemas.openxmlformats.org/drawingml/2006/main" id="11" idx="1"/>
          </p:cNvCxnSpPr>
          <p:nvPr/>
        </p:nvCxnSpPr>
        <p:spPr>
          <a:xfrm xmlns:a="http://schemas.openxmlformats.org/drawingml/2006/main">
            <a:off x="6629400" y="2619375"/>
            <a:ext cx="6096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4400550" y="2619375"/>
            <a:ext cx="6096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28" name=""/>
          <p:cNvCxnSpPr>
            <a:stCxn xmlns:a="http://schemas.openxmlformats.org/drawingml/2006/main" id="5" idx="3"/>
            <a:endCxn xmlns:a="http://schemas.openxmlformats.org/drawingml/2006/main" id="7" idx="1"/>
          </p:cNvCxnSpPr>
          <p:nvPr/>
        </p:nvCxnSpPr>
        <p:spPr>
          <a:xfrm xmlns:a="http://schemas.openxmlformats.org/drawingml/2006/main">
            <a:off x="2171700" y="2619375"/>
            <a:ext cx="609600" cy="0"/>
          </a:xfrm>
          <a:prstGeom xmlns:a="http://schemas.openxmlformats.org/drawingml/2006/main" prst="straightConnector1">
            <a:avLst/>
          </a:prstGeom>
          <a:ln xmlns:a="http://schemas.openxmlformats.org/drawingml/2006/main" w="19050">
            <a:solidFill>
              <a:srgbClr val="5E7182"/>
            </a:solidFill>
            <a:tailEnd type="arrow" w="med" len="med"/>
          </a:ln>
        </p:spPr>
      </p:cxnSp>
      <p:sp>
        <p:nvSpPr>
          <p:cNvPr id="29" name="">
            <a:extLst xmlns:a="http://schemas.openxmlformats.org/drawingml/2006/main">
              <a:ext uri="{FF2B5EF4-FFF2-40B4-BE49-F238E27FC236}">
                <a16:creationId xmlns:a16="http://schemas.microsoft.com/office/drawing/2014/main" id="{E4A7538A-F8B1-4FD1-A6FD-82881E3F5B97}"/>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TECHNICAL ARCHITECTURE</a:t>
            </a:r>
          </a:p>
        </p:txBody>
      </p:sp>
      <p:sp>
        <p:nvSpPr>
          <p:cNvPr id="2" name="">
            <a:extLst xmlns:a="http://schemas.openxmlformats.org/drawingml/2006/main">
              <a:ext uri="{FF2B5EF4-FFF2-40B4-BE49-F238E27FC236}">
                <a16:creationId xmlns:a16="http://schemas.microsoft.com/office/drawing/2014/main" id="{CA386BD2-866C-4888-A437-B61F5DD30EA4}"/>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54A090E-7F3A-4C9A-BC86-291E1438D0EC}"/>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8AA088-B1A5-4497-BEEA-EC68BB628C74}"/>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218"/>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One pipeline separates perception from the safety decision</a:t>
            </a:r>
          </a:p>
        </p:txBody>
      </p:sp>
      <p:sp>
        <p:nvSpPr>
          <p:cNvPr id="5" name="">
            <a:extLst xmlns:a="http://schemas.openxmlformats.org/drawingml/2006/main">
              <a:ext uri="{FF2B5EF4-FFF2-40B4-BE49-F238E27FC236}">
                <a16:creationId xmlns:a16="http://schemas.microsoft.com/office/drawing/2014/main" id="{1211D271-5972-472C-A5B1-99DC83B9936C}"/>
              </a:ext>
            </a:extLst>
          </p:cNvPr>
          <p:cNvSpPr>
            <a:spLocks xmlns:a="http://schemas.openxmlformats.org/drawingml/2006/main" noGrp="1"/>
          </p:cNvSpPr>
          <p:nvPr/>
        </p:nvSpPr>
        <p:spPr>
          <a:xfrm xmlns:a="http://schemas.openxmlformats.org/drawingml/2006/main">
            <a:off x="552450" y="2266950"/>
            <a:ext cx="1619250" cy="704850"/>
          </a:xfrm>
          <a:prstGeom xmlns:a="http://schemas.openxmlformats.org/drawingml/2006/main" prst="roundRect">
            <a:avLst>
              <a:gd name="adj" fmla="val 18919"/>
            </a:avLst>
          </a:prstGeom>
          <a:solidFill xmlns:a="http://schemas.openxmlformats.org/drawingml/2006/main">
            <a:srgbClr val="EEF5F6"/>
          </a:solidFill>
          <a:ln xmlns:a="http://schemas.openxmlformats.org/drawingml/2006/main" w="9525">
            <a:solidFill>
              <a:srgbClr val="D7E1E7"/>
            </a:solidFill>
          </a:ln>
        </p:spPr>
      </p:sp>
      <p:sp>
        <p:nvSpPr>
          <p:cNvPr id="6" name="">
            <a:extLst xmlns:a="http://schemas.openxmlformats.org/drawingml/2006/main">
              <a:ext uri="{FF2B5EF4-FFF2-40B4-BE49-F238E27FC236}">
                <a16:creationId xmlns:a16="http://schemas.microsoft.com/office/drawing/2014/main" id="{F9BF46B1-247F-480F-BA17-0EDCA3A9B04D}"/>
              </a:ext>
            </a:extLst>
          </p:cNvPr>
          <p:cNvSpPr>
            <a:spLocks xmlns:a="http://schemas.openxmlformats.org/drawingml/2006/main" noGrp="1"/>
          </p:cNvSpPr>
          <p:nvPr/>
        </p:nvSpPr>
        <p:spPr>
          <a:xfrm xmlns:a="http://schemas.openxmlformats.org/drawingml/2006/main">
            <a:off x="6667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VIDEO</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source</a:t>
            </a:r>
          </a:p>
        </p:txBody>
      </p:sp>
      <p:sp>
        <p:nvSpPr>
          <p:cNvPr id="7" name="">
            <a:extLst xmlns:a="http://schemas.openxmlformats.org/drawingml/2006/main">
              <a:ext uri="{FF2B5EF4-FFF2-40B4-BE49-F238E27FC236}">
                <a16:creationId xmlns:a16="http://schemas.microsoft.com/office/drawing/2014/main" id="{37900BF3-C764-4D58-B354-AE48A47186C4}"/>
              </a:ext>
            </a:extLst>
          </p:cNvPr>
          <p:cNvSpPr>
            <a:spLocks xmlns:a="http://schemas.openxmlformats.org/drawingml/2006/main" noGrp="1"/>
          </p:cNvSpPr>
          <p:nvPr/>
        </p:nvSpPr>
        <p:spPr>
          <a:xfrm xmlns:a="http://schemas.openxmlformats.org/drawingml/2006/main">
            <a:off x="2781300" y="2266950"/>
            <a:ext cx="1619250" cy="704850"/>
          </a:xfrm>
          <a:prstGeom xmlns:a="http://schemas.openxmlformats.org/drawingml/2006/main" prst="roundRect">
            <a:avLst>
              <a:gd name="adj" fmla="val 18919"/>
            </a:avLst>
          </a:prstGeom>
          <a:solidFill xmlns:a="http://schemas.openxmlformats.org/drawingml/2006/main">
            <a:srgbClr val="EEF5F6"/>
          </a:solidFill>
          <a:ln xmlns:a="http://schemas.openxmlformats.org/drawingml/2006/main" w="9525">
            <a:solidFill>
              <a:srgbClr val="D7E1E7"/>
            </a:solidFill>
          </a:ln>
        </p:spPr>
      </p:sp>
      <p:sp>
        <p:nvSpPr>
          <p:cNvPr id="8" name="">
            <a:extLst xmlns:a="http://schemas.openxmlformats.org/drawingml/2006/main">
              <a:ext uri="{FF2B5EF4-FFF2-40B4-BE49-F238E27FC236}">
                <a16:creationId xmlns:a16="http://schemas.microsoft.com/office/drawing/2014/main" id="{44740C53-D6F5-4A88-8661-2291CBC02AE6}"/>
              </a:ext>
            </a:extLst>
          </p:cNvPr>
          <p:cNvSpPr>
            <a:spLocks xmlns:a="http://schemas.openxmlformats.org/drawingml/2006/main" noGrp="1"/>
          </p:cNvSpPr>
          <p:nvPr/>
        </p:nvSpPr>
        <p:spPr>
          <a:xfrm xmlns:a="http://schemas.openxmlformats.org/drawingml/2006/main">
            <a:off x="289560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385"/>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PERSON + HEAD</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detector</a:t>
            </a:r>
          </a:p>
        </p:txBody>
      </p:sp>
      <p:sp>
        <p:nvSpPr>
          <p:cNvPr id="9" name="">
            <a:extLst xmlns:a="http://schemas.openxmlformats.org/drawingml/2006/main">
              <a:ext uri="{FF2B5EF4-FFF2-40B4-BE49-F238E27FC236}">
                <a16:creationId xmlns:a16="http://schemas.microsoft.com/office/drawing/2014/main" id="{A1759223-A418-4314-82FA-6452FD8F5F24}"/>
              </a:ext>
            </a:extLst>
          </p:cNvPr>
          <p:cNvSpPr>
            <a:spLocks xmlns:a="http://schemas.openxmlformats.org/drawingml/2006/main" noGrp="1"/>
          </p:cNvSpPr>
          <p:nvPr/>
        </p:nvSpPr>
        <p:spPr>
          <a:xfrm xmlns:a="http://schemas.openxmlformats.org/drawingml/2006/main">
            <a:off x="5010150" y="2266950"/>
            <a:ext cx="1619250" cy="704850"/>
          </a:xfrm>
          <a:prstGeom xmlns:a="http://schemas.openxmlformats.org/drawingml/2006/main" prst="roundRect">
            <a:avLst>
              <a:gd name="adj" fmla="val 18919"/>
            </a:avLst>
          </a:prstGeom>
          <a:solidFill xmlns:a="http://schemas.openxmlformats.org/drawingml/2006/main">
            <a:srgbClr val="EEF5F6"/>
          </a:solidFill>
          <a:ln xmlns:a="http://schemas.openxmlformats.org/drawingml/2006/main" w="9525">
            <a:solidFill>
              <a:srgbClr val="D7E1E7"/>
            </a:solidFill>
          </a:ln>
        </p:spPr>
      </p:sp>
      <p:sp>
        <p:nvSpPr>
          <p:cNvPr id="10" name="">
            <a:extLst xmlns:a="http://schemas.openxmlformats.org/drawingml/2006/main">
              <a:ext uri="{FF2B5EF4-FFF2-40B4-BE49-F238E27FC236}">
                <a16:creationId xmlns:a16="http://schemas.microsoft.com/office/drawing/2014/main" id="{BDA99B70-D9ED-4202-B9C4-CD085BC86CFD}"/>
              </a:ext>
            </a:extLst>
          </p:cNvPr>
          <p:cNvSpPr>
            <a:spLocks xmlns:a="http://schemas.openxmlformats.org/drawingml/2006/main" noGrp="1"/>
          </p:cNvSpPr>
          <p:nvPr/>
        </p:nvSpPr>
        <p:spPr>
          <a:xfrm xmlns:a="http://schemas.openxmlformats.org/drawingml/2006/main">
            <a:off x="51244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TRACK +</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ID stitching</a:t>
            </a:r>
          </a:p>
        </p:txBody>
      </p:sp>
      <p:sp>
        <p:nvSpPr>
          <p:cNvPr id="11" name="">
            <a:extLst xmlns:a="http://schemas.openxmlformats.org/drawingml/2006/main">
              <a:ext uri="{FF2B5EF4-FFF2-40B4-BE49-F238E27FC236}">
                <a16:creationId xmlns:a16="http://schemas.microsoft.com/office/drawing/2014/main" id="{B72B64AA-5FFA-4AD3-842F-73BCB40664AE}"/>
              </a:ext>
            </a:extLst>
          </p:cNvPr>
          <p:cNvSpPr>
            <a:spLocks xmlns:a="http://schemas.openxmlformats.org/drawingml/2006/main" noGrp="1"/>
          </p:cNvSpPr>
          <p:nvPr/>
        </p:nvSpPr>
        <p:spPr>
          <a:xfrm xmlns:a="http://schemas.openxmlformats.org/drawingml/2006/main">
            <a:off x="7239000" y="2266950"/>
            <a:ext cx="1619250" cy="704850"/>
          </a:xfrm>
          <a:prstGeom xmlns:a="http://schemas.openxmlformats.org/drawingml/2006/main" prst="roundRect">
            <a:avLst>
              <a:gd name="adj" fmla="val 18919"/>
            </a:avLst>
          </a:prstGeom>
          <a:solidFill xmlns:a="http://schemas.openxmlformats.org/drawingml/2006/main">
            <a:srgbClr val="EEF5F6"/>
          </a:solidFill>
          <a:ln xmlns:a="http://schemas.openxmlformats.org/drawingml/2006/main" w="9525">
            <a:solidFill>
              <a:srgbClr val="D7E1E7"/>
            </a:solidFill>
          </a:ln>
        </p:spPr>
      </p:sp>
      <p:sp>
        <p:nvSpPr>
          <p:cNvPr id="12" name="">
            <a:extLst xmlns:a="http://schemas.openxmlformats.org/drawingml/2006/main">
              <a:ext uri="{FF2B5EF4-FFF2-40B4-BE49-F238E27FC236}">
                <a16:creationId xmlns:a16="http://schemas.microsoft.com/office/drawing/2014/main" id="{B157FC13-CC0F-4FA8-8DF4-C5C48AA3BC1F}"/>
              </a:ext>
            </a:extLst>
          </p:cNvPr>
          <p:cNvSpPr>
            <a:spLocks xmlns:a="http://schemas.openxmlformats.org/drawingml/2006/main" noGrp="1"/>
          </p:cNvSpPr>
          <p:nvPr/>
        </p:nvSpPr>
        <p:spPr>
          <a:xfrm xmlns:a="http://schemas.openxmlformats.org/drawingml/2006/main">
            <a:off x="735330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EVENT</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engine</a:t>
            </a:r>
          </a:p>
        </p:txBody>
      </p:sp>
      <p:sp>
        <p:nvSpPr>
          <p:cNvPr id="13" name="">
            <a:extLst xmlns:a="http://schemas.openxmlformats.org/drawingml/2006/main">
              <a:ext uri="{FF2B5EF4-FFF2-40B4-BE49-F238E27FC236}">
                <a16:creationId xmlns:a16="http://schemas.microsoft.com/office/drawing/2014/main" id="{F31FEBAF-95B8-4ED7-8D69-F56D79D9BAE0}"/>
              </a:ext>
            </a:extLst>
          </p:cNvPr>
          <p:cNvSpPr>
            <a:spLocks xmlns:a="http://schemas.openxmlformats.org/drawingml/2006/main" noGrp="1"/>
          </p:cNvSpPr>
          <p:nvPr/>
        </p:nvSpPr>
        <p:spPr>
          <a:xfrm xmlns:a="http://schemas.openxmlformats.org/drawingml/2006/main">
            <a:off x="9467850" y="2266950"/>
            <a:ext cx="161925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9050">
            <a:solidFill>
              <a:srgbClr val="087F72"/>
            </a:solidFill>
          </a:ln>
        </p:spPr>
      </p:sp>
      <p:sp>
        <p:nvSpPr>
          <p:cNvPr id="14" name="">
            <a:extLst xmlns:a="http://schemas.openxmlformats.org/drawingml/2006/main">
              <a:ext uri="{FF2B5EF4-FFF2-40B4-BE49-F238E27FC236}">
                <a16:creationId xmlns:a16="http://schemas.microsoft.com/office/drawing/2014/main" id="{E911F933-7678-4CDD-9327-293394CCADE9}"/>
              </a:ext>
            </a:extLst>
          </p:cNvPr>
          <p:cNvSpPr>
            <a:spLocks xmlns:a="http://schemas.openxmlformats.org/drawingml/2006/main" noGrp="1"/>
          </p:cNvSpPr>
          <p:nvPr/>
        </p:nvSpPr>
        <p:spPr>
          <a:xfrm xmlns:a="http://schemas.openxmlformats.org/drawingml/2006/main">
            <a:off x="95821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87F72"/>
                </a:solidFill>
                <a:latin typeface="Arial"/>
                <a:ea typeface="Arial"/>
                <a:cs typeface="Arial"/>
              </a:defRPr>
            </a:pPr>
            <a:r>
              <a:rPr sz="1275" b="1">
                <a:solidFill>
                  <a:srgbClr val="087F72"/>
                </a:solidFill>
                <a:latin typeface="Arial"/>
                <a:ea typeface="Arial"/>
                <a:cs typeface="Arial"/>
              </a:rPr>
              <a:t>APP</a:t>
            </a:r>
          </a:p>
          <a:p xmlns:a="http://schemas.openxmlformats.org/drawingml/2006/main">
            <a:pPr>
              <a:defRPr sz="1275" b="1">
                <a:solidFill>
                  <a:srgbClr val="087F72"/>
                </a:solidFill>
                <a:latin typeface="Arial"/>
                <a:ea typeface="Arial"/>
                <a:cs typeface="Arial"/>
              </a:defRPr>
            </a:pPr>
            <a:r>
              <a:rPr sz="1275" b="1">
                <a:solidFill>
                  <a:srgbClr val="087F72"/>
                </a:solidFill>
                <a:latin typeface="Arial"/>
                <a:ea typeface="Arial"/>
                <a:cs typeface="Arial"/>
              </a:rPr>
              <a:t>overlay</a:t>
            </a:r>
          </a:p>
        </p:txBody>
      </p:sp>
      <p:sp>
        <p:nvSpPr>
          <p:cNvPr id="19" name="">
            <a:extLst xmlns:a="http://schemas.openxmlformats.org/drawingml/2006/main">
              <a:ext uri="{FF2B5EF4-FFF2-40B4-BE49-F238E27FC236}">
                <a16:creationId xmlns:a16="http://schemas.microsoft.com/office/drawing/2014/main" id="{CA819701-0550-4ABC-BF06-7BE9C2C7B4A3}"/>
              </a:ext>
            </a:extLst>
          </p:cNvPr>
          <p:cNvSpPr>
            <a:spLocks xmlns:a="http://schemas.openxmlformats.org/drawingml/2006/main" noGrp="1"/>
          </p:cNvSpPr>
          <p:nvPr/>
        </p:nvSpPr>
        <p:spPr>
          <a:xfrm xmlns:a="http://schemas.openxmlformats.org/drawingml/2006/main">
            <a:off x="3314700" y="4114800"/>
            <a:ext cx="55626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2B6FAE"/>
            </a:solidFill>
          </a:ln>
        </p:spPr>
      </p:sp>
      <p:sp>
        <p:nvSpPr>
          <p:cNvPr id="20" name="">
            <a:extLst xmlns:a="http://schemas.openxmlformats.org/drawingml/2006/main">
              <a:ext uri="{FF2B5EF4-FFF2-40B4-BE49-F238E27FC236}">
                <a16:creationId xmlns:a16="http://schemas.microsoft.com/office/drawing/2014/main" id="{DAB71631-73B1-41A2-98F3-6223ADB76AA3}"/>
              </a:ext>
            </a:extLst>
          </p:cNvPr>
          <p:cNvSpPr>
            <a:spLocks xmlns:a="http://schemas.openxmlformats.org/drawingml/2006/main" noGrp="1"/>
          </p:cNvSpPr>
          <p:nvPr/>
        </p:nvSpPr>
        <p:spPr>
          <a:xfrm xmlns:a="http://schemas.openxmlformats.org/drawingml/2006/main">
            <a:off x="3543300" y="426720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SIMULATION TEST BENCH</a:t>
            </a:r>
          </a:p>
        </p:txBody>
      </p:sp>
      <p:sp>
        <p:nvSpPr>
          <p:cNvPr id="21" name="">
            <a:extLst xmlns:a="http://schemas.openxmlformats.org/drawingml/2006/main">
              <a:ext uri="{FF2B5EF4-FFF2-40B4-BE49-F238E27FC236}">
                <a16:creationId xmlns:a16="http://schemas.microsoft.com/office/drawing/2014/main" id="{8E74EB4A-8A7B-486D-B39B-76FBE643BA5A}"/>
              </a:ext>
            </a:extLst>
          </p:cNvPr>
          <p:cNvSpPr>
            <a:spLocks xmlns:a="http://schemas.openxmlformats.org/drawingml/2006/main" noGrp="1"/>
          </p:cNvSpPr>
          <p:nvPr/>
        </p:nvSpPr>
        <p:spPr>
          <a:xfrm xmlns:a="http://schemas.openxmlformats.org/drawingml/2006/main">
            <a:off x="3543300" y="455295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training frames · exact boxes · head height · scoring</a:t>
            </a:r>
          </a:p>
        </p:txBody>
      </p:sp>
      <p:sp>
        <p:nvSpPr>
          <p:cNvPr id="22" name="">
            <a:extLst xmlns:a="http://schemas.openxmlformats.org/drawingml/2006/main">
              <a:ext uri="{FF2B5EF4-FFF2-40B4-BE49-F238E27FC236}">
                <a16:creationId xmlns:a16="http://schemas.microsoft.com/office/drawing/2014/main" id="{A461BBC5-C9B0-4061-AF10-4BF89EE9B6EA}"/>
              </a:ext>
            </a:extLst>
          </p:cNvPr>
          <p:cNvSpPr>
            <a:spLocks xmlns:a="http://schemas.openxmlformats.org/drawingml/2006/main" noGrp="1"/>
          </p:cNvSpPr>
          <p:nvPr/>
        </p:nvSpPr>
        <p:spPr>
          <a:xfrm xmlns:a="http://schemas.openxmlformats.org/drawingml/2006/main">
            <a:off x="6096000" y="3067050"/>
            <a:ext cx="0" cy="933450"/>
          </a:xfrm>
          <a:prstGeom xmlns:a="http://schemas.openxmlformats.org/drawingml/2006/main" prst="line">
            <a:avLst/>
          </a:prstGeom>
          <a:noFill xmlns:a="http://schemas.openxmlformats.org/drawingml/2006/main"/>
          <a:ln xmlns:a="http://schemas.openxmlformats.org/drawingml/2006/main" w="19050">
            <a:solidFill>
              <a:srgbClr val="2B6FAE"/>
            </a:solidFill>
          </a:ln>
        </p:spPr>
      </p:sp>
      <p:sp>
        <p:nvSpPr>
          <p:cNvPr id="23" name="">
            <a:extLst xmlns:a="http://schemas.openxmlformats.org/drawingml/2006/main">
              <a:ext uri="{FF2B5EF4-FFF2-40B4-BE49-F238E27FC236}">
                <a16:creationId xmlns:a16="http://schemas.microsoft.com/office/drawing/2014/main" id="{6834A268-4C35-4BFE-8DCC-6071609BE3FB}"/>
              </a:ext>
            </a:extLst>
          </p:cNvPr>
          <p:cNvSpPr>
            <a:spLocks xmlns:a="http://schemas.openxmlformats.org/drawingml/2006/main" noGrp="1"/>
          </p:cNvSpPr>
          <p:nvPr/>
        </p:nvSpPr>
        <p:spPr>
          <a:xfrm xmlns:a="http://schemas.openxmlformats.org/drawingml/2006/main">
            <a:off x="2038350" y="5467350"/>
            <a:ext cx="811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5E7182"/>
                </a:solidFill>
                <a:latin typeface="Arial"/>
                <a:ea typeface="Arial"/>
                <a:cs typeface="Arial"/>
              </a:defRPr>
            </a:pPr>
            <a:r>
              <a:rPr sz="1500" b="0">
                <a:solidFill>
                  <a:srgbClr val="5E7182"/>
                </a:solidFill>
                <a:latin typeface="Arial"/>
                <a:ea typeface="Arial"/>
                <a:cs typeface="Arial"/>
              </a:rPr>
              <a:t>Prerecorded video and timestamped JSON keep the hackathon demo local and reliable.</a:t>
            </a:r>
          </a:p>
        </p:txBody>
      </p:sp>
      <p:sp>
        <p:nvSpPr>
          <p:cNvPr id="24" name="">
            <a:extLst xmlns:a="http://schemas.openxmlformats.org/drawingml/2006/main">
              <a:ext uri="{FF2B5EF4-FFF2-40B4-BE49-F238E27FC236}">
                <a16:creationId xmlns:a16="http://schemas.microsoft.com/office/drawing/2014/main" id="{CDFE895B-C782-48BB-8186-6F7E944D4465}"/>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RESEARCH PROTOTYPE · SYNTHETIC RESULTS WHERE NOTED</a:t>
            </a:r>
          </a:p>
        </p:txBody>
      </p:sp>
    </p:spTree>
    <p:extLst>
      <p:ext uri="{BB962C8B-B14F-4D97-AF65-F5344CB8AC3E}">
        <p14:creationId xmlns:p14="http://schemas.microsoft.com/office/powerpoint/2010/main" val="62916497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DAF2DB-0250-482D-8AB9-D9594F4D6C48}"/>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TEST DATA</a:t>
            </a:r>
          </a:p>
        </p:txBody>
      </p:sp>
      <p:sp>
        <p:nvSpPr>
          <p:cNvPr id="2" name="">
            <a:extLst xmlns:a="http://schemas.openxmlformats.org/drawingml/2006/main">
              <a:ext uri="{FF2B5EF4-FFF2-40B4-BE49-F238E27FC236}">
                <a16:creationId xmlns:a16="http://schemas.microsoft.com/office/drawing/2014/main" id="{F08769BB-538E-431D-B141-13D8138116BF}"/>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CA94190-28BB-466D-9191-C81CCC1FA969}"/>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44B093-DCE9-47ED-A74B-DB7B34C6DE6C}"/>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358"/>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Simulation gives exact answers for cases we cannot film safely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1ee16dcf670425f"/>
          <a:srcRect xmlns:a="http://schemas.openxmlformats.org/drawingml/2006/main" l="0" t="41" r="0" b="41"/>
          <a:stretch xmlns:a="http://schemas.openxmlformats.org/drawingml/2006/main">
            <a:fillRect l="0" t="0" r="0" b="0"/>
          </a:stretch>
        </p:blipFill>
        <p:spPr>
          <a:xfrm xmlns:a="http://schemas.openxmlformats.org/drawingml/2006/main">
            <a:off x="552450" y="1790700"/>
            <a:ext cx="5219700" cy="2933700"/>
          </a:xfrm>
          <a:prstGeom xmlns:a="http://schemas.openxmlformats.org/drawingml/2006/main" prst="roundRect">
            <a:avLst>
              <a:gd name="adj" fmla="val 5844"/>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1c490dabc3c4469"/>
          <a:srcRect xmlns:a="http://schemas.openxmlformats.org/drawingml/2006/main" l="5000" t="2000" r="25000" b="4000"/>
          <a:stretch xmlns:a="http://schemas.openxmlformats.org/drawingml/2006/main"/>
        </p:blipFill>
        <p:spPr>
          <a:xfrm xmlns:a="http://schemas.openxmlformats.org/drawingml/2006/main">
            <a:off x="6419850" y="1790700"/>
            <a:ext cx="5219700" cy="2933700"/>
          </a:xfrm>
          <a:prstGeom xmlns:a="http://schemas.openxmlformats.org/drawingml/2006/main" prst="roundRect">
            <a:avLst>
              <a:gd name="adj" fmla="val 5844"/>
            </a:avLst>
          </a:prstGeom>
        </p:spPr>
      </p:pic>
      <p:sp>
        <p:nvSpPr>
          <p:cNvPr id="7" name="">
            <a:extLst xmlns:a="http://schemas.openxmlformats.org/drawingml/2006/main">
              <a:ext uri="{FF2B5EF4-FFF2-40B4-BE49-F238E27FC236}">
                <a16:creationId xmlns:a16="http://schemas.microsoft.com/office/drawing/2014/main" id="{E74886FB-6748-4C5D-B5A2-91779966CCD8}"/>
              </a:ext>
            </a:extLst>
          </p:cNvPr>
          <p:cNvSpPr>
            <a:spLocks xmlns:a="http://schemas.openxmlformats.org/drawingml/2006/main" noGrp="1"/>
          </p:cNvSpPr>
          <p:nvPr/>
        </p:nvSpPr>
        <p:spPr>
          <a:xfrm xmlns:a="http://schemas.openxmlformats.org/drawingml/2006/main">
            <a:off x="552450" y="49149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MUJOCO</a:t>
            </a:r>
          </a:p>
        </p:txBody>
      </p:sp>
      <p:sp>
        <p:nvSpPr>
          <p:cNvPr id="8" name="">
            <a:extLst xmlns:a="http://schemas.openxmlformats.org/drawingml/2006/main">
              <a:ext uri="{FF2B5EF4-FFF2-40B4-BE49-F238E27FC236}">
                <a16:creationId xmlns:a16="http://schemas.microsoft.com/office/drawing/2014/main" id="{3D28BB4F-DF74-46C8-9BF0-9C0A463F38C4}"/>
              </a:ext>
            </a:extLst>
          </p:cNvPr>
          <p:cNvSpPr>
            <a:spLocks xmlns:a="http://schemas.openxmlformats.org/drawingml/2006/main" noGrp="1"/>
          </p:cNvSpPr>
          <p:nvPr/>
        </p:nvSpPr>
        <p:spPr>
          <a:xfrm xmlns:a="http://schemas.openxmlformats.org/drawingml/2006/main">
            <a:off x="552450" y="52197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324D"/>
                </a:solidFill>
                <a:latin typeface="Arial"/>
                <a:ea typeface="Arial"/>
                <a:cs typeface="Arial"/>
              </a:defRPr>
            </a:pPr>
            <a:r>
              <a:rPr sz="1425" b="0">
                <a:solidFill>
                  <a:srgbClr val="17324D"/>
                </a:solidFill>
                <a:latin typeface="Arial"/>
                <a:ea typeface="Arial"/>
                <a:cs typeface="Arial"/>
              </a:rPr>
              <a:t>Physics, buoyancy, exact boxes and head height</a:t>
            </a:r>
          </a:p>
        </p:txBody>
      </p:sp>
      <p:sp>
        <p:nvSpPr>
          <p:cNvPr id="9" name="">
            <a:extLst xmlns:a="http://schemas.openxmlformats.org/drawingml/2006/main">
              <a:ext uri="{FF2B5EF4-FFF2-40B4-BE49-F238E27FC236}">
                <a16:creationId xmlns:a16="http://schemas.microsoft.com/office/drawing/2014/main" id="{C307B78F-9AB4-4AAE-AC26-C1267937DF33}"/>
              </a:ext>
            </a:extLst>
          </p:cNvPr>
          <p:cNvSpPr>
            <a:spLocks xmlns:a="http://schemas.openxmlformats.org/drawingml/2006/main" noGrp="1"/>
          </p:cNvSpPr>
          <p:nvPr/>
        </p:nvSpPr>
        <p:spPr>
          <a:xfrm xmlns:a="http://schemas.openxmlformats.org/drawingml/2006/main">
            <a:off x="6419850" y="49149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ISAAC SIM</a:t>
            </a:r>
          </a:p>
        </p:txBody>
      </p:sp>
      <p:sp>
        <p:nvSpPr>
          <p:cNvPr id="10" name="">
            <a:extLst xmlns:a="http://schemas.openxmlformats.org/drawingml/2006/main">
              <a:ext uri="{FF2B5EF4-FFF2-40B4-BE49-F238E27FC236}">
                <a16:creationId xmlns:a16="http://schemas.microsoft.com/office/drawing/2014/main" id="{424F8E21-C36B-4C3F-A155-99C52D79871D}"/>
              </a:ext>
            </a:extLst>
          </p:cNvPr>
          <p:cNvSpPr>
            <a:spLocks xmlns:a="http://schemas.openxmlformats.org/drawingml/2006/main" noGrp="1"/>
          </p:cNvSpPr>
          <p:nvPr/>
        </p:nvSpPr>
        <p:spPr>
          <a:xfrm xmlns:a="http://schemas.openxmlformats.org/drawingml/2006/main">
            <a:off x="6419850" y="52197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324D"/>
                </a:solidFill>
                <a:latin typeface="Arial"/>
                <a:ea typeface="Arial"/>
                <a:cs typeface="Arial"/>
              </a:defRPr>
            </a:pPr>
            <a:r>
              <a:rPr sz="1425" b="0">
                <a:solidFill>
                  <a:srgbClr val="17324D"/>
                </a:solidFill>
                <a:latin typeface="Arial"/>
                <a:ea typeface="Arial"/>
                <a:cs typeface="Arial"/>
              </a:rPr>
              <a:t>More realistic people, lighting, water and held-out video</a:t>
            </a:r>
          </a:p>
        </p:txBody>
      </p:sp>
      <p:sp>
        <p:nvSpPr>
          <p:cNvPr id="11" name="">
            <a:extLst xmlns:a="http://schemas.openxmlformats.org/drawingml/2006/main">
              <a:ext uri="{FF2B5EF4-FFF2-40B4-BE49-F238E27FC236}">
                <a16:creationId xmlns:a16="http://schemas.microsoft.com/office/drawing/2014/main" id="{3379E900-FF58-460D-A198-7F2E0EDD8ADA}"/>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SAFE TESTING · AUTOMATIC LABELS · SYNTHETIC ONLY</a:t>
            </a:r>
          </a:p>
        </p:txBody>
      </p:sp>
    </p:spTree>
    <p:extLst>
      <p:ext uri="{BB962C8B-B14F-4D97-AF65-F5344CB8AC3E}">
        <p14:creationId xmlns:p14="http://schemas.microsoft.com/office/powerpoint/2010/main" val="79993945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1DBBBC-6070-4F32-8712-4D3443E1A2CE}"/>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DE9DBAC6-C7BC-46B1-BE3F-778EC3729F82}"/>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5AEEA70-7D7C-41D0-B5D0-4C0087A6A3D6}"/>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8A76DF-B64E-4DA4-8E87-713B468AD7E0}"/>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237"/>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Fine-tuning improved underwater recall on held-out synthetic footage</a:t>
            </a:r>
          </a:p>
        </p:txBody>
      </p:sp>
      <p:graphicFrame>
        <p:nvGraphicFramePr>
          <p:cNvPr id="16" name="Chart"/>
          <p:cNvGraphicFramePr/>
          <p:nvPr/>
        </p:nvGraphicFramePr>
        <p:xfrm>
          <a:off xmlns:a="http://schemas.openxmlformats.org/drawingml/2006/main" x="552450" y="1809750"/>
          <a:ext xmlns:a="http://schemas.openxmlformats.org/drawingml/2006/main" cx="7524750" cy="3810000"/>
        </p:xfrm>
        <a:graphic xmlns:a="http://schemas.openxmlformats.org/drawingml/2006/main">
          <a:graphicData uri="http://schemas.openxmlformats.org/drawingml/2006/chart">
            <c:chart xmlns:r="http://schemas.openxmlformats.org/officeDocument/2006/relationships" xmlns:c="http://schemas.openxmlformats.org/drawingml/2006/chart" r:id="Rc47364155237411c"/>
          </a:graphicData>
        </a:graphic>
      </p:graphicFrame>
      <p:sp>
        <p:nvSpPr>
          <p:cNvPr id="6" name="">
            <a:extLst xmlns:a="http://schemas.openxmlformats.org/drawingml/2006/main">
              <a:ext uri="{FF2B5EF4-FFF2-40B4-BE49-F238E27FC236}">
                <a16:creationId xmlns:a16="http://schemas.microsoft.com/office/drawing/2014/main" id="{9E967851-964D-4C44-8D08-C39EEF8AFAF9}"/>
              </a:ext>
            </a:extLst>
          </p:cNvPr>
          <p:cNvSpPr>
            <a:spLocks xmlns:a="http://schemas.openxmlformats.org/drawingml/2006/main" noGrp="1"/>
          </p:cNvSpPr>
          <p:nvPr/>
        </p:nvSpPr>
        <p:spPr>
          <a:xfrm xmlns:a="http://schemas.openxmlformats.org/drawingml/2006/main">
            <a:off x="8591550" y="2076450"/>
            <a:ext cx="3048000" cy="1828800"/>
          </a:xfrm>
          <a:prstGeom xmlns:a="http://schemas.openxmlformats.org/drawingml/2006/main" prst="roundRect">
            <a:avLst>
              <a:gd name="adj" fmla="val 9375"/>
            </a:avLst>
          </a:prstGeom>
          <a:solidFill xmlns:a="http://schemas.openxmlformats.org/drawingml/2006/main">
            <a:srgbClr val="EEF5F6"/>
          </a:solidFill>
          <a:ln xmlns:a="http://schemas.openxmlformats.org/drawingml/2006/main" w="9525">
            <a:solidFill>
              <a:srgbClr val="D7E1E7"/>
            </a:solidFill>
          </a:ln>
        </p:spPr>
      </p:sp>
      <p:sp>
        <p:nvSpPr>
          <p:cNvPr id="7" name="">
            <a:extLst xmlns:a="http://schemas.openxmlformats.org/drawingml/2006/main">
              <a:ext uri="{FF2B5EF4-FFF2-40B4-BE49-F238E27FC236}">
                <a16:creationId xmlns:a16="http://schemas.microsoft.com/office/drawing/2014/main" id="{859B2112-2BE9-410E-BF30-A1A5B5A4FA94}"/>
              </a:ext>
            </a:extLst>
          </p:cNvPr>
          <p:cNvSpPr>
            <a:spLocks xmlns:a="http://schemas.openxmlformats.org/drawingml/2006/main" noGrp="1"/>
          </p:cNvSpPr>
          <p:nvPr/>
        </p:nvSpPr>
        <p:spPr>
          <a:xfrm xmlns:a="http://schemas.openxmlformats.org/drawingml/2006/main">
            <a:off x="8858250" y="226695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00"/>
          </a:bodyPr>
          <a:lstStyle xmlns:a="http://schemas.openxmlformats.org/drawingml/2006/main"/>
          <a:p xmlns:a="http://schemas.openxmlformats.org/drawingml/2006/main">
            <a:pPr>
              <a:defRPr sz="3750" b="1">
                <a:solidFill>
                  <a:srgbClr val="087F72"/>
                </a:solidFill>
                <a:latin typeface="Arial"/>
                <a:ea typeface="Arial"/>
                <a:cs typeface="Arial"/>
              </a:defRPr>
            </a:pPr>
            <a:r>
              <a:rPr sz="3750" b="1">
                <a:solidFill>
                  <a:srgbClr val="087F72"/>
                </a:solidFill>
                <a:latin typeface="Arial"/>
                <a:ea typeface="Arial"/>
                <a:cs typeface="Arial"/>
              </a:rPr>
              <a:t>95%</a:t>
            </a:r>
          </a:p>
        </p:txBody>
      </p:sp>
      <p:sp>
        <p:nvSpPr>
          <p:cNvPr id="8" name="">
            <a:extLst xmlns:a="http://schemas.openxmlformats.org/drawingml/2006/main">
              <a:ext uri="{FF2B5EF4-FFF2-40B4-BE49-F238E27FC236}">
                <a16:creationId xmlns:a16="http://schemas.microsoft.com/office/drawing/2014/main" id="{1DE27637-1E84-4091-A018-B962BB92BB40}"/>
              </a:ext>
            </a:extLst>
          </p:cNvPr>
          <p:cNvSpPr>
            <a:spLocks xmlns:a="http://schemas.openxmlformats.org/drawingml/2006/main" noGrp="1"/>
          </p:cNvSpPr>
          <p:nvPr/>
        </p:nvSpPr>
        <p:spPr>
          <a:xfrm xmlns:a="http://schemas.openxmlformats.org/drawingml/2006/main">
            <a:off x="8877300" y="2905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underwater recall</a:t>
            </a:r>
          </a:p>
        </p:txBody>
      </p:sp>
      <p:sp>
        <p:nvSpPr>
          <p:cNvPr id="9" name="">
            <a:extLst xmlns:a="http://schemas.openxmlformats.org/drawingml/2006/main">
              <a:ext uri="{FF2B5EF4-FFF2-40B4-BE49-F238E27FC236}">
                <a16:creationId xmlns:a16="http://schemas.microsoft.com/office/drawing/2014/main" id="{CBB6A16B-2E93-4747-A5FB-BD4188F2A42E}"/>
              </a:ext>
            </a:extLst>
          </p:cNvPr>
          <p:cNvSpPr>
            <a:spLocks xmlns:a="http://schemas.openxmlformats.org/drawingml/2006/main" noGrp="1"/>
          </p:cNvSpPr>
          <p:nvPr/>
        </p:nvSpPr>
        <p:spPr>
          <a:xfrm xmlns:a="http://schemas.openxmlformats.org/drawingml/2006/main">
            <a:off x="8877300" y="330517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5E7182"/>
                </a:solidFill>
                <a:latin typeface="Arial"/>
                <a:ea typeface="Arial"/>
                <a:cs typeface="Arial"/>
              </a:defRPr>
            </a:pPr>
            <a:r>
              <a:rPr sz="1125" b="0">
                <a:solidFill>
                  <a:srgbClr val="5E7182"/>
                </a:solidFill>
                <a:latin typeface="Arial"/>
                <a:ea typeface="Arial"/>
                <a:cs typeface="Arial"/>
              </a:rPr>
              <a:t>Precision: 95%</a:t>
            </a:r>
          </a:p>
          <a:p xmlns:a="http://schemas.openxmlformats.org/drawingml/2006/main">
            <a:pPr>
              <a:defRPr sz="1125" b="0">
                <a:solidFill>
                  <a:srgbClr val="5E7182"/>
                </a:solidFill>
                <a:latin typeface="Arial"/>
                <a:ea typeface="Arial"/>
                <a:cs typeface="Arial"/>
              </a:defRPr>
            </a:pPr>
            <a:r>
              <a:rPr sz="1125" b="0">
                <a:solidFill>
                  <a:srgbClr val="5E7182"/>
                </a:solidFill>
                <a:latin typeface="Arial"/>
                <a:ea typeface="Arial"/>
                <a:cs typeface="Arial"/>
              </a:rPr>
              <a:t>261 Isaac training frames</a:t>
            </a:r>
          </a:p>
          <a:p xmlns:a="http://schemas.openxmlformats.org/drawingml/2006/main">
            <a:pPr>
              <a:defRPr sz="1125" b="0">
                <a:solidFill>
                  <a:srgbClr val="5E7182"/>
                </a:solidFill>
                <a:latin typeface="Arial"/>
                <a:ea typeface="Arial"/>
                <a:cs typeface="Arial"/>
              </a:defRPr>
            </a:pPr>
            <a:r>
              <a:rPr sz="1125" b="0">
                <a:solidFill>
                  <a:srgbClr val="5E7182"/>
                </a:solidFill>
                <a:latin typeface="Arial"/>
                <a:ea typeface="Arial"/>
                <a:cs typeface="Arial"/>
              </a:rPr>
              <a:t>Held-out seed-0 clip</a:t>
            </a:r>
          </a:p>
        </p:txBody>
      </p:sp>
      <p:sp>
        <p:nvSpPr>
          <p:cNvPr id="10" name="">
            <a:extLst xmlns:a="http://schemas.openxmlformats.org/drawingml/2006/main">
              <a:ext uri="{FF2B5EF4-FFF2-40B4-BE49-F238E27FC236}">
                <a16:creationId xmlns:a16="http://schemas.microsoft.com/office/drawing/2014/main" id="{7D8DFC7E-CF7A-4096-82AA-1B9D087A9923}"/>
              </a:ext>
            </a:extLst>
          </p:cNvPr>
          <p:cNvSpPr>
            <a:spLocks xmlns:a="http://schemas.openxmlformats.org/drawingml/2006/main" noGrp="1"/>
          </p:cNvSpPr>
          <p:nvPr/>
        </p:nvSpPr>
        <p:spPr>
          <a:xfrm xmlns:a="http://schemas.openxmlformats.org/drawingml/2006/main">
            <a:off x="8591550" y="4381500"/>
            <a:ext cx="304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A86E00"/>
                </a:solidFill>
                <a:latin typeface="Arial"/>
                <a:ea typeface="Arial"/>
                <a:cs typeface="Arial"/>
              </a:defRPr>
            </a:pPr>
            <a:r>
              <a:rPr sz="1275" b="1">
                <a:solidFill>
                  <a:srgbClr val="A86E00"/>
                </a:solidFill>
                <a:latin typeface="Arial"/>
                <a:ea typeface="Arial"/>
                <a:cs typeface="Arial"/>
              </a:rPr>
              <a:t>Synthetic-only result. Same scene and character set. This validates the pipeline, not real-world accuracy.</a:t>
            </a:r>
          </a:p>
        </p:txBody>
      </p:sp>
      <p:sp>
        <p:nvSpPr>
          <p:cNvPr id="11" name="">
            <a:extLst xmlns:a="http://schemas.openxmlformats.org/drawingml/2006/main">
              <a:ext uri="{FF2B5EF4-FFF2-40B4-BE49-F238E27FC236}">
                <a16:creationId xmlns:a16="http://schemas.microsoft.com/office/drawing/2014/main" id="{3756F0A1-850B-46C3-9E30-CFCA6D98D5CC}"/>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HELD-OUT ISAAC SIM CLIP · 526 BOXES WITH HEAD FULLY UNDER WATER</a:t>
            </a:r>
          </a:p>
        </p:txBody>
      </p:sp>
    </p:spTree>
    <p:extLst>
      <p:ext uri="{BB962C8B-B14F-4D97-AF65-F5344CB8AC3E}">
        <p14:creationId xmlns:p14="http://schemas.microsoft.com/office/powerpoint/2010/main" val="116858588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A7BD0E-422B-4776-9851-037660BA5EB4}"/>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TRACKING</a:t>
            </a:r>
          </a:p>
        </p:txBody>
      </p:sp>
      <p:sp>
        <p:nvSpPr>
          <p:cNvPr id="2" name="">
            <a:extLst xmlns:a="http://schemas.openxmlformats.org/drawingml/2006/main">
              <a:ext uri="{FF2B5EF4-FFF2-40B4-BE49-F238E27FC236}">
                <a16:creationId xmlns:a16="http://schemas.microsoft.com/office/drawing/2014/main" id="{A5DEBE32-89DE-498D-B189-8098F0365E79}"/>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E7BFA5B-9C16-46B6-887D-93890ED1A2FF}"/>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00FA2B-5F69-42F3-BACC-339FC15F5CD0}"/>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A strong detector still failed when the identity changed</a:t>
            </a:r>
          </a:p>
        </p:txBody>
      </p:sp>
      <p:sp>
        <p:nvSpPr>
          <p:cNvPr id="5" name="">
            <a:extLst xmlns:a="http://schemas.openxmlformats.org/drawingml/2006/main">
              <a:ext uri="{FF2B5EF4-FFF2-40B4-BE49-F238E27FC236}">
                <a16:creationId xmlns:a16="http://schemas.microsoft.com/office/drawing/2014/main" id="{42E5A35B-299E-48A4-9C8B-3B4C8AC9A3FB}"/>
              </a:ext>
            </a:extLst>
          </p:cNvPr>
          <p:cNvSpPr>
            <a:spLocks xmlns:a="http://schemas.openxmlformats.org/drawingml/2006/main" noGrp="1"/>
          </p:cNvSpPr>
          <p:nvPr/>
        </p:nvSpPr>
        <p:spPr>
          <a:xfrm xmlns:a="http://schemas.openxmlformats.org/drawingml/2006/main">
            <a:off x="552450" y="1743075"/>
            <a:ext cx="123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29"/>
          </a:bodyPr>
          <a:lstStyle xmlns:a="http://schemas.openxmlformats.org/drawingml/2006/main"/>
          <a:p xmlns:a="http://schemas.openxmlformats.org/drawingml/2006/main">
            <a:pPr>
              <a:defRPr sz="4350" b="1">
                <a:solidFill>
                  <a:srgbClr val="C43D4D"/>
                </a:solidFill>
                <a:latin typeface="Arial"/>
                <a:ea typeface="Arial"/>
                <a:cs typeface="Arial"/>
              </a:defRPr>
            </a:pPr>
            <a:r>
              <a:rPr sz="4350" b="1">
                <a:solidFill>
                  <a:srgbClr val="C43D4D"/>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FADE3D94-3D08-4D15-BA74-DF3959DD6E1C}"/>
              </a:ext>
            </a:extLst>
          </p:cNvPr>
          <p:cNvSpPr>
            <a:spLocks xmlns:a="http://schemas.openxmlformats.org/drawingml/2006/main" noGrp="1"/>
          </p:cNvSpPr>
          <p:nvPr/>
        </p:nvSpPr>
        <p:spPr>
          <a:xfrm xmlns:a="http://schemas.openxmlformats.org/drawingml/2006/main">
            <a:off x="1752600" y="18764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IDs for four people</a:t>
            </a:r>
          </a:p>
        </p:txBody>
      </p:sp>
      <p:sp>
        <p:nvSpPr>
          <p:cNvPr id="7" name="">
            <a:extLst xmlns:a="http://schemas.openxmlformats.org/drawingml/2006/main">
              <a:ext uri="{FF2B5EF4-FFF2-40B4-BE49-F238E27FC236}">
                <a16:creationId xmlns:a16="http://schemas.microsoft.com/office/drawing/2014/main" id="{9324E792-873D-4612-A169-5AA213F8BF1B}"/>
              </a:ext>
            </a:extLst>
          </p:cNvPr>
          <p:cNvSpPr>
            <a:spLocks xmlns:a="http://schemas.openxmlformats.org/drawingml/2006/main" noGrp="1"/>
          </p:cNvSpPr>
          <p:nvPr/>
        </p:nvSpPr>
        <p:spPr>
          <a:xfrm xmlns:a="http://schemas.openxmlformats.org/drawingml/2006/main">
            <a:off x="4391025" y="187642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became</a:t>
            </a:r>
          </a:p>
        </p:txBody>
      </p:sp>
      <p:sp>
        <p:nvSpPr>
          <p:cNvPr id="8" name="">
            <a:extLst xmlns:a="http://schemas.openxmlformats.org/drawingml/2006/main">
              <a:ext uri="{FF2B5EF4-FFF2-40B4-BE49-F238E27FC236}">
                <a16:creationId xmlns:a16="http://schemas.microsoft.com/office/drawing/2014/main" id="{2FACF725-30BF-4FD4-9675-89306D36B1A3}"/>
              </a:ext>
            </a:extLst>
          </p:cNvPr>
          <p:cNvSpPr>
            <a:spLocks xmlns:a="http://schemas.openxmlformats.org/drawingml/2006/main" noGrp="1"/>
          </p:cNvSpPr>
          <p:nvPr/>
        </p:nvSpPr>
        <p:spPr>
          <a:xfrm xmlns:a="http://schemas.openxmlformats.org/drawingml/2006/main">
            <a:off x="5524500" y="1743075"/>
            <a:ext cx="876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29"/>
          </a:bodyPr>
          <a:lstStyle xmlns:a="http://schemas.openxmlformats.org/drawingml/2006/main"/>
          <a:p xmlns:a="http://schemas.openxmlformats.org/drawingml/2006/main">
            <a:pPr>
              <a:defRPr sz="4350" b="1">
                <a:solidFill>
                  <a:srgbClr val="087F72"/>
                </a:solidFill>
                <a:latin typeface="Arial"/>
                <a:ea typeface="Arial"/>
                <a:cs typeface="Arial"/>
              </a:defRPr>
            </a:pPr>
            <a:r>
              <a:rPr sz="4350" b="1">
                <a:solidFill>
                  <a:srgbClr val="087F72"/>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51E5F567-7CA3-46E3-8BE5-BFF5B2BAE7C9}"/>
              </a:ext>
            </a:extLst>
          </p:cNvPr>
          <p:cNvSpPr>
            <a:spLocks xmlns:a="http://schemas.openxmlformats.org/drawingml/2006/main" noGrp="1"/>
          </p:cNvSpPr>
          <p:nvPr/>
        </p:nvSpPr>
        <p:spPr>
          <a:xfrm xmlns:a="http://schemas.openxmlformats.org/drawingml/2006/main">
            <a:off x="6400800" y="1876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IDs with zero switches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7fa718d281b4426"/>
          <a:stretch xmlns:a="http://schemas.openxmlformats.org/drawingml/2006/main"/>
        </p:blipFill>
        <p:spPr>
          <a:xfrm xmlns:a="http://schemas.openxmlformats.org/drawingml/2006/main">
            <a:off x="1016000" y="2724150"/>
            <a:ext cx="10160000" cy="2857500"/>
          </a:xfrm>
          <a:prstGeom xmlns:a="http://schemas.openxmlformats.org/drawingml/2006/main" prst="roundRect">
            <a:avLst>
              <a:gd name="adj" fmla="val 4667"/>
            </a:avLst>
          </a:prstGeom>
        </p:spPr>
      </p:pic>
      <p:sp>
        <p:nvSpPr>
          <p:cNvPr id="11" name="">
            <a:extLst xmlns:a="http://schemas.openxmlformats.org/drawingml/2006/main">
              <a:ext uri="{FF2B5EF4-FFF2-40B4-BE49-F238E27FC236}">
                <a16:creationId xmlns:a16="http://schemas.microsoft.com/office/drawing/2014/main" id="{5A288BC9-A477-413A-97DA-0F5BD07CF12E}"/>
              </a:ext>
            </a:extLst>
          </p:cNvPr>
          <p:cNvSpPr>
            <a:spLocks xmlns:a="http://schemas.openxmlformats.org/drawingml/2006/main" noGrp="1"/>
          </p:cNvSpPr>
          <p:nvPr/>
        </p:nvSpPr>
        <p:spPr>
          <a:xfrm xmlns:a="http://schemas.openxmlformats.org/drawingml/2006/main">
            <a:off x="723900" y="2876550"/>
            <a:ext cx="2095500" cy="266700"/>
          </a:xfrm>
          <a:prstGeom xmlns:a="http://schemas.openxmlformats.org/drawingml/2006/main" prst="roundRect">
            <a:avLst>
              <a:gd name="adj" fmla="val 17857"/>
            </a:avLst>
          </a:prstGeom>
          <a:solidFill xmlns:a="http://schemas.openxmlformats.org/drawingml/2006/main">
            <a:srgbClr val="F8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17324D"/>
                </a:solidFill>
                <a:latin typeface="Arial"/>
                <a:ea typeface="Arial"/>
                <a:cs typeface="Arial"/>
              </a:defRPr>
            </a:pPr>
            <a:r>
              <a:rPr sz="900" b="1">
                <a:solidFill>
                  <a:srgbClr val="17324D"/>
                </a:solidFill>
                <a:latin typeface="Arial"/>
                <a:ea typeface="Arial"/>
                <a:cs typeface="Arial"/>
              </a:rPr>
              <a:t>DEFAULT TRACKER</a:t>
            </a:r>
          </a:p>
        </p:txBody>
      </p:sp>
      <p:sp>
        <p:nvSpPr>
          <p:cNvPr id="12" name="">
            <a:extLst xmlns:a="http://schemas.openxmlformats.org/drawingml/2006/main">
              <a:ext uri="{FF2B5EF4-FFF2-40B4-BE49-F238E27FC236}">
                <a16:creationId xmlns:a16="http://schemas.microsoft.com/office/drawing/2014/main" id="{D19F86EA-7790-49A4-9195-546EEE871E5E}"/>
              </a:ext>
            </a:extLst>
          </p:cNvPr>
          <p:cNvSpPr>
            <a:spLocks xmlns:a="http://schemas.openxmlformats.org/drawingml/2006/main" noGrp="1"/>
          </p:cNvSpPr>
          <p:nvPr/>
        </p:nvSpPr>
        <p:spPr>
          <a:xfrm xmlns:a="http://schemas.openxmlformats.org/drawingml/2006/main">
            <a:off x="6400800" y="2876550"/>
            <a:ext cx="2781300" cy="266700"/>
          </a:xfrm>
          <a:prstGeom xmlns:a="http://schemas.openxmlformats.org/drawingml/2006/main" prst="roundRect">
            <a:avLst>
              <a:gd name="adj" fmla="val 17857"/>
            </a:avLst>
          </a:prstGeom>
          <a:solidFill xmlns:a="http://schemas.openxmlformats.org/drawingml/2006/main">
            <a:srgbClr val="F8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BOX CLEANUP + ID STITCHING</a:t>
            </a:r>
          </a:p>
        </p:txBody>
      </p:sp>
      <p:sp>
        <p:nvSpPr>
          <p:cNvPr id="13" name="">
            <a:extLst xmlns:a="http://schemas.openxmlformats.org/drawingml/2006/main">
              <a:ext uri="{FF2B5EF4-FFF2-40B4-BE49-F238E27FC236}">
                <a16:creationId xmlns:a16="http://schemas.microsoft.com/office/drawing/2014/main" id="{24F17D80-4BB9-4091-A98C-E99547B14889}"/>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FIVE MUJOCO SCENARIOS · SYNTHETIC ONLY</a:t>
            </a:r>
          </a:p>
        </p:txBody>
      </p:sp>
    </p:spTree>
    <p:extLst>
      <p:ext uri="{BB962C8B-B14F-4D97-AF65-F5344CB8AC3E}">
        <p14:creationId xmlns:p14="http://schemas.microsoft.com/office/powerpoint/2010/main" val="680455812"/>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da381b8617a4703"/>
          <a:srcRect xmlns:a="http://schemas.openxmlformats.org/drawingml/2006/main" l="20960" t="0" r="20960" b="0"/>
          <a:stretch xmlns:a="http://schemas.openxmlformats.org/drawingml/2006/main">
            <a:fillRect l="0" t="0" r="0" b="0"/>
          </a:stretch>
        </p:blipFill>
        <p:spPr>
          <a:xfrm xmlns:a="http://schemas.openxmlformats.org/drawingml/2006/main">
            <a:off x="6724650" y="1390650"/>
            <a:ext cx="4914900" cy="4762500"/>
          </a:xfrm>
          <a:prstGeom xmlns:a="http://schemas.openxmlformats.org/drawingml/2006/main" prst="roundRect">
            <a:avLst>
              <a:gd name="adj" fmla="val 4800"/>
            </a:avLst>
          </a:prstGeom>
        </p:spPr>
      </p:pic>
      <p:sp>
        <p:nvSpPr>
          <p:cNvPr id="2" name="">
            <a:extLst xmlns:a="http://schemas.openxmlformats.org/drawingml/2006/main">
              <a:ext uri="{FF2B5EF4-FFF2-40B4-BE49-F238E27FC236}">
                <a16:creationId xmlns:a16="http://schemas.microsoft.com/office/drawing/2014/main" id="{80B27DB4-246A-4E69-85AD-7603DDA9599E}"/>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CAMERA INTEGRATION</a:t>
            </a:r>
          </a:p>
        </p:txBody>
      </p:sp>
      <p:sp>
        <p:nvSpPr>
          <p:cNvPr id="3" name="">
            <a:extLst xmlns:a="http://schemas.openxmlformats.org/drawingml/2006/main">
              <a:ext uri="{FF2B5EF4-FFF2-40B4-BE49-F238E27FC236}">
                <a16:creationId xmlns:a16="http://schemas.microsoft.com/office/drawing/2014/main" id="{7C284703-9245-4526-A042-4852632504DB}"/>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09861CF-13AC-4C11-836D-3A00B9C6A7C2}"/>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E0394F-9A9A-4A00-876B-5B7F75A3E5E5}"/>
              </a:ext>
            </a:extLst>
          </p:cNvPr>
          <p:cNvSpPr>
            <a:spLocks xmlns:a="http://schemas.openxmlformats.org/drawingml/2006/main" noGrp="1"/>
          </p:cNvSpPr>
          <p:nvPr/>
        </p:nvSpPr>
        <p:spPr>
          <a:xfrm xmlns:a="http://schemas.openxmlformats.org/drawingml/2006/main">
            <a:off x="552450" y="914400"/>
            <a:ext cx="533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873"/>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One source adapter supports local video today and camera APIs later</a:t>
            </a:r>
          </a:p>
        </p:txBody>
      </p:sp>
      <p:sp>
        <p:nvSpPr>
          <p:cNvPr id="6" name="">
            <a:extLst xmlns:a="http://schemas.openxmlformats.org/drawingml/2006/main">
              <a:ext uri="{FF2B5EF4-FFF2-40B4-BE49-F238E27FC236}">
                <a16:creationId xmlns:a16="http://schemas.microsoft.com/office/drawing/2014/main" id="{B4DF2F2B-7A53-4C4B-B8E3-A7B27D5B2C90}"/>
              </a:ext>
            </a:extLst>
          </p:cNvPr>
          <p:cNvSpPr>
            <a:spLocks xmlns:a="http://schemas.openxmlformats.org/drawingml/2006/main" noGrp="1"/>
          </p:cNvSpPr>
          <p:nvPr/>
        </p:nvSpPr>
        <p:spPr>
          <a:xfrm xmlns:a="http://schemas.openxmlformats.org/drawingml/2006/main">
            <a:off x="552450" y="278130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087F72"/>
                </a:solidFill>
                <a:latin typeface="Arial"/>
                <a:ea typeface="Arial"/>
                <a:cs typeface="Arial"/>
              </a:defRPr>
            </a:pPr>
            <a:r>
              <a:rPr sz="750" b="1">
                <a:solidFill>
                  <a:srgbClr val="087F72"/>
                </a:solidFill>
                <a:latin typeface="Arial"/>
                <a:ea typeface="Arial"/>
                <a:cs typeface="Arial"/>
              </a:rPr>
              <a:t>NOW</a:t>
            </a:r>
          </a:p>
        </p:txBody>
      </p:sp>
      <p:sp>
        <p:nvSpPr>
          <p:cNvPr id="7" name="">
            <a:extLst xmlns:a="http://schemas.openxmlformats.org/drawingml/2006/main">
              <a:ext uri="{FF2B5EF4-FFF2-40B4-BE49-F238E27FC236}">
                <a16:creationId xmlns:a16="http://schemas.microsoft.com/office/drawing/2014/main" id="{934B6199-24F7-4FE7-B242-4E18A170BA06}"/>
              </a:ext>
            </a:extLst>
          </p:cNvPr>
          <p:cNvSpPr>
            <a:spLocks xmlns:a="http://schemas.openxmlformats.org/drawingml/2006/main" noGrp="1"/>
          </p:cNvSpPr>
          <p:nvPr/>
        </p:nvSpPr>
        <p:spPr>
          <a:xfrm xmlns:a="http://schemas.openxmlformats.org/drawingml/2006/main">
            <a:off x="1390650" y="27336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Uploaded video</a:t>
            </a:r>
          </a:p>
        </p:txBody>
      </p:sp>
      <p:sp>
        <p:nvSpPr>
          <p:cNvPr id="8" name="">
            <a:extLst xmlns:a="http://schemas.openxmlformats.org/drawingml/2006/main">
              <a:ext uri="{FF2B5EF4-FFF2-40B4-BE49-F238E27FC236}">
                <a16:creationId xmlns:a16="http://schemas.microsoft.com/office/drawing/2014/main" id="{31AD5206-DE50-4B31-AB23-4C2C0C69654F}"/>
              </a:ext>
            </a:extLst>
          </p:cNvPr>
          <p:cNvSpPr>
            <a:spLocks xmlns:a="http://schemas.openxmlformats.org/drawingml/2006/main" noGrp="1"/>
          </p:cNvSpPr>
          <p:nvPr/>
        </p:nvSpPr>
        <p:spPr>
          <a:xfrm xmlns:a="http://schemas.openxmlformats.org/drawingml/2006/main">
            <a:off x="552450" y="3362325"/>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A86E00"/>
                </a:solidFill>
                <a:latin typeface="Arial"/>
                <a:ea typeface="Arial"/>
                <a:cs typeface="Arial"/>
              </a:defRPr>
            </a:pPr>
            <a:r>
              <a:rPr sz="750" b="1">
                <a:solidFill>
                  <a:srgbClr val="A86E00"/>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AD3F09BA-A26E-42CC-B05E-B0AC241BD3FB}"/>
              </a:ext>
            </a:extLst>
          </p:cNvPr>
          <p:cNvSpPr>
            <a:spLocks xmlns:a="http://schemas.openxmlformats.org/drawingml/2006/main" noGrp="1"/>
          </p:cNvSpPr>
          <p:nvPr/>
        </p:nvSpPr>
        <p:spPr>
          <a:xfrm xmlns:a="http://schemas.openxmlformats.org/drawingml/2006/main">
            <a:off x="1390650" y="33147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Webcam and RTSP</a:t>
            </a:r>
          </a:p>
        </p:txBody>
      </p:sp>
      <p:sp>
        <p:nvSpPr>
          <p:cNvPr id="10" name="">
            <a:extLst xmlns:a="http://schemas.openxmlformats.org/drawingml/2006/main">
              <a:ext uri="{FF2B5EF4-FFF2-40B4-BE49-F238E27FC236}">
                <a16:creationId xmlns:a16="http://schemas.microsoft.com/office/drawing/2014/main" id="{D6CD1290-F5C1-45F4-B2EB-E74A0A2A09C6}"/>
              </a:ext>
            </a:extLst>
          </p:cNvPr>
          <p:cNvSpPr>
            <a:spLocks xmlns:a="http://schemas.openxmlformats.org/drawingml/2006/main" noGrp="1"/>
          </p:cNvSpPr>
          <p:nvPr/>
        </p:nvSpPr>
        <p:spPr>
          <a:xfrm xmlns:a="http://schemas.openxmlformats.org/drawingml/2006/main">
            <a:off x="552450" y="39433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B6FAE"/>
                </a:solidFill>
                <a:latin typeface="Arial"/>
                <a:ea typeface="Arial"/>
                <a:cs typeface="Arial"/>
              </a:defRPr>
            </a:pPr>
            <a:r>
              <a:rPr sz="750" b="1">
                <a:solidFill>
                  <a:srgbClr val="2B6FAE"/>
                </a:solidFill>
                <a:latin typeface="Arial"/>
                <a:ea typeface="Arial"/>
                <a:cs typeface="Arial"/>
              </a:rPr>
              <a:t>LATER</a:t>
            </a:r>
          </a:p>
        </p:txBody>
      </p:sp>
      <p:sp>
        <p:nvSpPr>
          <p:cNvPr id="11" name="">
            <a:extLst xmlns:a="http://schemas.openxmlformats.org/drawingml/2006/main">
              <a:ext uri="{FF2B5EF4-FFF2-40B4-BE49-F238E27FC236}">
                <a16:creationId xmlns:a16="http://schemas.microsoft.com/office/drawing/2014/main" id="{9E27D622-8E8D-435D-8859-2F93267B2623}"/>
              </a:ext>
            </a:extLst>
          </p:cNvPr>
          <p:cNvSpPr>
            <a:spLocks xmlns:a="http://schemas.openxmlformats.org/drawingml/2006/main" noGrp="1"/>
          </p:cNvSpPr>
          <p:nvPr/>
        </p:nvSpPr>
        <p:spPr>
          <a:xfrm xmlns:a="http://schemas.openxmlformats.org/drawingml/2006/main">
            <a:off x="1390650" y="38957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Ring WebRTC/WHEP</a:t>
            </a:r>
          </a:p>
        </p:txBody>
      </p:sp>
      <p:sp>
        <p:nvSpPr>
          <p:cNvPr id="12" name="">
            <a:extLst xmlns:a="http://schemas.openxmlformats.org/drawingml/2006/main">
              <a:ext uri="{FF2B5EF4-FFF2-40B4-BE49-F238E27FC236}">
                <a16:creationId xmlns:a16="http://schemas.microsoft.com/office/drawing/2014/main" id="{B523912A-6AAB-4753-9BB1-A0B8694BFA24}"/>
              </a:ext>
            </a:extLst>
          </p:cNvPr>
          <p:cNvSpPr>
            <a:spLocks xmlns:a="http://schemas.openxmlformats.org/drawingml/2006/main" noGrp="1"/>
          </p:cNvSpPr>
          <p:nvPr/>
        </p:nvSpPr>
        <p:spPr>
          <a:xfrm xmlns:a="http://schemas.openxmlformats.org/drawingml/2006/main">
            <a:off x="552450" y="4524375"/>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B6FAE"/>
                </a:solidFill>
                <a:latin typeface="Arial"/>
                <a:ea typeface="Arial"/>
                <a:cs typeface="Arial"/>
              </a:defRPr>
            </a:pPr>
            <a:r>
              <a:rPr sz="750" b="1">
                <a:solidFill>
                  <a:srgbClr val="2B6FAE"/>
                </a:solidFill>
                <a:latin typeface="Arial"/>
                <a:ea typeface="Arial"/>
                <a:cs typeface="Arial"/>
              </a:rPr>
              <a:t>LATER</a:t>
            </a:r>
          </a:p>
        </p:txBody>
      </p:sp>
      <p:sp>
        <p:nvSpPr>
          <p:cNvPr id="13" name="">
            <a:extLst xmlns:a="http://schemas.openxmlformats.org/drawingml/2006/main">
              <a:ext uri="{FF2B5EF4-FFF2-40B4-BE49-F238E27FC236}">
                <a16:creationId xmlns:a16="http://schemas.microsoft.com/office/drawing/2014/main" id="{20C2F9BD-521D-4BC3-B833-53CA9610AEF0}"/>
              </a:ext>
            </a:extLst>
          </p:cNvPr>
          <p:cNvSpPr>
            <a:spLocks xmlns:a="http://schemas.openxmlformats.org/drawingml/2006/main" noGrp="1"/>
          </p:cNvSpPr>
          <p:nvPr/>
        </p:nvSpPr>
        <p:spPr>
          <a:xfrm xmlns:a="http://schemas.openxmlformats.org/drawingml/2006/main">
            <a:off x="1390650" y="4476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Nest WebRTC or RTSP</a:t>
            </a:r>
          </a:p>
        </p:txBody>
      </p:sp>
      <p:sp>
        <p:nvSpPr>
          <p:cNvPr id="14" name="">
            <a:extLst xmlns:a="http://schemas.openxmlformats.org/drawingml/2006/main">
              <a:ext uri="{FF2B5EF4-FFF2-40B4-BE49-F238E27FC236}">
                <a16:creationId xmlns:a16="http://schemas.microsoft.com/office/drawing/2014/main" id="{306704BE-44F0-4A7F-9275-503BF22BFBC1}"/>
              </a:ext>
            </a:extLst>
          </p:cNvPr>
          <p:cNvSpPr>
            <a:spLocks xmlns:a="http://schemas.openxmlformats.org/drawingml/2006/main" noGrp="1"/>
          </p:cNvSpPr>
          <p:nvPr/>
        </p:nvSpPr>
        <p:spPr>
          <a:xfrm xmlns:a="http://schemas.openxmlformats.org/drawingml/2006/main">
            <a:off x="552450" y="5448300"/>
            <a:ext cx="4876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The overlay appears in our application. The native Ring or Google Home screen remains unchanged.</a:t>
            </a:r>
          </a:p>
        </p:txBody>
      </p:sp>
      <p:sp>
        <p:nvSpPr>
          <p:cNvPr id="15" name="">
            <a:extLst xmlns:a="http://schemas.openxmlformats.org/drawingml/2006/main">
              <a:ext uri="{FF2B5EF4-FFF2-40B4-BE49-F238E27FC236}">
                <a16:creationId xmlns:a16="http://schemas.microsoft.com/office/drawing/2014/main" id="{01290D65-668B-4216-8D51-EBA481F8C7E6}"/>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AUTHORIZED ACCESS · ACCOUNT LINKING · PRIVACY REVIEW</a:t>
            </a:r>
          </a:p>
        </p:txBody>
      </p:sp>
    </p:spTree>
    <p:extLst>
      <p:ext uri="{BB962C8B-B14F-4D97-AF65-F5344CB8AC3E}">
        <p14:creationId xmlns:p14="http://schemas.microsoft.com/office/powerpoint/2010/main" val="1093207383"/>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2E42E6E-FE71-46F9-BE73-80FCCD871371}"/>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B3400365-7B27-443B-ABAD-C162E40CBA9C}"/>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CE89C4AC-7818-4E10-9F03-B3D64BA2381E}"/>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48F646-B32B-42A3-AB63-1C2FB477EB73}"/>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Watch the state change, not just the box</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1ad329370fe436d"/>
          <a:srcRect xmlns:a="http://schemas.openxmlformats.org/drawingml/2006/main" l="0" t="90" r="0" b="90"/>
          <a:stretch xmlns:a="http://schemas.openxmlformats.org/drawingml/2006/main">
            <a:fillRect l="0" t="0" r="0" b="0"/>
          </a:stretch>
        </p:blipFill>
        <p:spPr>
          <a:xfrm xmlns:a="http://schemas.openxmlformats.org/drawingml/2006/main">
            <a:off x="552450" y="1790700"/>
            <a:ext cx="7667625" cy="4305300"/>
          </a:xfrm>
          <a:prstGeom xmlns:a="http://schemas.openxmlformats.org/drawingml/2006/main" prst="roundRect">
            <a:avLst>
              <a:gd name="adj" fmla="val 3982"/>
            </a:avLst>
          </a:prstGeom>
        </p:spPr>
      </p:pic>
      <p:sp>
        <p:nvSpPr>
          <p:cNvPr id="6" name="">
            <a:extLst xmlns:a="http://schemas.openxmlformats.org/drawingml/2006/main">
              <a:ext uri="{FF2B5EF4-FFF2-40B4-BE49-F238E27FC236}">
                <a16:creationId xmlns:a16="http://schemas.microsoft.com/office/drawing/2014/main" id="{2B42470F-FF35-4BAF-A057-9EABB639451A}"/>
              </a:ext>
            </a:extLst>
          </p:cNvPr>
          <p:cNvSpPr>
            <a:spLocks xmlns:a="http://schemas.openxmlformats.org/drawingml/2006/main" noGrp="1"/>
          </p:cNvSpPr>
          <p:nvPr/>
        </p:nvSpPr>
        <p:spPr>
          <a:xfrm xmlns:a="http://schemas.openxmlformats.org/drawingml/2006/main">
            <a:off x="8496300" y="1790700"/>
            <a:ext cx="3143250" cy="43053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7E1E7"/>
            </a:solidFill>
          </a:ln>
        </p:spPr>
      </p:sp>
      <p:sp>
        <p:nvSpPr>
          <p:cNvPr id="7" name="">
            <a:extLst xmlns:a="http://schemas.openxmlformats.org/drawingml/2006/main">
              <a:ext uri="{FF2B5EF4-FFF2-40B4-BE49-F238E27FC236}">
                <a16:creationId xmlns:a16="http://schemas.microsoft.com/office/drawing/2014/main" id="{FDDCD577-D680-4537-AC1C-14D8D5598C4D}"/>
              </a:ext>
            </a:extLst>
          </p:cNvPr>
          <p:cNvSpPr>
            <a:spLocks xmlns:a="http://schemas.openxmlformats.org/drawingml/2006/main" noGrp="1"/>
          </p:cNvSpPr>
          <p:nvPr/>
        </p:nvSpPr>
        <p:spPr>
          <a:xfrm xmlns:a="http://schemas.openxmlformats.org/drawingml/2006/main">
            <a:off x="8763000" y="20383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DEMO RUN</a:t>
            </a:r>
          </a:p>
        </p:txBody>
      </p:sp>
      <p:sp>
        <p:nvSpPr>
          <p:cNvPr id="8" name="">
            <a:extLst xmlns:a="http://schemas.openxmlformats.org/drawingml/2006/main">
              <a:ext uri="{FF2B5EF4-FFF2-40B4-BE49-F238E27FC236}">
                <a16:creationId xmlns:a16="http://schemas.microsoft.com/office/drawing/2014/main" id="{6E5B9AB5-4B53-4EFE-BBCE-7994045BC3BC}"/>
              </a:ext>
            </a:extLst>
          </p:cNvPr>
          <p:cNvSpPr>
            <a:spLocks xmlns:a="http://schemas.openxmlformats.org/drawingml/2006/main" noGrp="1"/>
          </p:cNvSpPr>
          <p:nvPr/>
        </p:nvSpPr>
        <p:spPr>
          <a:xfrm xmlns:a="http://schemas.openxmlformats.org/drawingml/2006/main">
            <a:off x="8763000" y="25717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E7182"/>
                </a:solidFill>
                <a:latin typeface="Arial"/>
                <a:ea typeface="Arial"/>
                <a:cs typeface="Arial"/>
              </a:defRPr>
            </a:pPr>
            <a:r>
              <a:rPr sz="1500" b="1">
                <a:solidFill>
                  <a:srgbClr val="5E7182"/>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311DCDC6-09A8-4645-ACDD-31DFD92B9C2C}"/>
              </a:ext>
            </a:extLst>
          </p:cNvPr>
          <p:cNvSpPr>
            <a:spLocks xmlns:a="http://schemas.openxmlformats.org/drawingml/2006/main" noGrp="1"/>
          </p:cNvSpPr>
          <p:nvPr/>
        </p:nvSpPr>
        <p:spPr>
          <a:xfrm xmlns:a="http://schemas.openxmlformats.org/drawingml/2006/main">
            <a:off x="9277350" y="254317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Activate monitoring</a:t>
            </a:r>
          </a:p>
        </p:txBody>
      </p:sp>
      <p:sp>
        <p:nvSpPr>
          <p:cNvPr id="10" name="">
            <a:extLst xmlns:a="http://schemas.openxmlformats.org/drawingml/2006/main">
              <a:ext uri="{FF2B5EF4-FFF2-40B4-BE49-F238E27FC236}">
                <a16:creationId xmlns:a16="http://schemas.microsoft.com/office/drawing/2014/main" id="{6BFC4B2F-5776-4C3A-B9ED-986F5EF90FD1}"/>
              </a:ext>
            </a:extLst>
          </p:cNvPr>
          <p:cNvSpPr>
            <a:spLocks xmlns:a="http://schemas.openxmlformats.org/drawingml/2006/main" noGrp="1"/>
          </p:cNvSpPr>
          <p:nvPr/>
        </p:nvSpPr>
        <p:spPr>
          <a:xfrm xmlns:a="http://schemas.openxmlformats.org/drawingml/2006/main">
            <a:off x="8763000" y="3248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E7182"/>
                </a:solidFill>
                <a:latin typeface="Arial"/>
                <a:ea typeface="Arial"/>
                <a:cs typeface="Arial"/>
              </a:defRPr>
            </a:pPr>
            <a:r>
              <a:rPr sz="1500" b="1">
                <a:solidFill>
                  <a:srgbClr val="5E7182"/>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0945D29E-F012-47FB-90F7-C49D64FBE323}"/>
              </a:ext>
            </a:extLst>
          </p:cNvPr>
          <p:cNvSpPr>
            <a:spLocks xmlns:a="http://schemas.openxmlformats.org/drawingml/2006/main" noGrp="1"/>
          </p:cNvSpPr>
          <p:nvPr/>
        </p:nvSpPr>
        <p:spPr>
          <a:xfrm xmlns:a="http://schemas.openxmlformats.org/drawingml/2006/main">
            <a:off x="9277350" y="32194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86"/>
          </a:bodyPr>
          <a:lstStyle xmlns:a="http://schemas.openxmlformats.org/drawingml/2006/main"/>
          <a:p xmlns:a="http://schemas.openxmlformats.org/drawingml/2006/main">
            <a:pPr>
              <a:defRPr sz="1350" b="1">
                <a:solidFill>
                  <a:srgbClr val="A86E00"/>
                </a:solidFill>
                <a:latin typeface="Arial"/>
                <a:ea typeface="Arial"/>
                <a:cs typeface="Arial"/>
              </a:defRPr>
            </a:pPr>
            <a:r>
              <a:rPr sz="1350" b="1">
                <a:solidFill>
                  <a:srgbClr val="A86E00"/>
                </a:solidFill>
                <a:latin typeface="Arial"/>
                <a:ea typeface="Arial"/>
                <a:cs typeface="Arial"/>
              </a:rPr>
              <a:t>Green becomes yellow</a:t>
            </a:r>
          </a:p>
        </p:txBody>
      </p:sp>
      <p:sp>
        <p:nvSpPr>
          <p:cNvPr id="12" name="">
            <a:extLst xmlns:a="http://schemas.openxmlformats.org/drawingml/2006/main">
              <a:ext uri="{FF2B5EF4-FFF2-40B4-BE49-F238E27FC236}">
                <a16:creationId xmlns:a16="http://schemas.microsoft.com/office/drawing/2014/main" id="{2D8CD46E-DE21-457A-990D-DB524439C8C5}"/>
              </a:ext>
            </a:extLst>
          </p:cNvPr>
          <p:cNvSpPr>
            <a:spLocks xmlns:a="http://schemas.openxmlformats.org/drawingml/2006/main" noGrp="1"/>
          </p:cNvSpPr>
          <p:nvPr/>
        </p:nvSpPr>
        <p:spPr>
          <a:xfrm xmlns:a="http://schemas.openxmlformats.org/drawingml/2006/main">
            <a:off x="8763000" y="3924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E7182"/>
                </a:solidFill>
                <a:latin typeface="Arial"/>
                <a:ea typeface="Arial"/>
                <a:cs typeface="Arial"/>
              </a:defRPr>
            </a:pPr>
            <a:r>
              <a:rPr sz="1500" b="1">
                <a:solidFill>
                  <a:srgbClr val="5E71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D770709-FE34-4DA7-9EC2-60CE1F81C8B4}"/>
              </a:ext>
            </a:extLst>
          </p:cNvPr>
          <p:cNvSpPr>
            <a:spLocks xmlns:a="http://schemas.openxmlformats.org/drawingml/2006/main" noGrp="1"/>
          </p:cNvSpPr>
          <p:nvPr/>
        </p:nvSpPr>
        <p:spPr>
          <a:xfrm xmlns:a="http://schemas.openxmlformats.org/drawingml/2006/main">
            <a:off x="9277350" y="38957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C43D4D"/>
                </a:solidFill>
                <a:latin typeface="Arial"/>
                <a:ea typeface="Arial"/>
                <a:cs typeface="Arial"/>
              </a:defRPr>
            </a:pPr>
            <a:r>
              <a:rPr sz="1350" b="1">
                <a:solidFill>
                  <a:srgbClr val="C43D4D"/>
                </a:solidFill>
                <a:latin typeface="Arial"/>
                <a:ea typeface="Arial"/>
                <a:cs typeface="Arial"/>
              </a:rPr>
              <a:t>Timer reaches red</a:t>
            </a:r>
          </a:p>
        </p:txBody>
      </p:sp>
      <p:sp>
        <p:nvSpPr>
          <p:cNvPr id="14" name="">
            <a:extLst xmlns:a="http://schemas.openxmlformats.org/drawingml/2006/main">
              <a:ext uri="{FF2B5EF4-FFF2-40B4-BE49-F238E27FC236}">
                <a16:creationId xmlns:a16="http://schemas.microsoft.com/office/drawing/2014/main" id="{C5EFA57F-3D72-4407-9962-18EA3D42DC05}"/>
              </a:ext>
            </a:extLst>
          </p:cNvPr>
          <p:cNvSpPr>
            <a:spLocks xmlns:a="http://schemas.openxmlformats.org/drawingml/2006/main" noGrp="1"/>
          </p:cNvSpPr>
          <p:nvPr/>
        </p:nvSpPr>
        <p:spPr>
          <a:xfrm xmlns:a="http://schemas.openxmlformats.org/drawingml/2006/main">
            <a:off x="8763000" y="46005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E7182"/>
                </a:solidFill>
                <a:latin typeface="Arial"/>
                <a:ea typeface="Arial"/>
                <a:cs typeface="Arial"/>
              </a:defRPr>
            </a:pPr>
            <a:r>
              <a:rPr sz="1500" b="1">
                <a:solidFill>
                  <a:srgbClr val="5E7182"/>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ED458865-B57E-4044-BF32-E9CE571A2B10}"/>
              </a:ext>
            </a:extLst>
          </p:cNvPr>
          <p:cNvSpPr>
            <a:spLocks xmlns:a="http://schemas.openxmlformats.org/drawingml/2006/main" noGrp="1"/>
          </p:cNvSpPr>
          <p:nvPr/>
        </p:nvSpPr>
        <p:spPr>
          <a:xfrm xmlns:a="http://schemas.openxmlformats.org/drawingml/2006/main">
            <a:off x="9277350" y="457200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Explain and replay</a:t>
            </a:r>
          </a:p>
        </p:txBody>
      </p:sp>
      <p:sp>
        <p:nvSpPr>
          <p:cNvPr id="16" name="">
            <a:extLst xmlns:a="http://schemas.openxmlformats.org/drawingml/2006/main">
              <a:ext uri="{FF2B5EF4-FFF2-40B4-BE49-F238E27FC236}">
                <a16:creationId xmlns:a16="http://schemas.microsoft.com/office/drawing/2014/main" id="{2824A36B-8984-4523-97C7-FF3CA436B6CE}"/>
              </a:ext>
            </a:extLst>
          </p:cNvPr>
          <p:cNvSpPr>
            <a:spLocks xmlns:a="http://schemas.openxmlformats.org/drawingml/2006/main" noGrp="1"/>
          </p:cNvSpPr>
          <p:nvPr/>
        </p:nvSpPr>
        <p:spPr>
          <a:xfrm xmlns:a="http://schemas.openxmlformats.org/drawingml/2006/main">
            <a:off x="8763000" y="5276850"/>
            <a:ext cx="257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defRPr sz="750" b="1">
                <a:solidFill>
                  <a:srgbClr val="087F72"/>
                </a:solidFill>
                <a:latin typeface="Arial"/>
                <a:ea typeface="Arial"/>
                <a:cs typeface="Arial"/>
              </a:defRPr>
            </a:pPr>
            <a:r>
              <a:rPr sz="750" b="1">
                <a:solidFill>
                  <a:srgbClr val="087F72"/>
                </a:solidFill>
                <a:latin typeface="Arial"/>
                <a:ea typeface="Arial"/>
                <a:cs typeface="Arial"/>
              </a:rPr>
              <a:t>STATE THE MODE</a:t>
            </a:r>
          </a:p>
        </p:txBody>
      </p:sp>
      <p:sp>
        <p:nvSpPr>
          <p:cNvPr id="17" name="">
            <a:extLst xmlns:a="http://schemas.openxmlformats.org/drawingml/2006/main">
              <a:ext uri="{FF2B5EF4-FFF2-40B4-BE49-F238E27FC236}">
                <a16:creationId xmlns:a16="http://schemas.microsoft.com/office/drawing/2014/main" id="{9572FE88-5706-4BFE-923C-565F4B90C2EF}"/>
              </a:ext>
            </a:extLst>
          </p:cNvPr>
          <p:cNvSpPr>
            <a:spLocks xmlns:a="http://schemas.openxmlformats.org/drawingml/2006/main" noGrp="1"/>
          </p:cNvSpPr>
          <p:nvPr/>
        </p:nvSpPr>
        <p:spPr>
          <a:xfrm xmlns:a="http://schemas.openxmlformats.org/drawingml/2006/main">
            <a:off x="8763000" y="55054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Real · recorded · scripted</a:t>
            </a:r>
          </a:p>
        </p:txBody>
      </p:sp>
      <p:sp>
        <p:nvSpPr>
          <p:cNvPr id="18" name="">
            <a:extLst xmlns:a="http://schemas.openxmlformats.org/drawingml/2006/main">
              <a:ext uri="{FF2B5EF4-FFF2-40B4-BE49-F238E27FC236}">
                <a16:creationId xmlns:a16="http://schemas.microsoft.com/office/drawing/2014/main" id="{4B3B526B-8FEE-4F2E-A293-97C484DA6EB2}"/>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SWITCH TO THE LOCAL FRONTEND NOW</a:t>
            </a:r>
          </a:p>
        </p:txBody>
      </p:sp>
    </p:spTree>
    <p:extLst>
      <p:ext uri="{BB962C8B-B14F-4D97-AF65-F5344CB8AC3E}">
        <p14:creationId xmlns:p14="http://schemas.microsoft.com/office/powerpoint/2010/main" val="830948783"/>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BCF3F9-C80E-45BF-B65F-0410BA2E0CC2}"/>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WHAT COMES NEXT</a:t>
            </a:r>
          </a:p>
        </p:txBody>
      </p:sp>
      <p:sp>
        <p:nvSpPr>
          <p:cNvPr id="2" name="">
            <a:extLst xmlns:a="http://schemas.openxmlformats.org/drawingml/2006/main">
              <a:ext uri="{FF2B5EF4-FFF2-40B4-BE49-F238E27FC236}">
                <a16:creationId xmlns:a16="http://schemas.microsoft.com/office/drawing/2014/main" id="{8A8F1F59-9865-430B-8B84-2D22D7DD7588}"/>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8A47141-E0B5-4674-B7A4-35F30E289166}"/>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63D4E7-167F-4D38-8F38-C3CF2B4FA5EE}"/>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2"/>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The next test is real footage, separated by recording session</a:t>
            </a:r>
          </a:p>
        </p:txBody>
      </p:sp>
      <p:sp>
        <p:nvSpPr>
          <p:cNvPr id="5" name="">
            <a:extLst xmlns:a="http://schemas.openxmlformats.org/drawingml/2006/main">
              <a:ext uri="{FF2B5EF4-FFF2-40B4-BE49-F238E27FC236}">
                <a16:creationId xmlns:a16="http://schemas.microsoft.com/office/drawing/2014/main" id="{D662416F-0C49-4829-A6E2-7429827E2DC6}"/>
              </a:ext>
            </a:extLst>
          </p:cNvPr>
          <p:cNvSpPr>
            <a:spLocks xmlns:a="http://schemas.openxmlformats.org/drawingml/2006/main" noGrp="1"/>
          </p:cNvSpPr>
          <p:nvPr/>
        </p:nvSpPr>
        <p:spPr>
          <a:xfrm xmlns:a="http://schemas.openxmlformats.org/drawingml/2006/main">
            <a:off x="552450" y="19240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C43D4D"/>
                </a:solidFill>
                <a:latin typeface="Arial"/>
                <a:ea typeface="Arial"/>
                <a:cs typeface="Arial"/>
              </a:defRPr>
            </a:pPr>
            <a:r>
              <a:rPr sz="900" b="1">
                <a:solidFill>
                  <a:srgbClr val="C43D4D"/>
                </a:solidFill>
                <a:latin typeface="Arial"/>
                <a:ea typeface="Arial"/>
                <a:cs typeface="Arial"/>
              </a:rPr>
              <a:t>LIMITS TODAY</a:t>
            </a:r>
          </a:p>
        </p:txBody>
      </p:sp>
      <p:sp>
        <p:nvSpPr>
          <p:cNvPr id="6" name="">
            <a:extLst xmlns:a="http://schemas.openxmlformats.org/drawingml/2006/main">
              <a:ext uri="{FF2B5EF4-FFF2-40B4-BE49-F238E27FC236}">
                <a16:creationId xmlns:a16="http://schemas.microsoft.com/office/drawing/2014/main" id="{20B5288F-F216-4967-A8A3-3FFB6BFBD5EF}"/>
              </a:ext>
            </a:extLst>
          </p:cNvPr>
          <p:cNvSpPr>
            <a:spLocks xmlns:a="http://schemas.openxmlformats.org/drawingml/2006/main" noGrp="1"/>
          </p:cNvSpPr>
          <p:nvPr/>
        </p:nvSpPr>
        <p:spPr>
          <a:xfrm xmlns:a="http://schemas.openxmlformats.org/drawingml/2006/main">
            <a:off x="552450" y="23622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Synthetic accuracy only</a:t>
            </a:r>
          </a:p>
        </p:txBody>
      </p:sp>
      <p:sp>
        <p:nvSpPr>
          <p:cNvPr id="7" name="">
            <a:extLst xmlns:a="http://schemas.openxmlformats.org/drawingml/2006/main">
              <a:ext uri="{FF2B5EF4-FFF2-40B4-BE49-F238E27FC236}">
                <a16:creationId xmlns:a16="http://schemas.microsoft.com/office/drawing/2014/main" id="{45CA8E2E-81A1-471A-B21C-70CBEFEEE101}"/>
              </a:ext>
            </a:extLst>
          </p:cNvPr>
          <p:cNvSpPr>
            <a:spLocks xmlns:a="http://schemas.openxmlformats.org/drawingml/2006/main" noGrp="1"/>
          </p:cNvSpPr>
          <p:nvPr/>
        </p:nvSpPr>
        <p:spPr>
          <a:xfrm xmlns:a="http://schemas.openxmlformats.org/drawingml/2006/main">
            <a:off x="552450" y="2857500"/>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No real glare, splash, compression or crowded-pool occlusion</a:t>
            </a:r>
          </a:p>
        </p:txBody>
      </p:sp>
      <p:sp>
        <p:nvSpPr>
          <p:cNvPr id="8" name="">
            <a:extLst xmlns:a="http://schemas.openxmlformats.org/drawingml/2006/main">
              <a:ext uri="{FF2B5EF4-FFF2-40B4-BE49-F238E27FC236}">
                <a16:creationId xmlns:a16="http://schemas.microsoft.com/office/drawing/2014/main" id="{808BC43E-AD3A-4317-971D-DFF6619D415F}"/>
              </a:ext>
            </a:extLst>
          </p:cNvPr>
          <p:cNvSpPr>
            <a:spLocks xmlns:a="http://schemas.openxmlformats.org/drawingml/2006/main" noGrp="1"/>
          </p:cNvSpPr>
          <p:nvPr/>
        </p:nvSpPr>
        <p:spPr>
          <a:xfrm xmlns:a="http://schemas.openxmlformats.org/drawingml/2006/main">
            <a:off x="552450" y="37623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One person class</a:t>
            </a:r>
          </a:p>
        </p:txBody>
      </p:sp>
      <p:sp>
        <p:nvSpPr>
          <p:cNvPr id="9" name="">
            <a:extLst xmlns:a="http://schemas.openxmlformats.org/drawingml/2006/main">
              <a:ext uri="{FF2B5EF4-FFF2-40B4-BE49-F238E27FC236}">
                <a16:creationId xmlns:a16="http://schemas.microsoft.com/office/drawing/2014/main" id="{065DA54E-BC26-4C8E-82A3-CE579FBA4028}"/>
              </a:ext>
            </a:extLst>
          </p:cNvPr>
          <p:cNvSpPr>
            <a:spLocks xmlns:a="http://schemas.openxmlformats.org/drawingml/2006/main" noGrp="1"/>
          </p:cNvSpPr>
          <p:nvPr/>
        </p:nvSpPr>
        <p:spPr>
          <a:xfrm xmlns:a="http://schemas.openxmlformats.org/drawingml/2006/main">
            <a:off x="552450" y="42576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No age-specific claim and no medical diagnosis</a:t>
            </a:r>
          </a:p>
        </p:txBody>
      </p:sp>
      <p:sp>
        <p:nvSpPr>
          <p:cNvPr id="10" name="">
            <a:extLst xmlns:a="http://schemas.openxmlformats.org/drawingml/2006/main">
              <a:ext uri="{FF2B5EF4-FFF2-40B4-BE49-F238E27FC236}">
                <a16:creationId xmlns:a16="http://schemas.microsoft.com/office/drawing/2014/main" id="{87A61280-ED5C-432C-884A-C7D83FCA0E3C}"/>
              </a:ext>
            </a:extLst>
          </p:cNvPr>
          <p:cNvSpPr>
            <a:spLocks xmlns:a="http://schemas.openxmlformats.org/drawingml/2006/main" noGrp="1"/>
          </p:cNvSpPr>
          <p:nvPr/>
        </p:nvSpPr>
        <p:spPr>
          <a:xfrm xmlns:a="http://schemas.openxmlformats.org/drawingml/2006/main">
            <a:off x="5924550" y="1866900"/>
            <a:ext cx="19050" cy="3429000"/>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899D7C-377E-442D-AA8A-4291810949D6}"/>
              </a:ext>
            </a:extLst>
          </p:cNvPr>
          <p:cNvSpPr>
            <a:spLocks xmlns:a="http://schemas.openxmlformats.org/drawingml/2006/main" noGrp="1"/>
          </p:cNvSpPr>
          <p:nvPr/>
        </p:nvSpPr>
        <p:spPr>
          <a:xfrm xmlns:a="http://schemas.openxmlformats.org/drawingml/2006/main">
            <a:off x="6515100" y="19240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NEXT EXPERIMENT</a:t>
            </a:r>
          </a:p>
        </p:txBody>
      </p:sp>
      <p:sp>
        <p:nvSpPr>
          <p:cNvPr id="12" name="">
            <a:extLst xmlns:a="http://schemas.openxmlformats.org/drawingml/2006/main">
              <a:ext uri="{FF2B5EF4-FFF2-40B4-BE49-F238E27FC236}">
                <a16:creationId xmlns:a16="http://schemas.microsoft.com/office/drawing/2014/main" id="{BFCFD435-B6E8-4175-861E-45BD4D1CC15E}"/>
              </a:ext>
            </a:extLst>
          </p:cNvPr>
          <p:cNvSpPr>
            <a:spLocks xmlns:a="http://schemas.openxmlformats.org/drawingml/2006/main" noGrp="1"/>
          </p:cNvSpPr>
          <p:nvPr/>
        </p:nvSpPr>
        <p:spPr>
          <a:xfrm xmlns:a="http://schemas.openxmlformats.org/drawingml/2006/main">
            <a:off x="6515100" y="23622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Record and label real pool clips</a:t>
            </a:r>
          </a:p>
        </p:txBody>
      </p:sp>
      <p:sp>
        <p:nvSpPr>
          <p:cNvPr id="13" name="">
            <a:extLst xmlns:a="http://schemas.openxmlformats.org/drawingml/2006/main">
              <a:ext uri="{FF2B5EF4-FFF2-40B4-BE49-F238E27FC236}">
                <a16:creationId xmlns:a16="http://schemas.microsoft.com/office/drawing/2014/main" id="{9C3AC314-38DA-47D7-A565-A27F1C964A79}"/>
              </a:ext>
            </a:extLst>
          </p:cNvPr>
          <p:cNvSpPr>
            <a:spLocks xmlns:a="http://schemas.openxmlformats.org/drawingml/2006/main" noGrp="1"/>
          </p:cNvSpPr>
          <p:nvPr/>
        </p:nvSpPr>
        <p:spPr>
          <a:xfrm xmlns:a="http://schemas.openxmlformats.org/drawingml/2006/main">
            <a:off x="6515100" y="28575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Fine-tune on training sessions and test only on separate sessions</a:t>
            </a:r>
          </a:p>
        </p:txBody>
      </p:sp>
      <p:sp>
        <p:nvSpPr>
          <p:cNvPr id="14" name="">
            <a:extLst xmlns:a="http://schemas.openxmlformats.org/drawingml/2006/main">
              <a:ext uri="{FF2B5EF4-FFF2-40B4-BE49-F238E27FC236}">
                <a16:creationId xmlns:a16="http://schemas.microsoft.com/office/drawing/2014/main" id="{298B4112-01F2-4955-8649-FDC9E75B1249}"/>
              </a:ext>
            </a:extLst>
          </p:cNvPr>
          <p:cNvSpPr>
            <a:spLocks xmlns:a="http://schemas.openxmlformats.org/drawingml/2006/main" noGrp="1"/>
          </p:cNvSpPr>
          <p:nvPr/>
        </p:nvSpPr>
        <p:spPr>
          <a:xfrm xmlns:a="http://schemas.openxmlformats.org/drawingml/2006/main">
            <a:off x="6515100" y="37623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Measure operational errors</a:t>
            </a:r>
          </a:p>
        </p:txBody>
      </p:sp>
      <p:sp>
        <p:nvSpPr>
          <p:cNvPr id="15" name="">
            <a:extLst xmlns:a="http://schemas.openxmlformats.org/drawingml/2006/main">
              <a:ext uri="{FF2B5EF4-FFF2-40B4-BE49-F238E27FC236}">
                <a16:creationId xmlns:a16="http://schemas.microsoft.com/office/drawing/2014/main" id="{D55C0BB1-D92C-411A-9D39-CD70853C78D5}"/>
              </a:ext>
            </a:extLst>
          </p:cNvPr>
          <p:cNvSpPr>
            <a:spLocks xmlns:a="http://schemas.openxmlformats.org/drawingml/2006/main" noGrp="1"/>
          </p:cNvSpPr>
          <p:nvPr/>
        </p:nvSpPr>
        <p:spPr>
          <a:xfrm xmlns:a="http://schemas.openxmlformats.org/drawingml/2006/main">
            <a:off x="6515100" y="425767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Detection delay · missed events · false warnings per hour · ID continuity</a:t>
            </a:r>
          </a:p>
        </p:txBody>
      </p:sp>
      <p:sp>
        <p:nvSpPr>
          <p:cNvPr id="16" name="">
            <a:extLst xmlns:a="http://schemas.openxmlformats.org/drawingml/2006/main">
              <a:ext uri="{FF2B5EF4-FFF2-40B4-BE49-F238E27FC236}">
                <a16:creationId xmlns:a16="http://schemas.microsoft.com/office/drawing/2014/main" id="{2D8750B2-33BD-4D00-B512-FA139FC4AA31}"/>
              </a:ext>
            </a:extLst>
          </p:cNvPr>
          <p:cNvSpPr>
            <a:spLocks xmlns:a="http://schemas.openxmlformats.org/drawingml/2006/main" noGrp="1"/>
          </p:cNvSpPr>
          <p:nvPr/>
        </p:nvSpPr>
        <p:spPr>
          <a:xfrm xmlns:a="http://schemas.openxmlformats.org/drawingml/2006/main">
            <a:off x="552450" y="5600700"/>
            <a:ext cx="11087100" cy="609600"/>
          </a:xfrm>
          <a:prstGeom xmlns:a="http://schemas.openxmlformats.org/drawingml/2006/main" prst="roundRect">
            <a:avLst>
              <a:gd name="adj" fmla="val 21875"/>
            </a:avLst>
          </a:prstGeom>
          <a:solidFill xmlns:a="http://schemas.openxmlformats.org/drawingml/2006/main">
            <a:srgbClr val="EEF5F6"/>
          </a:solidFill>
          <a:ln xmlns:a="http://schemas.openxmlformats.org/drawingml/2006/main" w="9525">
            <a:solidFill>
              <a:srgbClr val="087F72"/>
            </a:solidFill>
          </a:ln>
        </p:spPr>
      </p:sp>
      <p:sp>
        <p:nvSpPr>
          <p:cNvPr id="17" name="">
            <a:extLst xmlns:a="http://schemas.openxmlformats.org/drawingml/2006/main">
              <a:ext uri="{FF2B5EF4-FFF2-40B4-BE49-F238E27FC236}">
                <a16:creationId xmlns:a16="http://schemas.microsoft.com/office/drawing/2014/main" id="{8F395DF0-8278-4CAB-9148-6E37520E453E}"/>
              </a:ext>
            </a:extLst>
          </p:cNvPr>
          <p:cNvSpPr>
            <a:spLocks xmlns:a="http://schemas.openxmlformats.org/drawingml/2006/main" noGrp="1"/>
          </p:cNvSpPr>
          <p:nvPr/>
        </p:nvSpPr>
        <p:spPr>
          <a:xfrm xmlns:a="http://schemas.openxmlformats.org/drawingml/2006/main">
            <a:off x="800100" y="5705475"/>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A supervision aid. It does not replace watching children, pool fences, or lifeguards.</a:t>
            </a:r>
          </a:p>
        </p:txBody>
      </p:sp>
      <p:sp>
        <p:nvSpPr>
          <p:cNvPr id="18" name="">
            <a:extLst xmlns:a="http://schemas.openxmlformats.org/drawingml/2006/main">
              <a:ext uri="{FF2B5EF4-FFF2-40B4-BE49-F238E27FC236}">
                <a16:creationId xmlns:a16="http://schemas.microsoft.com/office/drawing/2014/main" id="{BB29746F-E41C-4EC0-8232-8EB99B64CF47}"/>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LIFE VISION · SECOND SET OF EYES, NOT A SAFETY GUARANTEE</a:t>
            </a:r>
          </a:p>
        </p:txBody>
      </p:sp>
    </p:spTree>
    <p:extLst>
      <p:ext uri="{BB962C8B-B14F-4D97-AF65-F5344CB8AC3E}">
        <p14:creationId xmlns:p14="http://schemas.microsoft.com/office/powerpoint/2010/main" val="681111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2026-09-27T03:07:29.5490000Z</dcterms:created>
  <dcterms:modified xsi:type="dcterms:W3CDTF">2026-09-27T03:07:29.5500000Z</dcterms:modified>
</coreProperties>
</file>