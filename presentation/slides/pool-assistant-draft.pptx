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People found</c:v>
                </c:pt>
              </c:strCache>
            </c:strRef>
          </c:tx>
          <c:spPr>
            <a:solidFill>
              <a:srgbClr val="FFFFFF"/>
            </a:solidFill>
            <a:effectLst/>
          </c:spPr>
          <c:invertIfNegative val="0"/>
          <c:dLbls>
            <c:numFmt formatCode="0&quot;%&quot;"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YOLO11n</c:v>
                  </c:pt>
                  <c:pt idx="1">
                    <c:v>YOLOv8n</c:v>
                  </c:pt>
                  <c:pt idx="2">
                    <c:v>RF-DETR Nano</c:v>
                  </c:pt>
                </c:lvl>
              </c:multiLvlStrCache>
            </c:multiLvlStrRef>
          </c:cat>
          <c:val>
            <c:numRef>
              <c:f>Sheet1!$B$2:$B$4</c:f>
              <c:numCache>
                <c:formatCode>General</c:formatCode>
                <c:ptCount val="3"/>
                <c:pt idx="0">
                  <c:v>25</c:v>
                </c:pt>
                <c:pt idx="1">
                  <c:v>12</c:v>
                </c:pt>
                <c:pt idx="2">
                  <c:v>79</c:v>
                </c:pt>
              </c:numCache>
            </c:numRef>
          </c:val>
        </c:ser>
        <c:ser>
          <c:idx val="1"/>
          <c:order val="1"/>
          <c:tx>
            <c:strRef>
              <c:f>Sheet1!$C$1</c:f>
              <c:strCache>
                <c:ptCount val="1"/>
                <c:pt idx="0">
                  <c:v>Fully under water</c:v>
                </c:pt>
              </c:strCache>
            </c:strRef>
          </c:tx>
          <c:spPr>
            <a:solidFill>
              <a:srgbClr val="6E7075"/>
            </a:solidFill>
            <a:effectLst/>
          </c:spPr>
          <c:invertIfNegative val="0"/>
          <c:dLbls>
            <c:numFmt formatCode="0&quot;%&quot;"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YOLO11n</c:v>
                  </c:pt>
                  <c:pt idx="1">
                    <c:v>YOLOv8n</c:v>
                  </c:pt>
                  <c:pt idx="2">
                    <c:v>RF-DETR Nano</c:v>
                  </c:pt>
                </c:lvl>
              </c:multiLvlStrCache>
            </c:multiLvlStrRef>
          </c:cat>
          <c:val>
            <c:numRef>
              <c:f>Sheet1!$C$2:$C$4</c:f>
              <c:numCache>
                <c:formatCode>General</c:formatCode>
                <c:ptCount val="3"/>
                <c:pt idx="0">
                  <c:v>2</c:v>
                </c:pt>
                <c:pt idx="1">
                  <c:v>31</c:v>
                </c:pt>
                <c:pt idx="2">
                  <c:v>60</c:v>
                </c:pt>
              </c:numCache>
            </c:numRef>
          </c:val>
        </c:ser>
        <c:dLbls>
          <c:numFmt formatCode="0&quot;%&quot;"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7A9AC"/>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22232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707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A7A9A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pool accidents with young kids don't happen because nobody was home. They happen in the few seconds when the adult looked away. A lot of families already have a camera on the backyard, but it only records, it doesn't tell you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tracks every person and times how long their head has been under the water. At 5 seconds the box turns yellow, at 12 seconds it turns red and the app alerts. The industry test for pool alarms is a dummy on the bottom for 20 seconds, and CPSC says 20 seconds is too late, so we set our numbers well under that. It's a supervision aid that detects prolonged head submersion, not a certified lifesaving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detector finds people in each frame, and the tracker keeps the same ID on each person over time, so each person gets their own timer. The event engine runs the timers and the entry alert, and the app draws the boxes. Everything runs locally on a MacBook, so the pool video never leaves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can't film real drowning, and we shouldn't ask anyone to fake it underwater. So we built a physics sim where we script people swimming, sinking, and collapsing, and the sim tells us exactly where every person and head is. We train on 4 scenarios and test on a 5th the models never see, where a diver goes under for about 5 seconds and comes up 2 meters away. Rohan also built a second version in Isaac Sim with more realistic people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two YOLO models, Grounding DINO, and RF-DETR, all out of the box. YOLO is a CNN trained on COCO photos: it guesses boxes everywhere and filters duplicates after. RF-DETR is a transformer with a DINOv2 backbone that learned general shapes from a much wider set of images, and each of its 300 queries claims at most one object. That's our best explanation for why it found 79% of people with no training on our data, while YOLO found 25% at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fine-tuned on 180 sim frames. One epoch, about 2 minutes on a MacBook, took RF-DETR to 100% on the scenario it never saw, including people fully under water. But on a new sim render with textures and body shapes it never saw, it dropped to 93%, and 71% for people fully under. Even a small visual change costs accuracy, which is why real footage is our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default tracker we got 18 IDs for 4 people, and a timer is useless if a person keeps getting a new ID. We added rules: remove duplicate and part boxes, only start an ID after 3 frames, and give a person their old ID back if they reappear nearby within 5 seconds. That got us to 4 IDs for 4 people with zero switches across all 5 scenarios. We also saw that in clear water the body stays visible under the surface, so the alarm has to time the head, not wait for the box to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Full demo: Here are four feeds. When we turn on monitoring, every person gets a box. When someone's head stays under, their box turns yellow with a timer, then red, and the alert panel lets the parent replay what happened. Fallback if the app is not ready: The app isn't ready to show, so here is the tracking running on our sim. Each person keeps one ID the whole time, which is what the timer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is real-world accuracy yet. Our first YOLO scores were way too good, and it turned out the water wasn't drawn in some renders. Later a second script disagreed with the first and we found we were feeding the models color-swapped images, so we fixed it and re-measured every number on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record real footage, label whether each head is above or below the water, and fine-tune the same way, testing only on real clips. Then we connect the head timer so the boxes turn yellow and red on their own. This is a second set of eyes for the parent, not a replacement for watching.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Users/sunghwan_cho/Documents/projects/we-fall-we-die/presentation/images/demo_hq_still.png">    </p:cNvPr>
          <p:cNvPicPr>
            <a:picLocks noChangeAspect="1"/>
          </p:cNvPicPr>
          <p:nvPr/>
        </p:nvPicPr>
        <p:blipFill>
          <a:blip r:embed="rId1"/>
          <a:srcRect l="0" r="0" t="0" b="0"/>
          <a:stretch/>
        </p:blipFill>
        <p:spPr>
          <a:xfrm>
            <a:off x="4572000" y="0"/>
            <a:ext cx="4572000" cy="5143500"/>
          </a:xfrm>
          <a:prstGeom prst="rect">
            <a:avLst/>
          </a:prstGeom>
        </p:spPr>
      </p:pic>
      <p:sp>
        <p:nvSpPr>
          <p:cNvPr id="3" name="Text 0"/>
          <p:cNvSpPr txBox="1"/>
          <p:nvPr/>
        </p:nvSpPr>
        <p:spPr>
          <a:xfrm>
            <a:off x="457200" y="411480"/>
            <a:ext cx="3931920" cy="274320"/>
          </a:xfrm>
          <a:prstGeom prst="rect">
            <a:avLst/>
          </a:prstGeom>
          <a:noFill/>
          <a:ln/>
        </p:spPr>
        <p:txBody>
          <a:bodyPr wrap="square" lIns="0" tIns="0" rIns="0" bIns="0" rtlCol="0" anchor="ctr"/>
          <a:lstStyle/>
          <a:p>
            <a:pPr indent="0" marL="0">
              <a:buNone/>
            </a:pPr>
            <a:r>
              <a:rPr lang="en-US" sz="1000" spc="400" kern="0" dirty="0">
                <a:solidFill>
                  <a:srgbClr val="6E7075"/>
                </a:solidFill>
                <a:latin typeface="Arial" pitchFamily="34" charset="0"/>
                <a:ea typeface="Arial" pitchFamily="34" charset="-122"/>
                <a:cs typeface="Arial" pitchFamily="34" charset="-120"/>
              </a:rPr>
              <a:t>POOL CAMERA ASSISTANT</a:t>
            </a:r>
            <a:endParaRPr lang="en-US" sz="1000" dirty="0"/>
          </a:p>
        </p:txBody>
      </p:sp>
      <p:sp>
        <p:nvSpPr>
          <p:cNvPr id="4" name="Text 1"/>
          <p:cNvSpPr txBox="1"/>
          <p:nvPr/>
        </p:nvSpPr>
        <p:spPr>
          <a:xfrm>
            <a:off x="457200" y="731520"/>
            <a:ext cx="3931920" cy="914400"/>
          </a:xfrm>
          <a:prstGeom prst="rect">
            <a:avLst/>
          </a:prstGeom>
          <a:noFill/>
          <a:ln/>
        </p:spPr>
        <p:txBody>
          <a:bodyPr wrap="square" lIns="0" tIns="0" rIns="0" bIns="0" rtlCol="0" anchor="t"/>
          <a:lstStyle/>
          <a:p>
            <a:pPr indent="0" marL="0">
              <a:buNone/>
            </a:pPr>
            <a:r>
              <a:rPr lang="en-US" sz="2100" b="1" spc="300" kern="0" dirty="0">
                <a:solidFill>
                  <a:srgbClr val="FFFFFF"/>
                </a:solidFill>
                <a:latin typeface="Arial" pitchFamily="34" charset="0"/>
                <a:ea typeface="Arial" pitchFamily="34" charset="-122"/>
                <a:cs typeface="Arial" pitchFamily="34" charset="-120"/>
              </a:rPr>
              <a:t>PARENTS LOSE TRACK FOR A FEW SECONDS</a:t>
            </a:r>
            <a:endParaRPr lang="en-US" sz="2100" dirty="0"/>
          </a:p>
        </p:txBody>
      </p:sp>
      <p:sp>
        <p:nvSpPr>
          <p:cNvPr id="5" name="Text 2"/>
          <p:cNvSpPr txBox="1"/>
          <p:nvPr/>
        </p:nvSpPr>
        <p:spPr>
          <a:xfrm>
            <a:off x="457200" y="1828800"/>
            <a:ext cx="3931920" cy="1005840"/>
          </a:xfrm>
          <a:prstGeom prst="rect">
            <a:avLst/>
          </a:prstGeom>
          <a:noFill/>
          <a:ln/>
        </p:spPr>
        <p:txBody>
          <a:bodyPr wrap="square" lIns="0" tIns="0" rIns="0" bIns="0" rtlCol="0" anchor="ctr"/>
          <a:lstStyle/>
          <a:p>
            <a:pPr indent="0" marL="0">
              <a:buNone/>
            </a:pPr>
            <a:r>
              <a:rPr lang="en-US" sz="7200" b="1" dirty="0">
                <a:solidFill>
                  <a:srgbClr val="FFFFFF"/>
                </a:solidFill>
                <a:latin typeface="Arial" pitchFamily="34" charset="0"/>
                <a:ea typeface="Arial" pitchFamily="34" charset="-122"/>
                <a:cs typeface="Arial" pitchFamily="34" charset="-120"/>
              </a:rPr>
              <a:t>62%</a:t>
            </a:r>
            <a:endParaRPr lang="en-US" sz="7200" dirty="0"/>
          </a:p>
        </p:txBody>
      </p:sp>
      <p:sp>
        <p:nvSpPr>
          <p:cNvPr id="6" name="Text 3"/>
          <p:cNvSpPr txBox="1"/>
          <p:nvPr/>
        </p:nvSpPr>
        <p:spPr>
          <a:xfrm>
            <a:off x="457200" y="2880360"/>
            <a:ext cx="3749040" cy="731520"/>
          </a:xfrm>
          <a:prstGeom prst="rect">
            <a:avLst/>
          </a:prstGeom>
          <a:noFill/>
          <a:ln/>
        </p:spPr>
        <p:txBody>
          <a:bodyPr wrap="square" lIns="0" tIns="0" rIns="0" bIns="0" rtlCol="0" anchor="t"/>
          <a:lstStyle/>
          <a:p>
            <a:pPr indent="0" marL="0">
              <a:buNone/>
            </a:pPr>
            <a:r>
              <a:rPr lang="en-US" sz="1400" dirty="0">
                <a:solidFill>
                  <a:srgbClr val="A7A9AC"/>
                </a:solidFill>
                <a:latin typeface="Arial" pitchFamily="34" charset="0"/>
                <a:ea typeface="Arial" pitchFamily="34" charset="-122"/>
                <a:cs typeface="Arial" pitchFamily="34" charset="-120"/>
              </a:rPr>
              <a:t>of pool deaths of children under 5 happened when the adult lost track of where the child was.</a:t>
            </a:r>
            <a:endParaRPr lang="en-US" sz="1400" dirty="0"/>
          </a:p>
        </p:txBody>
      </p:sp>
      <p:sp>
        <p:nvSpPr>
          <p:cNvPr id="7" name="Text 4"/>
          <p:cNvSpPr txBox="1"/>
          <p:nvPr/>
        </p:nvSpPr>
        <p:spPr>
          <a:xfrm>
            <a:off x="457200" y="4160520"/>
            <a:ext cx="3749040" cy="548640"/>
          </a:xfrm>
          <a:prstGeom prst="rect">
            <a:avLst/>
          </a:prstGeom>
          <a:noFill/>
          <a:ln/>
        </p:spPr>
        <p:txBody>
          <a:bodyPr wrap="square" lIns="0" tIns="0" rIns="0" bIns="0" rtlCol="0" anchor="t"/>
          <a:lstStyle/>
          <a:p>
            <a:pPr indent="0" marL="0">
              <a:buNone/>
            </a:pPr>
            <a:r>
              <a:rPr lang="en-US" sz="1000" dirty="0">
                <a:solidFill>
                  <a:srgbClr val="6E7075"/>
                </a:solidFill>
                <a:latin typeface="Arial" pitchFamily="34" charset="0"/>
                <a:ea typeface="Arial" pitchFamily="34" charset="-122"/>
                <a:cs typeface="Arial" pitchFamily="34" charset="-120"/>
              </a:rPr>
              <a:t>CPSC, 2020–2022. Going under is often quiet, and many backyards already have a camera on the pool.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400" kern="0" dirty="0">
                <a:solidFill>
                  <a:srgbClr val="6E7075"/>
                </a:solidFill>
                <a:latin typeface="Arial" pitchFamily="34" charset="0"/>
                <a:ea typeface="Arial" pitchFamily="34" charset="-122"/>
                <a:cs typeface="Arial" pitchFamily="34" charset="-120"/>
              </a:rPr>
              <a:t>OUR IDEA</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600" b="1" spc="300" kern="0" dirty="0">
                <a:solidFill>
                  <a:srgbClr val="FFFFFF"/>
                </a:solidFill>
                <a:latin typeface="Arial" pitchFamily="34" charset="0"/>
                <a:ea typeface="Arial" pitchFamily="34" charset="-122"/>
                <a:cs typeface="Arial" pitchFamily="34" charset="-120"/>
              </a:rPr>
              <a:t>TIME HOW LONG EACH HEAD IS UNDER</a:t>
            </a:r>
            <a:endParaRPr lang="en-US" sz="2600" dirty="0"/>
          </a:p>
        </p:txBody>
      </p:sp>
      <p:sp>
        <p:nvSpPr>
          <p:cNvPr id="4" name="Shape 2"/>
          <p:cNvSpPr/>
          <p:nvPr/>
        </p:nvSpPr>
        <p:spPr>
          <a:xfrm>
            <a:off x="457200" y="1920240"/>
            <a:ext cx="2194560" cy="1005840"/>
          </a:xfrm>
          <a:prstGeom prst="rect">
            <a:avLst/>
          </a:prstGeom>
          <a:solidFill>
            <a:srgbClr val="111214"/>
          </a:solidFill>
          <a:ln w="12700">
            <a:solidFill>
              <a:srgbClr val="3DDC84"/>
            </a:solidFill>
            <a:prstDash val="solid"/>
          </a:ln>
        </p:spPr>
      </p:sp>
      <p:sp>
        <p:nvSpPr>
          <p:cNvPr id="5" name="Text 3"/>
          <p:cNvSpPr txBox="1"/>
          <p:nvPr/>
        </p:nvSpPr>
        <p:spPr>
          <a:xfrm>
            <a:off x="457200" y="1920240"/>
            <a:ext cx="2194560" cy="1005840"/>
          </a:xfrm>
          <a:prstGeom prst="rect">
            <a:avLst/>
          </a:prstGeom>
          <a:noFill/>
          <a:ln/>
        </p:spPr>
        <p:txBody>
          <a:bodyPr wrap="square" lIns="50800" tIns="50800" rIns="50800" bIns="50800" rtlCol="0" anchor="ctr"/>
          <a:lstStyle/>
          <a:p>
            <a:pPr algn="ctr" indent="0" marL="0">
              <a:buNone/>
            </a:pPr>
            <a:r>
              <a:rPr lang="en-US" sz="1100" b="1" spc="100" kern="0" dirty="0">
                <a:solidFill>
                  <a:srgbClr val="3DDC84"/>
                </a:solidFill>
                <a:latin typeface="Arial" pitchFamily="34" charset="0"/>
                <a:ea typeface="Arial" pitchFamily="34" charset="-122"/>
                <a:cs typeface="Arial" pitchFamily="34" charset="-120"/>
              </a:rPr>
              <a:t>HEAD ABOVE WATER</a:t>
            </a:r>
            <a:endParaRPr lang="en-US" sz="1100" dirty="0"/>
          </a:p>
        </p:txBody>
      </p:sp>
      <p:sp>
        <p:nvSpPr>
          <p:cNvPr id="6" name="Shape 4"/>
          <p:cNvSpPr/>
          <p:nvPr/>
        </p:nvSpPr>
        <p:spPr>
          <a:xfrm>
            <a:off x="2743200" y="2423160"/>
            <a:ext cx="411480" cy="0"/>
          </a:xfrm>
          <a:prstGeom prst="line">
            <a:avLst/>
          </a:prstGeom>
          <a:noFill/>
          <a:ln w="15875">
            <a:solidFill>
              <a:srgbClr val="A7A9AC"/>
            </a:solidFill>
            <a:prstDash val="solid"/>
            <a:tailEnd type="triangle"/>
          </a:ln>
        </p:spPr>
      </p:sp>
      <p:sp>
        <p:nvSpPr>
          <p:cNvPr id="7" name="Shape 5"/>
          <p:cNvSpPr/>
          <p:nvPr/>
        </p:nvSpPr>
        <p:spPr>
          <a:xfrm>
            <a:off x="3246120" y="1920240"/>
            <a:ext cx="2194560" cy="1005840"/>
          </a:xfrm>
          <a:prstGeom prst="rect">
            <a:avLst/>
          </a:prstGeom>
          <a:solidFill>
            <a:srgbClr val="111214"/>
          </a:solidFill>
          <a:ln w="12700">
            <a:solidFill>
              <a:srgbClr val="FFB000"/>
            </a:solidFill>
            <a:prstDash val="solid"/>
          </a:ln>
        </p:spPr>
      </p:sp>
      <p:sp>
        <p:nvSpPr>
          <p:cNvPr id="8" name="Text 6"/>
          <p:cNvSpPr txBox="1"/>
          <p:nvPr/>
        </p:nvSpPr>
        <p:spPr>
          <a:xfrm>
            <a:off x="3246120" y="1920240"/>
            <a:ext cx="2194560" cy="1005840"/>
          </a:xfrm>
          <a:prstGeom prst="rect">
            <a:avLst/>
          </a:prstGeom>
          <a:noFill/>
          <a:ln/>
        </p:spPr>
        <p:txBody>
          <a:bodyPr wrap="square" lIns="50800" tIns="50800" rIns="50800" bIns="50800" rtlCol="0" anchor="ctr"/>
          <a:lstStyle/>
          <a:p>
            <a:pPr algn="ctr" indent="0" marL="0">
              <a:buNone/>
            </a:pPr>
            <a:r>
              <a:rPr lang="en-US" sz="1100" b="1" spc="100" kern="0" dirty="0">
                <a:solidFill>
                  <a:srgbClr val="FFB000"/>
                </a:solidFill>
                <a:latin typeface="Arial" pitchFamily="34" charset="0"/>
                <a:ea typeface="Arial" pitchFamily="34" charset="-122"/>
                <a:cs typeface="Arial" pitchFamily="34" charset="-120"/>
              </a:rPr>
              <a:t>5 S UNDER</a:t>
            </a:r>
            <a:endParaRPr lang="en-US" sz="1100" dirty="0"/>
          </a:p>
          <a:p>
            <a:pPr algn="ctr" indent="0" marL="0">
              <a:buNone/>
            </a:pPr>
            <a:r>
              <a:rPr lang="en-US" sz="1100" b="1" spc="100" kern="0" dirty="0">
                <a:solidFill>
                  <a:srgbClr val="FFB000"/>
                </a:solidFill>
                <a:latin typeface="Arial" pitchFamily="34" charset="0"/>
                <a:ea typeface="Arial" pitchFamily="34" charset="-122"/>
                <a:cs typeface="Arial" pitchFamily="34" charset="-120"/>
              </a:rPr>
              <a:t>WARNING</a:t>
            </a:r>
            <a:endParaRPr lang="en-US" sz="1100" dirty="0"/>
          </a:p>
        </p:txBody>
      </p:sp>
      <p:sp>
        <p:nvSpPr>
          <p:cNvPr id="9" name="Shape 7"/>
          <p:cNvSpPr/>
          <p:nvPr/>
        </p:nvSpPr>
        <p:spPr>
          <a:xfrm>
            <a:off x="5532120" y="2423160"/>
            <a:ext cx="457200" cy="0"/>
          </a:xfrm>
          <a:prstGeom prst="line">
            <a:avLst/>
          </a:prstGeom>
          <a:noFill/>
          <a:ln w="15875">
            <a:solidFill>
              <a:srgbClr val="A7A9AC"/>
            </a:solidFill>
            <a:prstDash val="solid"/>
            <a:tailEnd type="triangle"/>
          </a:ln>
        </p:spPr>
      </p:sp>
      <p:sp>
        <p:nvSpPr>
          <p:cNvPr id="10" name="Shape 8"/>
          <p:cNvSpPr/>
          <p:nvPr/>
        </p:nvSpPr>
        <p:spPr>
          <a:xfrm>
            <a:off x="6035040" y="1920240"/>
            <a:ext cx="2560320" cy="1005840"/>
          </a:xfrm>
          <a:prstGeom prst="rect">
            <a:avLst/>
          </a:prstGeom>
          <a:solidFill>
            <a:srgbClr val="111214"/>
          </a:solidFill>
          <a:ln w="12700">
            <a:solidFill>
              <a:srgbClr val="FF4D4D"/>
            </a:solidFill>
            <a:prstDash val="solid"/>
          </a:ln>
        </p:spPr>
      </p:sp>
      <p:sp>
        <p:nvSpPr>
          <p:cNvPr id="11" name="Text 9"/>
          <p:cNvSpPr txBox="1"/>
          <p:nvPr/>
        </p:nvSpPr>
        <p:spPr>
          <a:xfrm>
            <a:off x="6035040" y="1920240"/>
            <a:ext cx="2560320" cy="1005840"/>
          </a:xfrm>
          <a:prstGeom prst="rect">
            <a:avLst/>
          </a:prstGeom>
          <a:noFill/>
          <a:ln/>
        </p:spPr>
        <p:txBody>
          <a:bodyPr wrap="square" lIns="50800" tIns="50800" rIns="50800" bIns="50800" rtlCol="0" anchor="ctr"/>
          <a:lstStyle/>
          <a:p>
            <a:pPr algn="ctr" indent="0" marL="0">
              <a:buNone/>
            </a:pPr>
            <a:r>
              <a:rPr lang="en-US" sz="1100" b="1" spc="100" kern="0" dirty="0">
                <a:solidFill>
                  <a:srgbClr val="FF4D4D"/>
                </a:solidFill>
                <a:latin typeface="Arial" pitchFamily="34" charset="0"/>
                <a:ea typeface="Arial" pitchFamily="34" charset="-122"/>
                <a:cs typeface="Arial" pitchFamily="34" charset="-120"/>
              </a:rPr>
              <a:t>12 S UNDER</a:t>
            </a:r>
            <a:endParaRPr lang="en-US" sz="1100" dirty="0"/>
          </a:p>
          <a:p>
            <a:pPr algn="ctr" indent="0" marL="0">
              <a:buNone/>
            </a:pPr>
            <a:r>
              <a:rPr lang="en-US" sz="1100" b="1" spc="100" kern="0" dirty="0">
                <a:solidFill>
                  <a:srgbClr val="FF4D4D"/>
                </a:solidFill>
                <a:latin typeface="Arial" pitchFamily="34" charset="0"/>
                <a:ea typeface="Arial" pitchFamily="34" charset="-122"/>
                <a:cs typeface="Arial" pitchFamily="34" charset="-120"/>
              </a:rPr>
              <a:t>ALERT</a:t>
            </a:r>
            <a:endParaRPr lang="en-US" sz="1100" dirty="0"/>
          </a:p>
        </p:txBody>
      </p:sp>
      <p:sp>
        <p:nvSpPr>
          <p:cNvPr id="12" name="Text 10"/>
          <p:cNvSpPr txBox="1"/>
          <p:nvPr/>
        </p:nvSpPr>
        <p:spPr>
          <a:xfrm>
            <a:off x="457200" y="3246120"/>
            <a:ext cx="8229600" cy="320040"/>
          </a:xfrm>
          <a:prstGeom prst="rect">
            <a:avLst/>
          </a:prstGeom>
          <a:noFill/>
          <a:ln/>
        </p:spPr>
        <p:txBody>
          <a:bodyPr wrap="square" lIns="0" tIns="0" rIns="0" bIns="0" rtlCol="0" anchor="ctr"/>
          <a:lstStyle/>
          <a:p>
            <a:pPr indent="0" marL="0">
              <a:buNone/>
            </a:pPr>
            <a:r>
              <a:rPr lang="en-US" sz="1400" dirty="0">
                <a:solidFill>
                  <a:srgbClr val="A7A9AC"/>
                </a:solidFill>
                <a:latin typeface="Arial" pitchFamily="34" charset="0"/>
                <a:ea typeface="Arial" pitchFamily="34" charset="-122"/>
                <a:cs typeface="Arial" pitchFamily="34" charset="-120"/>
              </a:rPr>
              <a:t>Head comes back up: the timer resets and the box turns green again.</a:t>
            </a:r>
            <a:endParaRPr lang="en-US" sz="1400" dirty="0"/>
          </a:p>
        </p:txBody>
      </p:sp>
      <p:sp>
        <p:nvSpPr>
          <p:cNvPr id="13" name="Text 11"/>
          <p:cNvSpPr txBox="1"/>
          <p:nvPr/>
        </p:nvSpPr>
        <p:spPr>
          <a:xfrm>
            <a:off x="457200" y="3611880"/>
            <a:ext cx="8229600" cy="320040"/>
          </a:xfrm>
          <a:prstGeom prst="rect">
            <a:avLst/>
          </a:prstGeom>
          <a:noFill/>
          <a:ln/>
        </p:spPr>
        <p:txBody>
          <a:bodyPr wrap="square" lIns="0" tIns="0" rIns="0" bIns="0" rtlCol="0" anchor="ctr"/>
          <a:lstStyle/>
          <a:p>
            <a:pPr indent="0" marL="0">
              <a:buNone/>
            </a:pPr>
            <a:r>
              <a:rPr lang="en-US" sz="1400" dirty="0">
                <a:solidFill>
                  <a:srgbClr val="A7A9AC"/>
                </a:solidFill>
                <a:latin typeface="Arial" pitchFamily="34" charset="0"/>
                <a:ea typeface="Arial" pitchFamily="34" charset="-122"/>
                <a:cs typeface="Arial" pitchFamily="34" charset="-120"/>
              </a:rPr>
              <a:t>Also flags someone entering the pool.</a:t>
            </a:r>
            <a:endParaRPr lang="en-US" sz="1400" dirty="0"/>
          </a:p>
        </p:txBody>
      </p:sp>
      <p:sp>
        <p:nvSpPr>
          <p:cNvPr id="14" name="Text 12"/>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E7075"/>
                </a:solidFill>
                <a:latin typeface="Arial" pitchFamily="34" charset="0"/>
                <a:ea typeface="Arial" pitchFamily="34" charset="-122"/>
                <a:cs typeface="Arial" pitchFamily="34" charset="-120"/>
              </a:rPr>
              <a:t>Pool alarm standard test: a dummy on the bottom for 20 s. CPSC says 20 s is too late, so we alert well before.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400" kern="0" dirty="0">
                <a:solidFill>
                  <a:srgbClr val="6E7075"/>
                </a:solidFill>
                <a:latin typeface="Arial" pitchFamily="34" charset="0"/>
                <a:ea typeface="Arial" pitchFamily="34" charset="-122"/>
                <a:cs typeface="Arial" pitchFamily="34" charset="-120"/>
              </a:rPr>
              <a:t>HOW IT WORKS</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600" b="1" spc="300" kern="0" dirty="0">
                <a:solidFill>
                  <a:srgbClr val="FFFFFF"/>
                </a:solidFill>
                <a:latin typeface="Arial" pitchFamily="34" charset="0"/>
                <a:ea typeface="Arial" pitchFamily="34" charset="-122"/>
                <a:cs typeface="Arial" pitchFamily="34" charset="-120"/>
              </a:rPr>
              <a:t>PIPELINE</a:t>
            </a:r>
            <a:endParaRPr lang="en-US" sz="2600" dirty="0"/>
          </a:p>
        </p:txBody>
      </p:sp>
      <p:sp>
        <p:nvSpPr>
          <p:cNvPr id="4" name="Shape 2"/>
          <p:cNvSpPr/>
          <p:nvPr/>
        </p:nvSpPr>
        <p:spPr>
          <a:xfrm>
            <a:off x="457200" y="1600200"/>
            <a:ext cx="1097280" cy="868680"/>
          </a:xfrm>
          <a:prstGeom prst="rect">
            <a:avLst/>
          </a:prstGeom>
          <a:solidFill>
            <a:srgbClr val="111214"/>
          </a:solidFill>
          <a:ln w="12700">
            <a:solidFill>
              <a:srgbClr val="3A3D42"/>
            </a:solidFill>
            <a:prstDash val="solid"/>
          </a:ln>
        </p:spPr>
      </p:sp>
      <p:sp>
        <p:nvSpPr>
          <p:cNvPr id="5" name="Text 3"/>
          <p:cNvSpPr txBox="1"/>
          <p:nvPr/>
        </p:nvSpPr>
        <p:spPr>
          <a:xfrm>
            <a:off x="457200" y="1600200"/>
            <a:ext cx="1097280" cy="868680"/>
          </a:xfrm>
          <a:prstGeom prst="rect">
            <a:avLst/>
          </a:prstGeom>
          <a:noFill/>
          <a:ln/>
        </p:spPr>
        <p:txBody>
          <a:bodyPr wrap="square" lIns="50800" tIns="50800" rIns="50800" bIns="5080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CAMERA</a:t>
            </a:r>
            <a:endParaRPr lang="en-US" sz="1000" dirty="0"/>
          </a:p>
          <a:p>
            <a:pPr algn="ctr" indent="0" marL="0">
              <a:buNone/>
            </a:pPr>
            <a:r>
              <a:rPr lang="en-US" sz="1000" b="1" spc="100" kern="0" dirty="0">
                <a:solidFill>
                  <a:srgbClr val="FFFFFF"/>
                </a:solidFill>
                <a:latin typeface="Arial" pitchFamily="34" charset="0"/>
                <a:ea typeface="Arial" pitchFamily="34" charset="-122"/>
                <a:cs typeface="Arial" pitchFamily="34" charset="-120"/>
              </a:rPr>
              <a:t>VIDEO</a:t>
            </a:r>
            <a:endParaRPr lang="en-US" sz="1000" dirty="0"/>
          </a:p>
        </p:txBody>
      </p:sp>
      <p:sp>
        <p:nvSpPr>
          <p:cNvPr id="6" name="Shape 4"/>
          <p:cNvSpPr/>
          <p:nvPr/>
        </p:nvSpPr>
        <p:spPr>
          <a:xfrm>
            <a:off x="1591056" y="2034540"/>
            <a:ext cx="256032" cy="0"/>
          </a:xfrm>
          <a:prstGeom prst="line">
            <a:avLst/>
          </a:prstGeom>
          <a:noFill/>
          <a:ln w="15875">
            <a:solidFill>
              <a:srgbClr val="A7A9AC"/>
            </a:solidFill>
            <a:prstDash val="solid"/>
            <a:tailEnd type="triangle"/>
          </a:ln>
        </p:spPr>
      </p:sp>
      <p:sp>
        <p:nvSpPr>
          <p:cNvPr id="7" name="Shape 5"/>
          <p:cNvSpPr/>
          <p:nvPr/>
        </p:nvSpPr>
        <p:spPr>
          <a:xfrm>
            <a:off x="1883664" y="1600200"/>
            <a:ext cx="1097280" cy="868680"/>
          </a:xfrm>
          <a:prstGeom prst="rect">
            <a:avLst/>
          </a:prstGeom>
          <a:solidFill>
            <a:srgbClr val="111214"/>
          </a:solidFill>
          <a:ln w="12700">
            <a:solidFill>
              <a:srgbClr val="3A3D42"/>
            </a:solidFill>
            <a:prstDash val="solid"/>
          </a:ln>
        </p:spPr>
      </p:sp>
      <p:sp>
        <p:nvSpPr>
          <p:cNvPr id="8" name="Text 6"/>
          <p:cNvSpPr txBox="1"/>
          <p:nvPr/>
        </p:nvSpPr>
        <p:spPr>
          <a:xfrm>
            <a:off x="1883664" y="1600200"/>
            <a:ext cx="1097280" cy="868680"/>
          </a:xfrm>
          <a:prstGeom prst="rect">
            <a:avLst/>
          </a:prstGeom>
          <a:noFill/>
          <a:ln/>
        </p:spPr>
        <p:txBody>
          <a:bodyPr wrap="square" lIns="50800" tIns="50800" rIns="50800" bIns="5080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DETECTOR</a:t>
            </a:r>
            <a:endParaRPr lang="en-US" sz="1000" dirty="0"/>
          </a:p>
        </p:txBody>
      </p:sp>
      <p:sp>
        <p:nvSpPr>
          <p:cNvPr id="9" name="Shape 7"/>
          <p:cNvSpPr/>
          <p:nvPr/>
        </p:nvSpPr>
        <p:spPr>
          <a:xfrm>
            <a:off x="3017520" y="2034540"/>
            <a:ext cx="256032" cy="0"/>
          </a:xfrm>
          <a:prstGeom prst="line">
            <a:avLst/>
          </a:prstGeom>
          <a:noFill/>
          <a:ln w="15875">
            <a:solidFill>
              <a:srgbClr val="A7A9AC"/>
            </a:solidFill>
            <a:prstDash val="solid"/>
            <a:tailEnd type="triangle"/>
          </a:ln>
        </p:spPr>
      </p:sp>
      <p:sp>
        <p:nvSpPr>
          <p:cNvPr id="10" name="Shape 8"/>
          <p:cNvSpPr/>
          <p:nvPr/>
        </p:nvSpPr>
        <p:spPr>
          <a:xfrm>
            <a:off x="3310128" y="1600200"/>
            <a:ext cx="1097280" cy="868680"/>
          </a:xfrm>
          <a:prstGeom prst="rect">
            <a:avLst/>
          </a:prstGeom>
          <a:solidFill>
            <a:srgbClr val="111214"/>
          </a:solidFill>
          <a:ln w="12700">
            <a:solidFill>
              <a:srgbClr val="3A3D42"/>
            </a:solidFill>
            <a:prstDash val="solid"/>
          </a:ln>
        </p:spPr>
      </p:sp>
      <p:sp>
        <p:nvSpPr>
          <p:cNvPr id="11" name="Text 9"/>
          <p:cNvSpPr txBox="1"/>
          <p:nvPr/>
        </p:nvSpPr>
        <p:spPr>
          <a:xfrm>
            <a:off x="3310128" y="1600200"/>
            <a:ext cx="1097280" cy="868680"/>
          </a:xfrm>
          <a:prstGeom prst="rect">
            <a:avLst/>
          </a:prstGeom>
          <a:noFill/>
          <a:ln/>
        </p:spPr>
        <p:txBody>
          <a:bodyPr wrap="square" lIns="50800" tIns="50800" rIns="50800" bIns="5080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BOX</a:t>
            </a:r>
            <a:endParaRPr lang="en-US" sz="1000" dirty="0"/>
          </a:p>
          <a:p>
            <a:pPr algn="ctr" indent="0" marL="0">
              <a:buNone/>
            </a:pPr>
            <a:r>
              <a:rPr lang="en-US" sz="1000" b="1" spc="100" kern="0" dirty="0">
                <a:solidFill>
                  <a:srgbClr val="FFFFFF"/>
                </a:solidFill>
                <a:latin typeface="Arial" pitchFamily="34" charset="0"/>
                <a:ea typeface="Arial" pitchFamily="34" charset="-122"/>
                <a:cs typeface="Arial" pitchFamily="34" charset="-120"/>
              </a:rPr>
              <a:t>CLEANUP</a:t>
            </a:r>
            <a:endParaRPr lang="en-US" sz="1000" dirty="0"/>
          </a:p>
        </p:txBody>
      </p:sp>
      <p:sp>
        <p:nvSpPr>
          <p:cNvPr id="12" name="Shape 10"/>
          <p:cNvSpPr/>
          <p:nvPr/>
        </p:nvSpPr>
        <p:spPr>
          <a:xfrm>
            <a:off x="4443984" y="2034540"/>
            <a:ext cx="256032" cy="0"/>
          </a:xfrm>
          <a:prstGeom prst="line">
            <a:avLst/>
          </a:prstGeom>
          <a:noFill/>
          <a:ln w="15875">
            <a:solidFill>
              <a:srgbClr val="A7A9AC"/>
            </a:solidFill>
            <a:prstDash val="solid"/>
            <a:tailEnd type="triangle"/>
          </a:ln>
        </p:spPr>
      </p:sp>
      <p:sp>
        <p:nvSpPr>
          <p:cNvPr id="13" name="Shape 11"/>
          <p:cNvSpPr/>
          <p:nvPr/>
        </p:nvSpPr>
        <p:spPr>
          <a:xfrm>
            <a:off x="4736592" y="1600200"/>
            <a:ext cx="1097280" cy="868680"/>
          </a:xfrm>
          <a:prstGeom prst="rect">
            <a:avLst/>
          </a:prstGeom>
          <a:solidFill>
            <a:srgbClr val="111214"/>
          </a:solidFill>
          <a:ln w="12700">
            <a:solidFill>
              <a:srgbClr val="3A3D42"/>
            </a:solidFill>
            <a:prstDash val="solid"/>
          </a:ln>
        </p:spPr>
      </p:sp>
      <p:sp>
        <p:nvSpPr>
          <p:cNvPr id="14" name="Text 12"/>
          <p:cNvSpPr txBox="1"/>
          <p:nvPr/>
        </p:nvSpPr>
        <p:spPr>
          <a:xfrm>
            <a:off x="4736592" y="1600200"/>
            <a:ext cx="1097280" cy="868680"/>
          </a:xfrm>
          <a:prstGeom prst="rect">
            <a:avLst/>
          </a:prstGeom>
          <a:noFill/>
          <a:ln/>
        </p:spPr>
        <p:txBody>
          <a:bodyPr wrap="square" lIns="50800" tIns="50800" rIns="50800" bIns="5080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TRACKER +</a:t>
            </a:r>
            <a:endParaRPr lang="en-US" sz="1000" dirty="0"/>
          </a:p>
          <a:p>
            <a:pPr algn="ctr" indent="0" marL="0">
              <a:buNone/>
            </a:pPr>
            <a:r>
              <a:rPr lang="en-US" sz="1000" b="1" spc="100" kern="0" dirty="0">
                <a:solidFill>
                  <a:srgbClr val="FFFFFF"/>
                </a:solidFill>
                <a:latin typeface="Arial" pitchFamily="34" charset="0"/>
                <a:ea typeface="Arial" pitchFamily="34" charset="-122"/>
                <a:cs typeface="Arial" pitchFamily="34" charset="-120"/>
              </a:rPr>
              <a:t>ID STITCHING</a:t>
            </a:r>
            <a:endParaRPr lang="en-US" sz="1000" dirty="0"/>
          </a:p>
        </p:txBody>
      </p:sp>
      <p:sp>
        <p:nvSpPr>
          <p:cNvPr id="15" name="Shape 13"/>
          <p:cNvSpPr/>
          <p:nvPr/>
        </p:nvSpPr>
        <p:spPr>
          <a:xfrm>
            <a:off x="5870448" y="2034540"/>
            <a:ext cx="256032" cy="0"/>
          </a:xfrm>
          <a:prstGeom prst="line">
            <a:avLst/>
          </a:prstGeom>
          <a:noFill/>
          <a:ln w="15875">
            <a:solidFill>
              <a:srgbClr val="A7A9AC"/>
            </a:solidFill>
            <a:prstDash val="solid"/>
            <a:tailEnd type="triangle"/>
          </a:ln>
        </p:spPr>
      </p:sp>
      <p:sp>
        <p:nvSpPr>
          <p:cNvPr id="16" name="Shape 14"/>
          <p:cNvSpPr/>
          <p:nvPr/>
        </p:nvSpPr>
        <p:spPr>
          <a:xfrm>
            <a:off x="6163056" y="1600200"/>
            <a:ext cx="1097280" cy="868680"/>
          </a:xfrm>
          <a:prstGeom prst="rect">
            <a:avLst/>
          </a:prstGeom>
          <a:solidFill>
            <a:srgbClr val="111214"/>
          </a:solidFill>
          <a:ln w="12700">
            <a:solidFill>
              <a:srgbClr val="3A3D42"/>
            </a:solidFill>
            <a:prstDash val="solid"/>
          </a:ln>
        </p:spPr>
      </p:sp>
      <p:sp>
        <p:nvSpPr>
          <p:cNvPr id="17" name="Text 15"/>
          <p:cNvSpPr txBox="1"/>
          <p:nvPr/>
        </p:nvSpPr>
        <p:spPr>
          <a:xfrm>
            <a:off x="6163056" y="1600200"/>
            <a:ext cx="1097280" cy="868680"/>
          </a:xfrm>
          <a:prstGeom prst="rect">
            <a:avLst/>
          </a:prstGeom>
          <a:noFill/>
          <a:ln/>
        </p:spPr>
        <p:txBody>
          <a:bodyPr wrap="square" lIns="50800" tIns="50800" rIns="50800" bIns="5080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EVENT</a:t>
            </a:r>
            <a:endParaRPr lang="en-US" sz="1000" dirty="0"/>
          </a:p>
          <a:p>
            <a:pPr algn="ctr" indent="0" marL="0">
              <a:buNone/>
            </a:pPr>
            <a:r>
              <a:rPr lang="en-US" sz="1000" b="1" spc="100" kern="0" dirty="0">
                <a:solidFill>
                  <a:srgbClr val="FFFFFF"/>
                </a:solidFill>
                <a:latin typeface="Arial" pitchFamily="34" charset="0"/>
                <a:ea typeface="Arial" pitchFamily="34" charset="-122"/>
                <a:cs typeface="Arial" pitchFamily="34" charset="-120"/>
              </a:rPr>
              <a:t>ENGINE</a:t>
            </a:r>
            <a:endParaRPr lang="en-US" sz="1000" dirty="0"/>
          </a:p>
        </p:txBody>
      </p:sp>
      <p:sp>
        <p:nvSpPr>
          <p:cNvPr id="18" name="Shape 16"/>
          <p:cNvSpPr/>
          <p:nvPr/>
        </p:nvSpPr>
        <p:spPr>
          <a:xfrm>
            <a:off x="7296912" y="2034540"/>
            <a:ext cx="256032" cy="0"/>
          </a:xfrm>
          <a:prstGeom prst="line">
            <a:avLst/>
          </a:prstGeom>
          <a:noFill/>
          <a:ln w="15875">
            <a:solidFill>
              <a:srgbClr val="A7A9AC"/>
            </a:solidFill>
            <a:prstDash val="solid"/>
            <a:tailEnd type="triangle"/>
          </a:ln>
        </p:spPr>
      </p:sp>
      <p:sp>
        <p:nvSpPr>
          <p:cNvPr id="19" name="Shape 17"/>
          <p:cNvSpPr/>
          <p:nvPr/>
        </p:nvSpPr>
        <p:spPr>
          <a:xfrm>
            <a:off x="7589520" y="1600200"/>
            <a:ext cx="1097280" cy="868680"/>
          </a:xfrm>
          <a:prstGeom prst="rect">
            <a:avLst/>
          </a:prstGeom>
          <a:solidFill>
            <a:srgbClr val="111214"/>
          </a:solidFill>
          <a:ln w="12700">
            <a:solidFill>
              <a:srgbClr val="3A3D42"/>
            </a:solidFill>
            <a:prstDash val="solid"/>
          </a:ln>
        </p:spPr>
      </p:sp>
      <p:sp>
        <p:nvSpPr>
          <p:cNvPr id="20" name="Text 18"/>
          <p:cNvSpPr txBox="1"/>
          <p:nvPr/>
        </p:nvSpPr>
        <p:spPr>
          <a:xfrm>
            <a:off x="7589520" y="1600200"/>
            <a:ext cx="1097280" cy="868680"/>
          </a:xfrm>
          <a:prstGeom prst="rect">
            <a:avLst/>
          </a:prstGeom>
          <a:noFill/>
          <a:ln/>
        </p:spPr>
        <p:txBody>
          <a:bodyPr wrap="square" lIns="50800" tIns="50800" rIns="50800" bIns="5080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APP</a:t>
            </a:r>
            <a:endParaRPr lang="en-US" sz="1000" dirty="0"/>
          </a:p>
        </p:txBody>
      </p:sp>
      <p:sp>
        <p:nvSpPr>
          <p:cNvPr id="21" name="Shape 19"/>
          <p:cNvSpPr/>
          <p:nvPr/>
        </p:nvSpPr>
        <p:spPr>
          <a:xfrm>
            <a:off x="1883664" y="3063240"/>
            <a:ext cx="3931920" cy="685800"/>
          </a:xfrm>
          <a:prstGeom prst="rect">
            <a:avLst/>
          </a:prstGeom>
          <a:solidFill>
            <a:srgbClr val="000000"/>
          </a:solidFill>
          <a:ln w="12700">
            <a:solidFill>
              <a:srgbClr val="3A3D42"/>
            </a:solidFill>
            <a:prstDash val="dash"/>
          </a:ln>
        </p:spPr>
      </p:sp>
      <p:sp>
        <p:nvSpPr>
          <p:cNvPr id="22" name="Text 20"/>
          <p:cNvSpPr txBox="1"/>
          <p:nvPr/>
        </p:nvSpPr>
        <p:spPr>
          <a:xfrm>
            <a:off x="1883664" y="3063240"/>
            <a:ext cx="3931920" cy="685800"/>
          </a:xfrm>
          <a:prstGeom prst="rect">
            <a:avLst/>
          </a:prstGeom>
          <a:noFill/>
          <a:ln/>
        </p:spPr>
        <p:txBody>
          <a:bodyPr wrap="square" lIns="50800" tIns="50800" rIns="50800" bIns="50800" rtlCol="0" anchor="ctr"/>
          <a:lstStyle/>
          <a:p>
            <a:pPr algn="ctr" indent="0" marL="0">
              <a:buNone/>
            </a:pPr>
            <a:r>
              <a:rPr lang="en-US" sz="1000" b="1" spc="100" kern="0" dirty="0">
                <a:solidFill>
                  <a:srgbClr val="A7A9AC"/>
                </a:solidFill>
                <a:latin typeface="Arial" pitchFamily="34" charset="0"/>
                <a:ea typeface="Arial" pitchFamily="34" charset="-122"/>
                <a:cs typeface="Arial" pitchFamily="34" charset="-120"/>
              </a:rPr>
              <a:t>SIMULATOR: EXACT BOXES AND HEAD HEIGHT</a:t>
            </a:r>
            <a:endParaRPr lang="en-US" sz="1000" dirty="0"/>
          </a:p>
          <a:p>
            <a:pPr algn="ctr" indent="0" marL="0">
              <a:buNone/>
            </a:pPr>
            <a:r>
              <a:rPr lang="en-US" sz="1000" b="1" spc="100" kern="0" dirty="0">
                <a:solidFill>
                  <a:srgbClr val="A7A9AC"/>
                </a:solidFill>
                <a:latin typeface="Arial" pitchFamily="34" charset="0"/>
                <a:ea typeface="Arial" pitchFamily="34" charset="-122"/>
                <a:cs typeface="Arial" pitchFamily="34" charset="-120"/>
              </a:rPr>
              <a:t>FOR TRAINING AND SCORING</a:t>
            </a:r>
            <a:endParaRPr lang="en-US" sz="1000" dirty="0"/>
          </a:p>
        </p:txBody>
      </p:sp>
      <p:sp>
        <p:nvSpPr>
          <p:cNvPr id="23" name="Shape 21"/>
          <p:cNvSpPr/>
          <p:nvPr/>
        </p:nvSpPr>
        <p:spPr>
          <a:xfrm>
            <a:off x="2103120" y="3063240"/>
            <a:ext cx="0" cy="-548640"/>
          </a:xfrm>
          <a:prstGeom prst="line">
            <a:avLst/>
          </a:prstGeom>
          <a:noFill/>
          <a:ln w="12700">
            <a:solidFill>
              <a:srgbClr val="A7A9AC"/>
            </a:solidFill>
            <a:prstDash val="dash"/>
            <a:tailEnd type="triangle"/>
          </a:ln>
        </p:spPr>
      </p:sp>
      <p:sp>
        <p:nvSpPr>
          <p:cNvPr id="24" name="Text 22"/>
          <p:cNvSpPr txBox="1"/>
          <p:nvPr/>
        </p:nvSpPr>
        <p:spPr>
          <a:xfrm>
            <a:off x="457200" y="3977640"/>
            <a:ext cx="8229600" cy="457200"/>
          </a:xfrm>
          <a:prstGeom prst="rect">
            <a:avLst/>
          </a:prstGeom>
          <a:noFill/>
          <a:ln/>
        </p:spPr>
        <p:txBody>
          <a:bodyPr wrap="square" lIns="0" tIns="0" rIns="0" bIns="0" rtlCol="0" anchor="ctr"/>
          <a:lstStyle/>
          <a:p>
            <a:pPr indent="0" marL="0">
              <a:buNone/>
            </a:pPr>
            <a:r>
              <a:rPr lang="en-US" sz="1200" dirty="0">
                <a:solidFill>
                  <a:srgbClr val="A7A9AC"/>
                </a:solidFill>
                <a:latin typeface="Arial" pitchFamily="34" charset="0"/>
                <a:ea typeface="Arial" pitchFamily="34" charset="-122"/>
                <a:cs typeface="Arial" pitchFamily="34" charset="-120"/>
              </a:rPr>
              <a:t>Detector finds people. Tracker keeps one ID per person, so each gets its own timer. Event engine runs the timers and the entry alert.</a:t>
            </a:r>
            <a:endParaRPr lang="en-US" sz="1200" dirty="0"/>
          </a:p>
        </p:txBody>
      </p:sp>
      <p:sp>
        <p:nvSpPr>
          <p:cNvPr id="25" name="Text 23"/>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E7075"/>
                </a:solidFill>
                <a:latin typeface="Arial" pitchFamily="34" charset="0"/>
                <a:ea typeface="Arial" pitchFamily="34" charset="-122"/>
                <a:cs typeface="Arial" pitchFamily="34" charset="-120"/>
              </a:rPr>
              <a:t>Everything runs locally on a MacBook. The pool video never leaves the device.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400" kern="0" dirty="0">
                <a:solidFill>
                  <a:srgbClr val="6E7075"/>
                </a:solidFill>
                <a:latin typeface="Arial" pitchFamily="34" charset="0"/>
                <a:ea typeface="Arial" pitchFamily="34" charset="-122"/>
                <a:cs typeface="Arial" pitchFamily="34" charset="-120"/>
              </a:rPr>
              <a:t>NO DROWNING FOOTAGE, SO: SIMULATION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600" b="1" spc="300" kern="0" dirty="0">
                <a:solidFill>
                  <a:srgbClr val="FFFFFF"/>
                </a:solidFill>
                <a:latin typeface="Arial" pitchFamily="34" charset="0"/>
                <a:ea typeface="Arial" pitchFamily="34" charset="-122"/>
                <a:cs typeface="Arial" pitchFamily="34" charset="-120"/>
              </a:rPr>
              <a:t>WE BUILT A TEST BENCH</a:t>
            </a:r>
            <a:endParaRPr lang="en-US" sz="2600" dirty="0"/>
          </a:p>
        </p:txBody>
      </p:sp>
      <p:sp>
        <p:nvSpPr>
          <p:cNvPr id="4" name="Text 2"/>
          <p:cNvSpPr txBox="1"/>
          <p:nvPr/>
        </p:nvSpPr>
        <p:spPr>
          <a:xfrm>
            <a:off x="457200" y="1371600"/>
            <a:ext cx="3657600" cy="25603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FFFFFF"/>
                </a:solidFill>
                <a:latin typeface="Arial" pitchFamily="34" charset="0"/>
                <a:ea typeface="Arial" pitchFamily="34" charset="-122"/>
                <a:cs typeface="Arial" pitchFamily="34" charset="-120"/>
              </a:rPr>
              <a:t>MuJoCo physics sim: shallow and deep end, buoyancy added (full lungs float, empty lungs sink)</a:t>
            </a:r>
            <a:endParaRPr lang="en-US" sz="1400" dirty="0"/>
          </a:p>
          <a:p>
            <a:pPr marL="342900" indent="-342900">
              <a:spcAft>
                <a:spcPts val="1000"/>
              </a:spcAft>
              <a:buSzPct val="100000"/>
              <a:buChar char="•"/>
            </a:pPr>
            <a:r>
              <a:rPr lang="en-US" sz="1400" dirty="0">
                <a:solidFill>
                  <a:srgbClr val="FFFFFF"/>
                </a:solidFill>
                <a:latin typeface="Arial" pitchFamily="34" charset="0"/>
                <a:ea typeface="Arial" pitchFamily="34" charset="-122"/>
                <a:cs typeface="Arial" pitchFamily="34" charset="-120"/>
              </a:rPr>
              <a:t>Swim, float, dive, silent sink, collapse, fall in from the deck</a:t>
            </a:r>
            <a:endParaRPr lang="en-US" sz="1400" dirty="0"/>
          </a:p>
          <a:p>
            <a:pPr marL="342900" indent="-342900">
              <a:spcAft>
                <a:spcPts val="1000"/>
              </a:spcAft>
              <a:buSzPct val="100000"/>
              <a:buChar char="•"/>
            </a:pPr>
            <a:r>
              <a:rPr lang="en-US" sz="1400" dirty="0">
                <a:solidFill>
                  <a:srgbClr val="FFFFFF"/>
                </a:solidFill>
                <a:latin typeface="Arial" pitchFamily="34" charset="0"/>
                <a:ea typeface="Arial" pitchFamily="34" charset="-122"/>
                <a:cs typeface="Arial" pitchFamily="34" charset="-120"/>
              </a:rPr>
              <a:t>Exact boxes and head height for every frame, no hand labeling</a:t>
            </a:r>
            <a:endParaRPr lang="en-US" sz="14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480560" y="1371600"/>
            <a:ext cx="4206240" cy="2368296"/>
          </a:xfrm>
          <a:prstGeom prst="rect">
            <a:avLst/>
          </a:prstGeom>
        </p:spPr>
      </p:pic>
      <p:sp>
        <p:nvSpPr>
          <p:cNvPr id="6" name="Text 3"/>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E7075"/>
                </a:solidFill>
                <a:latin typeface="Arial" pitchFamily="34" charset="0"/>
                <a:ea typeface="Arial" pitchFamily="34" charset="-122"/>
                <a:cs typeface="Arial" pitchFamily="34" charset="-120"/>
              </a:rPr>
              <a:t>Train on 4 scenarios, test on a 5th the models never see: a diver under about 5 s who comes up 2 m away.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400" kern="0" dirty="0">
                <a:solidFill>
                  <a:srgbClr val="6E7075"/>
                </a:solidFill>
                <a:latin typeface="Arial" pitchFamily="34" charset="0"/>
                <a:ea typeface="Arial" pitchFamily="34" charset="-122"/>
                <a:cs typeface="Arial" pitchFamily="34" charset="-120"/>
              </a:rPr>
              <a:t>STOCK MODELS, ON SIMULATION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600" b="1" spc="300" kern="0" dirty="0">
                <a:solidFill>
                  <a:srgbClr val="FFFFFF"/>
                </a:solidFill>
                <a:latin typeface="Arial" pitchFamily="34" charset="0"/>
                <a:ea typeface="Arial" pitchFamily="34" charset="-122"/>
                <a:cs typeface="Arial" pitchFamily="34" charset="-120"/>
              </a:rPr>
              <a:t>YOLO BARELY SEES OUR PEOPLE</a:t>
            </a:r>
            <a:endParaRPr lang="en-US" sz="2600" dirty="0"/>
          </a:p>
        </p:txBody>
      </p:sp>
      <p:graphicFrame>
        <p:nvGraphicFramePr>
          <p:cNvPr id="4" name="Chart 0" descr=""/>
          <p:cNvGraphicFramePr/>
          <p:nvPr/>
        </p:nvGraphicFramePr>
        <p:xfrm>
          <a:off x="365760" y="1234440"/>
          <a:ext cx="493776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577840" y="1280160"/>
            <a:ext cx="3108960" cy="1417320"/>
          </a:xfrm>
          <a:prstGeom prst="rect">
            <a:avLst/>
          </a:prstGeom>
          <a:solidFill>
            <a:srgbClr val="111214"/>
          </a:solidFill>
          <a:ln w="12700">
            <a:solidFill>
              <a:srgbClr val="3A3D42"/>
            </a:solidFill>
            <a:prstDash val="solid"/>
          </a:ln>
        </p:spPr>
      </p:sp>
      <p:sp>
        <p:nvSpPr>
          <p:cNvPr id="6" name="Text 3"/>
          <p:cNvSpPr txBox="1"/>
          <p:nvPr/>
        </p:nvSpPr>
        <p:spPr>
          <a:xfrm>
            <a:off x="5760720" y="1417320"/>
            <a:ext cx="2743200" cy="274320"/>
          </a:xfrm>
          <a:prstGeom prst="rect">
            <a:avLst/>
          </a:prstGeom>
          <a:noFill/>
          <a:ln/>
        </p:spPr>
        <p:txBody>
          <a:bodyPr wrap="square" lIns="0" tIns="0" rIns="0" bIns="0" rtlCol="0" anchor="ctr"/>
          <a:lstStyle/>
          <a:p>
            <a:pPr indent="0" marL="0">
              <a:buNone/>
            </a:pPr>
            <a:r>
              <a:rPr lang="en-US" sz="1200" b="1" spc="200" kern="0" dirty="0">
                <a:solidFill>
                  <a:srgbClr val="FFFFFF"/>
                </a:solidFill>
                <a:latin typeface="Arial" pitchFamily="34" charset="0"/>
                <a:ea typeface="Arial" pitchFamily="34" charset="-122"/>
                <a:cs typeface="Arial" pitchFamily="34" charset="-120"/>
              </a:rPr>
              <a:t>YOLO</a:t>
            </a:r>
            <a:endParaRPr lang="en-US" sz="1200" dirty="0"/>
          </a:p>
        </p:txBody>
      </p:sp>
      <p:sp>
        <p:nvSpPr>
          <p:cNvPr id="7" name="Text 4"/>
          <p:cNvSpPr txBox="1"/>
          <p:nvPr/>
        </p:nvSpPr>
        <p:spPr>
          <a:xfrm>
            <a:off x="5760720" y="1737360"/>
            <a:ext cx="2743200" cy="868680"/>
          </a:xfrm>
          <a:prstGeom prst="rect">
            <a:avLst/>
          </a:prstGeom>
          <a:noFill/>
          <a:ln/>
        </p:spPr>
        <p:txBody>
          <a:bodyPr wrap="square" lIns="0" tIns="0" rIns="0" bIns="0" rtlCol="0" anchor="t"/>
          <a:lstStyle/>
          <a:p>
            <a:pPr indent="0" marL="0">
              <a:buNone/>
            </a:pPr>
            <a:r>
              <a:rPr lang="en-US" sz="1100" dirty="0">
                <a:solidFill>
                  <a:srgbClr val="A7A9AC"/>
                </a:solidFill>
                <a:latin typeface="Arial" pitchFamily="34" charset="0"/>
                <a:ea typeface="Arial" pitchFamily="34" charset="-122"/>
                <a:cs typeface="Arial" pitchFamily="34" charset="-120"/>
              </a:rPr>
              <a:t>CNN trained on COCO photos. Guesses boxes everywhere, then removes duplicates (NMS). About 2.6 M parameters.</a:t>
            </a:r>
            <a:endParaRPr lang="en-US" sz="1100" dirty="0"/>
          </a:p>
        </p:txBody>
      </p:sp>
      <p:sp>
        <p:nvSpPr>
          <p:cNvPr id="8" name="Shape 5"/>
          <p:cNvSpPr/>
          <p:nvPr/>
        </p:nvSpPr>
        <p:spPr>
          <a:xfrm>
            <a:off x="5577840" y="2880360"/>
            <a:ext cx="3108960" cy="1417320"/>
          </a:xfrm>
          <a:prstGeom prst="rect">
            <a:avLst/>
          </a:prstGeom>
          <a:solidFill>
            <a:srgbClr val="111214"/>
          </a:solidFill>
          <a:ln w="12700">
            <a:solidFill>
              <a:srgbClr val="3A3D42"/>
            </a:solidFill>
            <a:prstDash val="solid"/>
          </a:ln>
        </p:spPr>
      </p:sp>
      <p:sp>
        <p:nvSpPr>
          <p:cNvPr id="9" name="Text 6"/>
          <p:cNvSpPr txBox="1"/>
          <p:nvPr/>
        </p:nvSpPr>
        <p:spPr>
          <a:xfrm>
            <a:off x="5760720" y="3017520"/>
            <a:ext cx="2743200" cy="274320"/>
          </a:xfrm>
          <a:prstGeom prst="rect">
            <a:avLst/>
          </a:prstGeom>
          <a:noFill/>
          <a:ln/>
        </p:spPr>
        <p:txBody>
          <a:bodyPr wrap="square" lIns="0" tIns="0" rIns="0" bIns="0" rtlCol="0" anchor="ctr"/>
          <a:lstStyle/>
          <a:p>
            <a:pPr indent="0" marL="0">
              <a:buNone/>
            </a:pPr>
            <a:r>
              <a:rPr lang="en-US" sz="1200" b="1" spc="200" kern="0" dirty="0">
                <a:solidFill>
                  <a:srgbClr val="FFFFFF"/>
                </a:solidFill>
                <a:latin typeface="Arial" pitchFamily="34" charset="0"/>
                <a:ea typeface="Arial" pitchFamily="34" charset="-122"/>
                <a:cs typeface="Arial" pitchFamily="34" charset="-120"/>
              </a:rPr>
              <a:t>RF-DETR</a:t>
            </a:r>
            <a:endParaRPr lang="en-US" sz="1200" dirty="0"/>
          </a:p>
        </p:txBody>
      </p:sp>
      <p:sp>
        <p:nvSpPr>
          <p:cNvPr id="10" name="Text 7"/>
          <p:cNvSpPr txBox="1"/>
          <p:nvPr/>
        </p:nvSpPr>
        <p:spPr>
          <a:xfrm>
            <a:off x="5760720" y="3337560"/>
            <a:ext cx="2743200" cy="868680"/>
          </a:xfrm>
          <a:prstGeom prst="rect">
            <a:avLst/>
          </a:prstGeom>
          <a:noFill/>
          <a:ln/>
        </p:spPr>
        <p:txBody>
          <a:bodyPr wrap="square" lIns="0" tIns="0" rIns="0" bIns="0" rtlCol="0" anchor="t"/>
          <a:lstStyle/>
          <a:p>
            <a:pPr indent="0" marL="0">
              <a:buNone/>
            </a:pPr>
            <a:r>
              <a:rPr lang="en-US" sz="1100" dirty="0">
                <a:solidFill>
                  <a:srgbClr val="A7A9AC"/>
                </a:solidFill>
                <a:latin typeface="Arial" pitchFamily="34" charset="0"/>
                <a:ea typeface="Arial" pitchFamily="34" charset="-122"/>
                <a:cs typeface="Arial" pitchFamily="34" charset="-120"/>
              </a:rPr>
              <a:t>Transformer on a DINOv2 backbone. 300 learned queries, each claims at most one object. About 30 M parameters.</a:t>
            </a:r>
            <a:endParaRPr lang="en-US" sz="1100" dirty="0"/>
          </a:p>
        </p:txBody>
      </p:sp>
      <p:sp>
        <p:nvSpPr>
          <p:cNvPr id="11" name="Text 8"/>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E7075"/>
                </a:solidFill>
                <a:latin typeface="Arial" pitchFamily="34" charset="0"/>
                <a:ea typeface="Arial" pitchFamily="34" charset="-122"/>
                <a:cs typeface="Arial" pitchFamily="34" charset="-120"/>
              </a:rPr>
              <a:t>Held-out scenario, on simulation. No training on our data.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400" kern="0" dirty="0">
                <a:solidFill>
                  <a:srgbClr val="6E7075"/>
                </a:solidFill>
                <a:latin typeface="Arial" pitchFamily="34" charset="0"/>
                <a:ea typeface="Arial" pitchFamily="34" charset="-122"/>
                <a:cs typeface="Arial" pitchFamily="34" charset="-120"/>
              </a:rPr>
              <a:t>RF-DETR NANO, ON SIMULATION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600" b="1" spc="300" kern="0" dirty="0">
                <a:solidFill>
                  <a:srgbClr val="FFFFFF"/>
                </a:solidFill>
                <a:latin typeface="Arial" pitchFamily="34" charset="0"/>
                <a:ea typeface="Arial" pitchFamily="34" charset="-122"/>
                <a:cs typeface="Arial" pitchFamily="34" charset="-120"/>
              </a:rPr>
              <a:t>FINE-TUNING ON SIM FRAMES</a:t>
            </a:r>
            <a:endParaRPr lang="en-US" sz="2600" dirty="0"/>
          </a:p>
        </p:txBody>
      </p:sp>
      <p:sp>
        <p:nvSpPr>
          <p:cNvPr id="4" name="Text 2"/>
          <p:cNvSpPr txBox="1"/>
          <p:nvPr/>
        </p:nvSpPr>
        <p:spPr>
          <a:xfrm>
            <a:off x="457200" y="1325880"/>
            <a:ext cx="384048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79% → 100%</a:t>
            </a:r>
            <a:endParaRPr lang="en-US" sz="4800" dirty="0"/>
          </a:p>
        </p:txBody>
      </p:sp>
      <p:sp>
        <p:nvSpPr>
          <p:cNvPr id="5" name="Text 3"/>
          <p:cNvSpPr txBox="1"/>
          <p:nvPr/>
        </p:nvSpPr>
        <p:spPr>
          <a:xfrm>
            <a:off x="457200" y="2286000"/>
            <a:ext cx="3657600" cy="822960"/>
          </a:xfrm>
          <a:prstGeom prst="rect">
            <a:avLst/>
          </a:prstGeom>
          <a:noFill/>
          <a:ln/>
        </p:spPr>
        <p:txBody>
          <a:bodyPr wrap="square" lIns="0" tIns="0" rIns="0" bIns="0" rtlCol="0" anchor="t"/>
          <a:lstStyle/>
          <a:p>
            <a:pPr indent="0" marL="0">
              <a:buNone/>
            </a:pPr>
            <a:r>
              <a:rPr lang="en-US" sz="1300" dirty="0">
                <a:solidFill>
                  <a:srgbClr val="A7A9AC"/>
                </a:solidFill>
                <a:latin typeface="Arial" pitchFamily="34" charset="0"/>
                <a:ea typeface="Arial" pitchFamily="34" charset="-122"/>
                <a:cs typeface="Arial" pitchFamily="34" charset="-120"/>
              </a:rPr>
              <a:t>people found on the scenario it never saw, after 1 epoch (about 2 min on a MacBook, 180 sim frames)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480560" y="1371600"/>
          <a:ext cx="4206240" cy="914400"/>
        </p:xfrm>
        <a:graphic>
          <a:graphicData uri="http://schemas.openxmlformats.org/drawingml/2006/table">
            <a:tbl>
              <a:tblPr/>
              <a:tblGrid>
                <a:gridCol w="1051560"/>
                <a:gridCol w="1417320"/>
                <a:gridCol w="822960"/>
                <a:gridCol w="914400"/>
              </a:tblGrid>
              <a:tr h="384048">
                <a:tc>
                  <a:txBody>
                    <a:bodyPr/>
                    <a:lstStyle/>
                    <a:p>
                      <a:pPr indent="0" marL="0">
                        <a:buNone/>
                      </a:pPr>
                      <a:r>
                        <a:rPr lang="en-US" sz="1100" b="1" dirty="0">
                          <a:solidFill>
                            <a:srgbClr val="FFFFFF"/>
                          </a:solidFill>
                          <a:latin typeface="Arial" pitchFamily="34" charset="0"/>
                          <a:ea typeface="Arial" pitchFamily="34" charset="-122"/>
                          <a:cs typeface="Arial" pitchFamily="34" charset="-120"/>
                        </a:rPr>
                        <a:t>Setup</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1C1D2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Test video</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1C1D2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Found</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1C1D2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Fully under</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1C1D20"/>
                    </a:solidFill>
                  </a:tcPr>
                </a:tc>
              </a:tr>
              <a:tr h="384048">
                <a:tc>
                  <a:txBody>
                    <a:bodyPr/>
                    <a:lstStyle/>
                    <a:p>
                      <a:pPr indent="0" marL="0">
                        <a:buNone/>
                      </a:pPr>
                      <a:r>
                        <a:rPr lang="en-US" sz="1100" dirty="0">
                          <a:solidFill>
                            <a:srgbClr val="A7A9AC"/>
                          </a:solidFill>
                          <a:latin typeface="Arial" pitchFamily="34" charset="0"/>
                          <a:ea typeface="Arial" pitchFamily="34" charset="-122"/>
                          <a:cs typeface="Arial" pitchFamily="34" charset="-120"/>
                        </a:rPr>
                        <a:t>Stock</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dirty="0">
                          <a:solidFill>
                            <a:srgbClr val="A7A9AC"/>
                          </a:solidFill>
                          <a:latin typeface="Arial" pitchFamily="34" charset="0"/>
                          <a:ea typeface="Arial" pitchFamily="34" charset="-122"/>
                          <a:cs typeface="Arial" pitchFamily="34" charset="-120"/>
                        </a:rPr>
                        <a:t>held-out scenario</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dirty="0">
                          <a:solidFill>
                            <a:srgbClr val="A7A9AC"/>
                          </a:solidFill>
                          <a:latin typeface="Arial" pitchFamily="34" charset="0"/>
                          <a:ea typeface="Arial" pitchFamily="34" charset="-122"/>
                          <a:cs typeface="Arial" pitchFamily="34" charset="-120"/>
                        </a:rPr>
                        <a:t>79%</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dirty="0">
                          <a:solidFill>
                            <a:srgbClr val="A7A9AC"/>
                          </a:solidFill>
                          <a:latin typeface="Arial" pitchFamily="34" charset="0"/>
                          <a:ea typeface="Arial" pitchFamily="34" charset="-122"/>
                          <a:cs typeface="Arial" pitchFamily="34" charset="-120"/>
                        </a:rPr>
                        <a:t>60%</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r>
              <a:tr h="384048">
                <a:tc>
                  <a:txBody>
                    <a:bodyPr/>
                    <a:lstStyle/>
                    <a:p>
                      <a:pPr indent="0" marL="0">
                        <a:buNone/>
                      </a:pPr>
                      <a:r>
                        <a:rPr lang="en-US" sz="1100" b="1" dirty="0">
                          <a:solidFill>
                            <a:srgbClr val="FFFFFF"/>
                          </a:solidFill>
                          <a:latin typeface="Arial" pitchFamily="34" charset="0"/>
                          <a:ea typeface="Arial" pitchFamily="34" charset="-122"/>
                          <a:cs typeface="Arial" pitchFamily="34" charset="-120"/>
                        </a:rPr>
                        <a:t>Fine-tuned</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dirty="0">
                          <a:solidFill>
                            <a:srgbClr val="A7A9AC"/>
                          </a:solidFill>
                          <a:latin typeface="Arial" pitchFamily="34" charset="0"/>
                          <a:ea typeface="Arial" pitchFamily="34" charset="-122"/>
                          <a:cs typeface="Arial" pitchFamily="34" charset="-120"/>
                        </a:rPr>
                        <a:t>held-out scenario</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r>
              <a:tr h="384048">
                <a:tc>
                  <a:txBody>
                    <a:bodyPr/>
                    <a:lstStyle/>
                    <a:p>
                      <a:pPr indent="0" marL="0">
                        <a:buNone/>
                      </a:pPr>
                      <a:r>
                        <a:rPr lang="en-US" sz="1100" dirty="0">
                          <a:solidFill>
                            <a:srgbClr val="A7A9AC"/>
                          </a:solidFill>
                          <a:latin typeface="Arial" pitchFamily="34" charset="0"/>
                          <a:ea typeface="Arial" pitchFamily="34" charset="-122"/>
                          <a:cs typeface="Arial" pitchFamily="34" charset="-120"/>
                        </a:rPr>
                        <a:t>Stock</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dirty="0">
                          <a:solidFill>
                            <a:srgbClr val="A7A9AC"/>
                          </a:solidFill>
                          <a:latin typeface="Arial" pitchFamily="34" charset="0"/>
                          <a:ea typeface="Arial" pitchFamily="34" charset="-122"/>
                          <a:cs typeface="Arial" pitchFamily="34" charset="-120"/>
                        </a:rPr>
                        <a:t>new render</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dirty="0">
                          <a:solidFill>
                            <a:srgbClr val="A7A9AC"/>
                          </a:solidFill>
                          <a:latin typeface="Arial" pitchFamily="34" charset="0"/>
                          <a:ea typeface="Arial" pitchFamily="34" charset="-122"/>
                          <a:cs typeface="Arial" pitchFamily="34" charset="-120"/>
                        </a:rPr>
                        <a:t>76%</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dirty="0">
                          <a:solidFill>
                            <a:srgbClr val="A7A9AC"/>
                          </a:solidFill>
                          <a:latin typeface="Arial" pitchFamily="34" charset="0"/>
                          <a:ea typeface="Arial" pitchFamily="34" charset="-122"/>
                          <a:cs typeface="Arial" pitchFamily="34" charset="-120"/>
                        </a:rPr>
                        <a:t>34%</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r>
              <a:tr h="384048">
                <a:tc>
                  <a:txBody>
                    <a:bodyPr/>
                    <a:lstStyle/>
                    <a:p>
                      <a:pPr indent="0" marL="0">
                        <a:buNone/>
                      </a:pPr>
                      <a:r>
                        <a:rPr lang="en-US" sz="1100" b="1" dirty="0">
                          <a:solidFill>
                            <a:srgbClr val="FFFFFF"/>
                          </a:solidFill>
                          <a:latin typeface="Arial" pitchFamily="34" charset="0"/>
                          <a:ea typeface="Arial" pitchFamily="34" charset="-122"/>
                          <a:cs typeface="Arial" pitchFamily="34" charset="-120"/>
                        </a:rPr>
                        <a:t>Fine-tuned</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dirty="0">
                          <a:solidFill>
                            <a:srgbClr val="A7A9AC"/>
                          </a:solidFill>
                          <a:latin typeface="Arial" pitchFamily="34" charset="0"/>
                          <a:ea typeface="Arial" pitchFamily="34" charset="-122"/>
                          <a:cs typeface="Arial" pitchFamily="34" charset="-120"/>
                        </a:rPr>
                        <a:t>new render</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93%</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71%</a:t>
                      </a:r>
                      <a:endParaRPr lang="en-US" sz="1100" dirty="0">
                        <a:latin typeface="Arial" charset="0"/>
                        <a:ea typeface="Arial" charset="0"/>
                        <a:cs typeface="Arial" charset="0"/>
                      </a:endParaRPr>
                    </a:p>
                  </a:txBody>
                  <a:tcPr marL="91440" marR="91440" marT="45720" marB="45720" anchor="ctr">
                    <a:lnL w="9525" cap="flat" cmpd="sng" algn="ctr">
                      <a:solidFill>
                        <a:srgbClr val="3A3D42"/>
                      </a:solidFill>
                      <a:prstDash val="solid"/>
                      <a:round/>
                      <a:headEnd type="none" w="med" len="med"/>
                      <a:tailEnd type="none" w="med" len="med"/>
                    </a:lnL>
                    <a:lnR w="9525" cap="flat" cmpd="sng" algn="ctr">
                      <a:solidFill>
                        <a:srgbClr val="3A3D42"/>
                      </a:solidFill>
                      <a:prstDash val="solid"/>
                      <a:round/>
                      <a:headEnd type="none" w="med" len="med"/>
                      <a:tailEnd type="none" w="med" len="med"/>
                    </a:lnR>
                    <a:lnT w="9525" cap="flat" cmpd="sng" algn="ctr">
                      <a:solidFill>
                        <a:srgbClr val="3A3D42"/>
                      </a:solidFill>
                      <a:prstDash val="solid"/>
                      <a:round/>
                      <a:headEnd type="none" w="med" len="med"/>
                      <a:tailEnd type="none" w="med" len="med"/>
                    </a:lnT>
                    <a:lnB w="9525" cap="flat" cmpd="sng" algn="ctr">
                      <a:solidFill>
                        <a:srgbClr val="3A3D42"/>
                      </a:solidFill>
                      <a:prstDash val="solid"/>
                      <a:round/>
                      <a:headEnd type="none" w="med" len="med"/>
                      <a:tailEnd type="none" w="med" len="med"/>
                    </a:lnB>
                    <a:solidFill>
                      <a:srgbClr val="000000"/>
                    </a:solidFill>
                  </a:tcPr>
                </a:tc>
              </a:tr>
            </a:tbl>
          </a:graphicData>
        </a:graphic>
      </p:graphicFrame>
      <p:sp>
        <p:nvSpPr>
          <p:cNvPr id="7" name="Text 4"/>
          <p:cNvSpPr txBox="1"/>
          <p:nvPr/>
        </p:nvSpPr>
        <p:spPr>
          <a:xfrm>
            <a:off x="4480560" y="3520440"/>
            <a:ext cx="4206240" cy="640080"/>
          </a:xfrm>
          <a:prstGeom prst="rect">
            <a:avLst/>
          </a:prstGeom>
          <a:noFill/>
          <a:ln/>
        </p:spPr>
        <p:txBody>
          <a:bodyPr wrap="square" lIns="0" tIns="0" rIns="0" bIns="0" rtlCol="0" anchor="t"/>
          <a:lstStyle/>
          <a:p>
            <a:pPr indent="0" marL="0">
              <a:buNone/>
            </a:pPr>
            <a:r>
              <a:rPr lang="en-US" sz="1100" dirty="0">
                <a:solidFill>
                  <a:srgbClr val="A7A9AC"/>
                </a:solidFill>
                <a:latin typeface="Arial" pitchFamily="34" charset="0"/>
                <a:ea typeface="Arial" pitchFamily="34" charset="-122"/>
                <a:cs typeface="Arial" pitchFamily="34" charset="-120"/>
              </a:rPr>
              <a:t>A new render with textures and body shapes the model never saw costs accuracy. Real footage will be a bigger change.</a:t>
            </a:r>
            <a:endParaRPr lang="en-US" sz="1100" dirty="0"/>
          </a:p>
        </p:txBody>
      </p:sp>
      <p:sp>
        <p:nvSpPr>
          <p:cNvPr id="8" name="Text 5"/>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E7075"/>
                </a:solidFill>
                <a:latin typeface="Arial" pitchFamily="34" charset="0"/>
                <a:ea typeface="Arial" pitchFamily="34" charset="-122"/>
                <a:cs typeface="Arial" pitchFamily="34" charset="-120"/>
              </a:rPr>
              <a:t>On simulation only. Not real-world accuracy.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400" kern="0" dirty="0">
                <a:solidFill>
                  <a:srgbClr val="6E7075"/>
                </a:solidFill>
                <a:latin typeface="Arial" pitchFamily="34" charset="0"/>
                <a:ea typeface="Arial" pitchFamily="34" charset="-122"/>
                <a:cs typeface="Arial" pitchFamily="34" charset="-120"/>
              </a:rPr>
              <a:t>TRACKING</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600" b="1" spc="300" kern="0" dirty="0">
                <a:solidFill>
                  <a:srgbClr val="FFFFFF"/>
                </a:solidFill>
                <a:latin typeface="Arial" pitchFamily="34" charset="0"/>
                <a:ea typeface="Arial" pitchFamily="34" charset="-122"/>
                <a:cs typeface="Arial" pitchFamily="34" charset="-120"/>
              </a:rPr>
              <a:t>A GOOD DETECTOR STILL BROKE THE IDS</a:t>
            </a:r>
            <a:endParaRPr lang="en-US" sz="2600" dirty="0"/>
          </a:p>
        </p:txBody>
      </p:sp>
      <p:sp>
        <p:nvSpPr>
          <p:cNvPr id="4" name="Text 2"/>
          <p:cNvSpPr txBox="1"/>
          <p:nvPr/>
        </p:nvSpPr>
        <p:spPr>
          <a:xfrm>
            <a:off x="457200" y="1234440"/>
            <a:ext cx="2926080" cy="82296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18 → 4</a:t>
            </a:r>
            <a:endParaRPr lang="en-US" sz="4800" dirty="0"/>
          </a:p>
        </p:txBody>
      </p:sp>
      <p:sp>
        <p:nvSpPr>
          <p:cNvPr id="5" name="Text 3"/>
          <p:cNvSpPr txBox="1"/>
          <p:nvPr/>
        </p:nvSpPr>
        <p:spPr>
          <a:xfrm>
            <a:off x="3474720" y="1325880"/>
            <a:ext cx="5212080" cy="685800"/>
          </a:xfrm>
          <a:prstGeom prst="rect">
            <a:avLst/>
          </a:prstGeom>
          <a:noFill/>
          <a:ln/>
        </p:spPr>
        <p:txBody>
          <a:bodyPr wrap="square" lIns="0" tIns="0" rIns="0" bIns="0" rtlCol="0" anchor="ctr"/>
          <a:lstStyle/>
          <a:p>
            <a:pPr indent="0" marL="0">
              <a:buNone/>
            </a:pPr>
            <a:r>
              <a:rPr lang="en-US" sz="1400" dirty="0">
                <a:solidFill>
                  <a:srgbClr val="A7A9AC"/>
                </a:solidFill>
                <a:latin typeface="Arial" pitchFamily="34" charset="0"/>
                <a:ea typeface="Arial" pitchFamily="34" charset="-122"/>
                <a:cs typeface="Arial" pitchFamily="34" charset="-120"/>
              </a:rPr>
              <a:t>IDs on screen for 4 people. Zero ID switches across all 5 scenarios.</a:t>
            </a:r>
            <a:endParaRPr lang="en-US" sz="1400" dirty="0"/>
          </a:p>
        </p:txBody>
      </p:sp>
      <p:pic>
        <p:nvPicPr>
          <p:cNvPr id="6" name="Image 0" descr="/Users/sunghwan_cho/Documents/projects/we-fall-we-die/presentation/images/before_after_tracking.png">    </p:cNvPr>
          <p:cNvPicPr>
            <a:picLocks noChangeAspect="1"/>
          </p:cNvPicPr>
          <p:nvPr/>
        </p:nvPicPr>
        <p:blipFill>
          <a:blip r:embed="rId1"/>
          <a:stretch>
            <a:fillRect/>
          </a:stretch>
        </p:blipFill>
        <p:spPr>
          <a:xfrm>
            <a:off x="457200" y="2240280"/>
            <a:ext cx="8229600" cy="2313432"/>
          </a:xfrm>
          <a:prstGeom prst="rect">
            <a:avLst/>
          </a:prstGeom>
        </p:spPr>
      </p:pic>
      <p:sp>
        <p:nvSpPr>
          <p:cNvPr id="7" name="Text 4"/>
          <p:cNvSpPr txBox="1"/>
          <p:nvPr/>
        </p:nvSpPr>
        <p:spPr>
          <a:xfrm>
            <a:off x="548640" y="2304288"/>
            <a:ext cx="3200400" cy="256032"/>
          </a:xfrm>
          <a:prstGeom prst="rect">
            <a:avLst/>
          </a:prstGeom>
          <a:solidFill>
            <a:srgbClr val="000000"/>
          </a:solidFill>
          <a:ln/>
        </p:spPr>
        <p:txBody>
          <a:bodyPr wrap="square" lIns="38100" tIns="38100" rIns="38100" bIns="38100" rtlCol="0" anchor="ctr"/>
          <a:lstStyle/>
          <a:p>
            <a:pPr indent="0" marL="0">
              <a:buNone/>
            </a:pPr>
            <a:r>
              <a:rPr lang="en-US" sz="900" b="1" spc="200" kern="0" dirty="0">
                <a:solidFill>
                  <a:srgbClr val="FFFFFF"/>
                </a:solidFill>
                <a:latin typeface="Arial" pitchFamily="34" charset="0"/>
                <a:ea typeface="Arial" pitchFamily="34" charset="-122"/>
                <a:cs typeface="Arial" pitchFamily="34" charset="-120"/>
              </a:rPr>
              <a:t>STOCK + DEFAULT TRACKER</a:t>
            </a:r>
            <a:endParaRPr lang="en-US" sz="900" dirty="0"/>
          </a:p>
        </p:txBody>
      </p:sp>
      <p:sp>
        <p:nvSpPr>
          <p:cNvPr id="8" name="Text 5"/>
          <p:cNvSpPr txBox="1"/>
          <p:nvPr/>
        </p:nvSpPr>
        <p:spPr>
          <a:xfrm>
            <a:off x="4663440" y="2304288"/>
            <a:ext cx="3017520" cy="256032"/>
          </a:xfrm>
          <a:prstGeom prst="rect">
            <a:avLst/>
          </a:prstGeom>
          <a:solidFill>
            <a:srgbClr val="000000"/>
          </a:solidFill>
          <a:ln/>
        </p:spPr>
        <p:txBody>
          <a:bodyPr wrap="square" lIns="38100" tIns="38100" rIns="38100" bIns="38100" rtlCol="0" anchor="ctr"/>
          <a:lstStyle/>
          <a:p>
            <a:pPr indent="0" marL="0">
              <a:buNone/>
            </a:pPr>
            <a:r>
              <a:rPr lang="en-US" sz="900" b="1" spc="200" kern="0" dirty="0">
                <a:solidFill>
                  <a:srgbClr val="FFFFFF"/>
                </a:solidFill>
                <a:latin typeface="Arial" pitchFamily="34" charset="0"/>
                <a:ea typeface="Arial" pitchFamily="34" charset="-122"/>
                <a:cs typeface="Arial" pitchFamily="34" charset="-120"/>
              </a:rPr>
              <a:t>FINE-TUNED + OUR RULES</a:t>
            </a:r>
            <a:endParaRPr lang="en-US" sz="900" dirty="0"/>
          </a:p>
        </p:txBody>
      </p:sp>
      <p:sp>
        <p:nvSpPr>
          <p:cNvPr id="9" name="Text 6"/>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E7075"/>
                </a:solidFill>
                <a:latin typeface="Arial" pitchFamily="34" charset="0"/>
                <a:ea typeface="Arial" pitchFamily="34" charset="-122"/>
                <a:cs typeface="Arial" pitchFamily="34" charset="-120"/>
              </a:rPr>
              <a:t>Rules: remove duplicate and part boxes, start an ID after 3 frames, give back an old ID if the person reappears nearby within 5 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400" kern="0" dirty="0">
                <a:solidFill>
                  <a:srgbClr val="6E7075"/>
                </a:solidFill>
                <a:latin typeface="Arial" pitchFamily="34" charset="0"/>
                <a:ea typeface="Arial" pitchFamily="34" charset="-122"/>
                <a:cs typeface="Arial" pitchFamily="34" charset="-120"/>
              </a:rPr>
              <a:t>PLACEHOLDER: FRONTEND RECORDING GOES HERE</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600" b="1" spc="300" kern="0" dirty="0">
                <a:solidFill>
                  <a:srgbClr val="FFFFFF"/>
                </a:solidFill>
                <a:latin typeface="Arial" pitchFamily="34" charset="0"/>
                <a:ea typeface="Arial" pitchFamily="34" charset="-122"/>
                <a:cs typeface="Arial" pitchFamily="34" charset="-120"/>
              </a:rPr>
              <a:t>DEMO</a:t>
            </a:r>
            <a:endParaRPr lang="en-US" sz="2600" dirty="0"/>
          </a:p>
        </p:txBody>
      </p:sp>
      <p:sp>
        <p:nvSpPr>
          <p:cNvPr id="4" name="Shape 2"/>
          <p:cNvSpPr/>
          <p:nvPr/>
        </p:nvSpPr>
        <p:spPr>
          <a:xfrm>
            <a:off x="457200" y="1280160"/>
            <a:ext cx="3931920" cy="2697480"/>
          </a:xfrm>
          <a:prstGeom prst="rect">
            <a:avLst/>
          </a:prstGeom>
          <a:solidFill>
            <a:srgbClr val="000000"/>
          </a:solidFill>
          <a:ln w="12700">
            <a:solidFill>
              <a:srgbClr val="A7A9AC"/>
            </a:solidFill>
            <a:prstDash val="dash"/>
          </a:ln>
        </p:spPr>
      </p:sp>
      <p:sp>
        <p:nvSpPr>
          <p:cNvPr id="5" name="Text 3"/>
          <p:cNvSpPr txBox="1"/>
          <p:nvPr/>
        </p:nvSpPr>
        <p:spPr>
          <a:xfrm>
            <a:off x="685800" y="1508760"/>
            <a:ext cx="3474720" cy="224028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A7A9AC"/>
                </a:solidFill>
                <a:latin typeface="Arial" pitchFamily="34" charset="0"/>
                <a:ea typeface="Arial" pitchFamily="34" charset="-122"/>
                <a:cs typeface="Arial" pitchFamily="34" charset="-120"/>
              </a:rPr>
              <a:t>4 camera feeds, then Enable monitoring</a:t>
            </a:r>
            <a:endParaRPr lang="en-US" sz="1300" dirty="0"/>
          </a:p>
          <a:p>
            <a:pPr marL="342900" indent="-342900">
              <a:spcAft>
                <a:spcPts val="1000"/>
              </a:spcAft>
              <a:buSzPct val="100000"/>
              <a:buChar char="•"/>
            </a:pPr>
            <a:r>
              <a:rPr lang="en-US" sz="1300" dirty="0">
                <a:solidFill>
                  <a:srgbClr val="A7A9AC"/>
                </a:solidFill>
                <a:latin typeface="Arial" pitchFamily="34" charset="0"/>
                <a:ea typeface="Arial" pitchFamily="34" charset="-122"/>
                <a:cs typeface="Arial" pitchFamily="34" charset="-120"/>
              </a:rPr>
              <a:t>Green, yellow, red boxes with timer and reason</a:t>
            </a:r>
            <a:endParaRPr lang="en-US" sz="1300" dirty="0"/>
          </a:p>
          <a:p>
            <a:pPr marL="342900" indent="-342900">
              <a:spcAft>
                <a:spcPts val="1000"/>
              </a:spcAft>
              <a:buSzPct val="100000"/>
              <a:buChar char="•"/>
            </a:pPr>
            <a:r>
              <a:rPr lang="en-US" sz="1300" dirty="0">
                <a:solidFill>
                  <a:srgbClr val="A7A9AC"/>
                </a:solidFill>
                <a:latin typeface="Arial" pitchFamily="34" charset="0"/>
                <a:ea typeface="Arial" pitchFamily="34" charset="-122"/>
                <a:cs typeface="Arial" pitchFamily="34" charset="-120"/>
              </a:rPr>
              <a:t>Alert panel and incident replay</a:t>
            </a:r>
            <a:endParaRPr lang="en-US" sz="13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663440" y="1280160"/>
            <a:ext cx="4023360" cy="2263140"/>
          </a:xfrm>
          <a:prstGeom prst="rect">
            <a:avLst/>
          </a:prstGeom>
        </p:spPr>
      </p:pic>
      <p:sp>
        <p:nvSpPr>
          <p:cNvPr id="7" name="Text 4"/>
          <p:cNvSpPr txBox="1"/>
          <p:nvPr/>
        </p:nvSpPr>
        <p:spPr>
          <a:xfrm>
            <a:off x="4663440" y="3611880"/>
            <a:ext cx="4023360" cy="274320"/>
          </a:xfrm>
          <a:prstGeom prst="rect">
            <a:avLst/>
          </a:prstGeom>
          <a:noFill/>
          <a:ln/>
        </p:spPr>
        <p:txBody>
          <a:bodyPr wrap="square" lIns="0" tIns="0" rIns="0" bIns="0" rtlCol="0" anchor="ctr"/>
          <a:lstStyle/>
          <a:p>
            <a:pPr indent="0" marL="0">
              <a:buNone/>
            </a:pPr>
            <a:r>
              <a:rPr lang="en-US" sz="900" b="1" spc="200" kern="0" dirty="0">
                <a:solidFill>
                  <a:srgbClr val="6E7075"/>
                </a:solidFill>
                <a:latin typeface="Arial" pitchFamily="34" charset="0"/>
                <a:ea typeface="Arial" pitchFamily="34" charset="-122"/>
                <a:cs typeface="Arial" pitchFamily="34" charset="-120"/>
              </a:rPr>
              <a:t>FALLBACK: SIM TRACKING, FINE-TUNED RF-DETR</a:t>
            </a:r>
            <a:endParaRPr lang="en-US" sz="900" dirty="0"/>
          </a:p>
        </p:txBody>
      </p:sp>
      <p:sp>
        <p:nvSpPr>
          <p:cNvPr id="8" name="Text 5"/>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E7075"/>
                </a:solidFill>
                <a:latin typeface="Arial" pitchFamily="34" charset="0"/>
                <a:ea typeface="Arial" pitchFamily="34" charset="-122"/>
                <a:cs typeface="Arial" pitchFamily="34" charset="-120"/>
              </a:rPr>
              <a:t>If the recording shows scripted boxes, label it "scripted demo". Demo thresholds carry a DEMO THRESHOLDS badge.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400" kern="0" dirty="0">
                <a:solidFill>
                  <a:srgbClr val="6E7075"/>
                </a:solidFill>
                <a:latin typeface="Arial" pitchFamily="34" charset="0"/>
                <a:ea typeface="Arial" pitchFamily="34" charset="-122"/>
                <a:cs typeface="Arial" pitchFamily="34" charset="-120"/>
              </a:rPr>
              <a:t>HONEST NUMBERS</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600" b="1" spc="300" kern="0" dirty="0">
                <a:solidFill>
                  <a:srgbClr val="FFFFFF"/>
                </a:solidFill>
                <a:latin typeface="Arial" pitchFamily="34" charset="0"/>
                <a:ea typeface="Arial" pitchFamily="34" charset="-122"/>
                <a:cs typeface="Arial" pitchFamily="34" charset="-120"/>
              </a:rPr>
              <a:t>LIMITS, AND MISTAKES WE CAUGHT</a:t>
            </a:r>
            <a:endParaRPr lang="en-US" sz="2600" dirty="0"/>
          </a:p>
        </p:txBody>
      </p:sp>
      <p:sp>
        <p:nvSpPr>
          <p:cNvPr id="4" name="Text 2"/>
          <p:cNvSpPr txBox="1"/>
          <p:nvPr/>
        </p:nvSpPr>
        <p:spPr>
          <a:xfrm>
            <a:off x="457200" y="1371600"/>
            <a:ext cx="640080" cy="548640"/>
          </a:xfrm>
          <a:prstGeom prst="rect">
            <a:avLst/>
          </a:prstGeom>
          <a:noFill/>
          <a:ln/>
        </p:spPr>
        <p:txBody>
          <a:bodyPr wrap="square" lIns="0" tIns="0" rIns="0" bIns="0" rtlCol="0" anchor="ctr"/>
          <a:lstStyle/>
          <a:p>
            <a:pPr indent="0" marL="0">
              <a:buNone/>
            </a:pPr>
            <a:r>
              <a:rPr lang="en-US" sz="2400" b="1" dirty="0">
                <a:solidFill>
                  <a:srgbClr val="6E7075"/>
                </a:solidFill>
                <a:latin typeface="Arial" pitchFamily="34" charset="0"/>
                <a:ea typeface="Arial" pitchFamily="34" charset="-122"/>
                <a:cs typeface="Arial" pitchFamily="34" charset="-120"/>
              </a:rPr>
              <a:t>01</a:t>
            </a:r>
            <a:endParaRPr lang="en-US" sz="2400" dirty="0"/>
          </a:p>
        </p:txBody>
      </p:sp>
      <p:sp>
        <p:nvSpPr>
          <p:cNvPr id="5" name="Text 3"/>
          <p:cNvSpPr txBox="1"/>
          <p:nvPr/>
        </p:nvSpPr>
        <p:spPr>
          <a:xfrm>
            <a:off x="1143000" y="1371600"/>
            <a:ext cx="3566160" cy="7772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All numbers are on simulation: simple bodies, flat water, no splash or glare.</a:t>
            </a:r>
            <a:endParaRPr lang="en-US" sz="1300" dirty="0"/>
          </a:p>
        </p:txBody>
      </p:sp>
      <p:sp>
        <p:nvSpPr>
          <p:cNvPr id="6" name="Text 4"/>
          <p:cNvSpPr txBox="1"/>
          <p:nvPr/>
        </p:nvSpPr>
        <p:spPr>
          <a:xfrm>
            <a:off x="457200" y="2331720"/>
            <a:ext cx="640080" cy="548640"/>
          </a:xfrm>
          <a:prstGeom prst="rect">
            <a:avLst/>
          </a:prstGeom>
          <a:noFill/>
          <a:ln/>
        </p:spPr>
        <p:txBody>
          <a:bodyPr wrap="square" lIns="0" tIns="0" rIns="0" bIns="0" rtlCol="0" anchor="ctr"/>
          <a:lstStyle/>
          <a:p>
            <a:pPr indent="0" marL="0">
              <a:buNone/>
            </a:pPr>
            <a:r>
              <a:rPr lang="en-US" sz="2400" b="1" dirty="0">
                <a:solidFill>
                  <a:srgbClr val="6E7075"/>
                </a:solidFill>
                <a:latin typeface="Arial" pitchFamily="34" charset="0"/>
                <a:ea typeface="Arial" pitchFamily="34" charset="-122"/>
                <a:cs typeface="Arial" pitchFamily="34" charset="-120"/>
              </a:rPr>
              <a:t>02</a:t>
            </a:r>
            <a:endParaRPr lang="en-US" sz="2400" dirty="0"/>
          </a:p>
        </p:txBody>
      </p:sp>
      <p:sp>
        <p:nvSpPr>
          <p:cNvPr id="7" name="Text 5"/>
          <p:cNvSpPr txBox="1"/>
          <p:nvPr/>
        </p:nvSpPr>
        <p:spPr>
          <a:xfrm>
            <a:off x="1143000" y="2331720"/>
            <a:ext cx="3566160" cy="7772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Caught 2 bugs that made scores look too good (water not drawn, color-swapped test images) and re-measured everything.</a:t>
            </a:r>
            <a:endParaRPr lang="en-US" sz="1300" dirty="0"/>
          </a:p>
        </p:txBody>
      </p:sp>
      <p:sp>
        <p:nvSpPr>
          <p:cNvPr id="8" name="Text 6"/>
          <p:cNvSpPr txBox="1"/>
          <p:nvPr/>
        </p:nvSpPr>
        <p:spPr>
          <a:xfrm>
            <a:off x="457200" y="3291840"/>
            <a:ext cx="640080" cy="548640"/>
          </a:xfrm>
          <a:prstGeom prst="rect">
            <a:avLst/>
          </a:prstGeom>
          <a:noFill/>
          <a:ln/>
        </p:spPr>
        <p:txBody>
          <a:bodyPr wrap="square" lIns="0" tIns="0" rIns="0" bIns="0" rtlCol="0" anchor="ctr"/>
          <a:lstStyle/>
          <a:p>
            <a:pPr indent="0" marL="0">
              <a:buNone/>
            </a:pPr>
            <a:r>
              <a:rPr lang="en-US" sz="2400" b="1" dirty="0">
                <a:solidFill>
                  <a:srgbClr val="6E7075"/>
                </a:solidFill>
                <a:latin typeface="Arial" pitchFamily="34" charset="0"/>
                <a:ea typeface="Arial" pitchFamily="34" charset="-122"/>
                <a:cs typeface="Arial" pitchFamily="34" charset="-120"/>
              </a:rPr>
              <a:t>03</a:t>
            </a:r>
            <a:endParaRPr lang="en-US" sz="2400" dirty="0"/>
          </a:p>
        </p:txBody>
      </p:sp>
      <p:sp>
        <p:nvSpPr>
          <p:cNvPr id="9" name="Text 7"/>
          <p:cNvSpPr txBox="1"/>
          <p:nvPr/>
        </p:nvSpPr>
        <p:spPr>
          <a:xfrm>
            <a:off x="1143000" y="3291840"/>
            <a:ext cx="3566160" cy="7772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Daylight only, one person class, no child vs adult yet.</a:t>
            </a:r>
            <a:endParaRPr lang="en-US" sz="1300" dirty="0"/>
          </a:p>
        </p:txBody>
      </p:sp>
      <p:pic>
        <p:nvPicPr>
          <p:cNvPr id="10" name="Image 0" descr="/Users/sunghwan_cho/Documents/projects/we-fall-we-die/presentation/images/sim_pool_scene.png">    </p:cNvPr>
          <p:cNvPicPr>
            <a:picLocks noChangeAspect="1"/>
          </p:cNvPicPr>
          <p:nvPr/>
        </p:nvPicPr>
        <p:blipFill>
          <a:blip r:embed="rId1"/>
          <a:stretch>
            <a:fillRect/>
          </a:stretch>
        </p:blipFill>
        <p:spPr>
          <a:xfrm>
            <a:off x="5029200" y="1371600"/>
            <a:ext cx="3657600" cy="2057400"/>
          </a:xfrm>
          <a:prstGeom prst="rect">
            <a:avLst/>
          </a:prstGeom>
        </p:spPr>
      </p:pic>
      <p:sp>
        <p:nvSpPr>
          <p:cNvPr id="11" name="Text 8"/>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E7075"/>
                </a:solidFill>
                <a:latin typeface="Arial" pitchFamily="34" charset="0"/>
                <a:ea typeface="Arial" pitchFamily="34" charset="-122"/>
                <a:cs typeface="Arial" pitchFamily="34" charset="-120"/>
              </a:rPr>
              <a:t>None of this is real-world accuracy yet.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spc="400" kern="0" dirty="0">
                <a:solidFill>
                  <a:srgbClr val="6E7075"/>
                </a:solidFill>
                <a:latin typeface="Arial" pitchFamily="34" charset="0"/>
                <a:ea typeface="Arial" pitchFamily="34" charset="-122"/>
                <a:cs typeface="Arial" pitchFamily="34" charset="-120"/>
              </a:rPr>
              <a:t>WHAT COMES AFTER THE HACKATHON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indent="0" marL="0">
              <a:buNone/>
            </a:pPr>
            <a:r>
              <a:rPr lang="en-US" sz="2600" b="1" spc="300" kern="0" dirty="0">
                <a:solidFill>
                  <a:srgbClr val="FFFFFF"/>
                </a:solidFill>
                <a:latin typeface="Arial" pitchFamily="34" charset="0"/>
                <a:ea typeface="Arial" pitchFamily="34" charset="-122"/>
                <a:cs typeface="Arial" pitchFamily="34" charset="-120"/>
              </a:rPr>
              <a:t>NEXT STEPS</a:t>
            </a:r>
            <a:endParaRPr lang="en-US" sz="2600" dirty="0"/>
          </a:p>
        </p:txBody>
      </p:sp>
      <p:sp>
        <p:nvSpPr>
          <p:cNvPr id="4" name="Shape 2"/>
          <p:cNvSpPr/>
          <p:nvPr/>
        </p:nvSpPr>
        <p:spPr>
          <a:xfrm>
            <a:off x="457200" y="1371600"/>
            <a:ext cx="2560320" cy="1920240"/>
          </a:xfrm>
          <a:prstGeom prst="rect">
            <a:avLst/>
          </a:prstGeom>
          <a:solidFill>
            <a:srgbClr val="111214"/>
          </a:solidFill>
          <a:ln w="12700">
            <a:solidFill>
              <a:srgbClr val="3A3D42"/>
            </a:solidFill>
            <a:prstDash val="solid"/>
          </a:ln>
        </p:spPr>
      </p:sp>
      <p:sp>
        <p:nvSpPr>
          <p:cNvPr id="5" name="Text 3"/>
          <p:cNvSpPr txBox="1"/>
          <p:nvPr/>
        </p:nvSpPr>
        <p:spPr>
          <a:xfrm>
            <a:off x="685800" y="1554480"/>
            <a:ext cx="2103120" cy="411480"/>
          </a:xfrm>
          <a:prstGeom prst="rect">
            <a:avLst/>
          </a:prstGeom>
          <a:noFill/>
          <a:ln/>
        </p:spPr>
        <p:txBody>
          <a:bodyPr wrap="square" lIns="0" tIns="0" rIns="0" bIns="0" rtlCol="0" anchor="ctr"/>
          <a:lstStyle/>
          <a:p>
            <a:pPr indent="0" marL="0">
              <a:buNone/>
            </a:pPr>
            <a:r>
              <a:rPr lang="en-US" sz="2200" b="1" dirty="0">
                <a:solidFill>
                  <a:srgbClr val="6E7075"/>
                </a:solidFill>
                <a:latin typeface="Arial" pitchFamily="34" charset="0"/>
                <a:ea typeface="Arial" pitchFamily="34" charset="-122"/>
                <a:cs typeface="Arial" pitchFamily="34" charset="-120"/>
              </a:rPr>
              <a:t>01</a:t>
            </a:r>
            <a:endParaRPr lang="en-US" sz="2200" dirty="0"/>
          </a:p>
        </p:txBody>
      </p:sp>
      <p:sp>
        <p:nvSpPr>
          <p:cNvPr id="6" name="Text 4"/>
          <p:cNvSpPr txBox="1"/>
          <p:nvPr/>
        </p:nvSpPr>
        <p:spPr>
          <a:xfrm>
            <a:off x="685800" y="2011680"/>
            <a:ext cx="2103120" cy="3200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Arial" pitchFamily="34" charset="0"/>
                <a:ea typeface="Arial" pitchFamily="34" charset="-122"/>
                <a:cs typeface="Arial" pitchFamily="34" charset="-120"/>
              </a:rPr>
              <a:t>RECORD</a:t>
            </a:r>
            <a:endParaRPr lang="en-US" sz="1400" dirty="0"/>
          </a:p>
        </p:txBody>
      </p:sp>
      <p:sp>
        <p:nvSpPr>
          <p:cNvPr id="7" name="Text 5"/>
          <p:cNvSpPr txBox="1"/>
          <p:nvPr/>
        </p:nvSpPr>
        <p:spPr>
          <a:xfrm>
            <a:off x="685800" y="2377440"/>
            <a:ext cx="2103120" cy="777240"/>
          </a:xfrm>
          <a:prstGeom prst="rect">
            <a:avLst/>
          </a:prstGeom>
          <a:noFill/>
          <a:ln/>
        </p:spPr>
        <p:txBody>
          <a:bodyPr wrap="square" lIns="0" tIns="0" rIns="0" bIns="0" rtlCol="0" anchor="t"/>
          <a:lstStyle/>
          <a:p>
            <a:pPr indent="0" marL="0">
              <a:buNone/>
            </a:pPr>
            <a:r>
              <a:rPr lang="en-US" sz="1200" dirty="0">
                <a:solidFill>
                  <a:srgbClr val="A7A9AC"/>
                </a:solidFill>
                <a:latin typeface="Arial" pitchFamily="34" charset="0"/>
                <a:ea typeface="Arial" pitchFamily="34" charset="-122"/>
                <a:cs typeface="Arial" pitchFamily="34" charset="-120"/>
              </a:rPr>
              <a:t>Real pool footage, label each head above or below water</a:t>
            </a:r>
            <a:endParaRPr lang="en-US" sz="1200" dirty="0"/>
          </a:p>
        </p:txBody>
      </p:sp>
      <p:sp>
        <p:nvSpPr>
          <p:cNvPr id="8" name="Shape 6"/>
          <p:cNvSpPr/>
          <p:nvPr/>
        </p:nvSpPr>
        <p:spPr>
          <a:xfrm>
            <a:off x="3291840" y="1371600"/>
            <a:ext cx="2560320" cy="1920240"/>
          </a:xfrm>
          <a:prstGeom prst="rect">
            <a:avLst/>
          </a:prstGeom>
          <a:solidFill>
            <a:srgbClr val="111214"/>
          </a:solidFill>
          <a:ln w="12700">
            <a:solidFill>
              <a:srgbClr val="3A3D42"/>
            </a:solidFill>
            <a:prstDash val="solid"/>
          </a:ln>
        </p:spPr>
      </p:sp>
      <p:sp>
        <p:nvSpPr>
          <p:cNvPr id="9" name="Text 7"/>
          <p:cNvSpPr txBox="1"/>
          <p:nvPr/>
        </p:nvSpPr>
        <p:spPr>
          <a:xfrm>
            <a:off x="3520440" y="1554480"/>
            <a:ext cx="2103120" cy="411480"/>
          </a:xfrm>
          <a:prstGeom prst="rect">
            <a:avLst/>
          </a:prstGeom>
          <a:noFill/>
          <a:ln/>
        </p:spPr>
        <p:txBody>
          <a:bodyPr wrap="square" lIns="0" tIns="0" rIns="0" bIns="0" rtlCol="0" anchor="ctr"/>
          <a:lstStyle/>
          <a:p>
            <a:pPr indent="0" marL="0">
              <a:buNone/>
            </a:pPr>
            <a:r>
              <a:rPr lang="en-US" sz="2200" b="1" dirty="0">
                <a:solidFill>
                  <a:srgbClr val="6E7075"/>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3520440" y="2011680"/>
            <a:ext cx="2103120" cy="3200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Arial" pitchFamily="34" charset="0"/>
                <a:ea typeface="Arial" pitchFamily="34" charset="-122"/>
                <a:cs typeface="Arial" pitchFamily="34" charset="-120"/>
              </a:rPr>
              <a:t>FINE-TUNE</a:t>
            </a:r>
            <a:endParaRPr lang="en-US" sz="1400" dirty="0"/>
          </a:p>
        </p:txBody>
      </p:sp>
      <p:sp>
        <p:nvSpPr>
          <p:cNvPr id="11" name="Text 9"/>
          <p:cNvSpPr txBox="1"/>
          <p:nvPr/>
        </p:nvSpPr>
        <p:spPr>
          <a:xfrm>
            <a:off x="3520440" y="2377440"/>
            <a:ext cx="2103120" cy="777240"/>
          </a:xfrm>
          <a:prstGeom prst="rect">
            <a:avLst/>
          </a:prstGeom>
          <a:noFill/>
          <a:ln/>
        </p:spPr>
        <p:txBody>
          <a:bodyPr wrap="square" lIns="0" tIns="0" rIns="0" bIns="0" rtlCol="0" anchor="t"/>
          <a:lstStyle/>
          <a:p>
            <a:pPr indent="0" marL="0">
              <a:buNone/>
            </a:pPr>
            <a:r>
              <a:rPr lang="en-US" sz="1200" dirty="0">
                <a:solidFill>
                  <a:srgbClr val="A7A9AC"/>
                </a:solidFill>
                <a:latin typeface="Arial" pitchFamily="34" charset="0"/>
                <a:ea typeface="Arial" pitchFamily="34" charset="-122"/>
                <a:cs typeface="Arial" pitchFamily="34" charset="-120"/>
              </a:rPr>
              <a:t>RF-DETR the same way, test only on real clips</a:t>
            </a:r>
            <a:endParaRPr lang="en-US" sz="1200" dirty="0"/>
          </a:p>
        </p:txBody>
      </p:sp>
      <p:sp>
        <p:nvSpPr>
          <p:cNvPr id="12" name="Shape 10"/>
          <p:cNvSpPr/>
          <p:nvPr/>
        </p:nvSpPr>
        <p:spPr>
          <a:xfrm>
            <a:off x="6126480" y="1371600"/>
            <a:ext cx="2560320" cy="1920240"/>
          </a:xfrm>
          <a:prstGeom prst="rect">
            <a:avLst/>
          </a:prstGeom>
          <a:solidFill>
            <a:srgbClr val="111214"/>
          </a:solidFill>
          <a:ln w="12700">
            <a:solidFill>
              <a:srgbClr val="3A3D42"/>
            </a:solidFill>
            <a:prstDash val="solid"/>
          </a:ln>
        </p:spPr>
      </p:sp>
      <p:sp>
        <p:nvSpPr>
          <p:cNvPr id="13" name="Text 11"/>
          <p:cNvSpPr txBox="1"/>
          <p:nvPr/>
        </p:nvSpPr>
        <p:spPr>
          <a:xfrm>
            <a:off x="6355080" y="1554480"/>
            <a:ext cx="2103120" cy="411480"/>
          </a:xfrm>
          <a:prstGeom prst="rect">
            <a:avLst/>
          </a:prstGeom>
          <a:noFill/>
          <a:ln/>
        </p:spPr>
        <p:txBody>
          <a:bodyPr wrap="square" lIns="0" tIns="0" rIns="0" bIns="0" rtlCol="0" anchor="ctr"/>
          <a:lstStyle/>
          <a:p>
            <a:pPr indent="0" marL="0">
              <a:buNone/>
            </a:pPr>
            <a:r>
              <a:rPr lang="en-US" sz="2200" b="1" dirty="0">
                <a:solidFill>
                  <a:srgbClr val="6E7075"/>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6355080" y="2011680"/>
            <a:ext cx="2103120" cy="3200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Arial" pitchFamily="34" charset="0"/>
                <a:ea typeface="Arial" pitchFamily="34" charset="-122"/>
                <a:cs typeface="Arial" pitchFamily="34" charset="-120"/>
              </a:rPr>
              <a:t>CONNECT</a:t>
            </a:r>
            <a:endParaRPr lang="en-US" sz="1400" dirty="0"/>
          </a:p>
        </p:txBody>
      </p:sp>
      <p:sp>
        <p:nvSpPr>
          <p:cNvPr id="15" name="Text 13"/>
          <p:cNvSpPr txBox="1"/>
          <p:nvPr/>
        </p:nvSpPr>
        <p:spPr>
          <a:xfrm>
            <a:off x="6355080" y="2377440"/>
            <a:ext cx="2103120" cy="777240"/>
          </a:xfrm>
          <a:prstGeom prst="rect">
            <a:avLst/>
          </a:prstGeom>
          <a:noFill/>
          <a:ln/>
        </p:spPr>
        <p:txBody>
          <a:bodyPr wrap="square" lIns="0" tIns="0" rIns="0" bIns="0" rtlCol="0" anchor="t"/>
          <a:lstStyle/>
          <a:p>
            <a:pPr indent="0" marL="0">
              <a:buNone/>
            </a:pPr>
            <a:r>
              <a:rPr lang="en-US" sz="1200" dirty="0">
                <a:solidFill>
                  <a:srgbClr val="A7A9AC"/>
                </a:solidFill>
                <a:latin typeface="Arial" pitchFamily="34" charset="0"/>
                <a:ea typeface="Arial" pitchFamily="34" charset="-122"/>
                <a:cs typeface="Arial" pitchFamily="34" charset="-120"/>
              </a:rPr>
              <a:t>Head timer and alerts drive the app's colors</a:t>
            </a:r>
            <a:endParaRPr lang="en-US" sz="1200" dirty="0"/>
          </a:p>
        </p:txBody>
      </p:sp>
      <p:sp>
        <p:nvSpPr>
          <p:cNvPr id="16" name="Text 14"/>
          <p:cNvSpPr txBox="1"/>
          <p:nvPr/>
        </p:nvSpPr>
        <p:spPr>
          <a:xfrm>
            <a:off x="457200" y="3611880"/>
            <a:ext cx="8229600" cy="5486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 supervision aid that detects prolonged head submersion. It does not replace watching children, pool fences, or lifeguards.</a:t>
            </a:r>
            <a:endParaRPr lang="en-US" sz="1300" dirty="0"/>
          </a:p>
        </p:txBody>
      </p:sp>
      <p:sp>
        <p:nvSpPr>
          <p:cNvPr id="17" name="Text 15"/>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E7075"/>
                </a:solidFill>
                <a:latin typeface="Arial" pitchFamily="34" charset="0"/>
                <a:ea typeface="Arial" pitchFamily="34" charset="-122"/>
                <a:cs typeface="Arial" pitchFamily="34" charset="-120"/>
              </a:rPr>
              <a:t>Sunny · Joanne · Sam · Rohan · David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Pool camera assistant</dc:title>
  <dc:subject>PptxGenJS Presentation</dc:subject>
  <dc:creator>PptxGenJS</dc:creator>
  <cp:lastModifiedBy>PptxGenJS</cp:lastModifiedBy>
  <cp:revision>1</cp:revision>
  <dcterms:created xsi:type="dcterms:W3CDTF">2026-09-27T02:47:40Z</dcterms:created>
  <dcterms:modified xsi:type="dcterms:W3CDTF">2026-09-27T02:47:40Z</dcterms:modified>
</cp:coreProperties>
</file>