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966f46db7134695" /><Relationship Type="http://schemas.openxmlformats.org/officeDocument/2006/relationships/extended-properties" Target="/docProps/app.xml" Id="R16e2e41847be4c6d" /><Relationship Type="http://schemas.openxmlformats.org/officeDocument/2006/relationships/officeDocument" Target="/ppt/presentation.xml" Id="Ra1ad6167a5a245c7" /></Relationships>
</file>

<file path=ppt/presentation.xml><?xml version="1.0" encoding="utf-8"?>
<p:presentation xmlns:p="http://schemas.openxmlformats.org/presentationml/2006/main">
  <p:sldMasterIdLst>
    <p:sldMasterId xmlns:r="http://schemas.openxmlformats.org/officeDocument/2006/relationships" id="2147483648" r:id="Ra5b322e343ba4a9e"/>
  </p:sldMasterIdLst>
  <p:notesMasterIdLst>
    <p:notesMasterId xmlns:r="http://schemas.openxmlformats.org/officeDocument/2006/relationships" r:id="R7c507aadd72d4dce"/>
  </p:notesMasterIdLst>
  <p:sldIdLst>
    <p:sldId xmlns:r="http://schemas.openxmlformats.org/officeDocument/2006/relationships" id="256" r:id="R820f35f1488e432e"/>
    <p:sldId xmlns:r="http://schemas.openxmlformats.org/officeDocument/2006/relationships" id="257" r:id="Rf11d0e6f47c64f59"/>
    <p:sldId xmlns:r="http://schemas.openxmlformats.org/officeDocument/2006/relationships" id="258" r:id="Rff2a8d8e382e4600"/>
    <p:sldId xmlns:r="http://schemas.openxmlformats.org/officeDocument/2006/relationships" id="259" r:id="R091cbc49979b4e0e"/>
    <p:sldId xmlns:r="http://schemas.openxmlformats.org/officeDocument/2006/relationships" id="260" r:id="Rd362a744e88845b6"/>
    <p:sldId xmlns:r="http://schemas.openxmlformats.org/officeDocument/2006/relationships" id="261" r:id="R1c9e59a2ab2e41f4"/>
    <p:sldId xmlns:r="http://schemas.openxmlformats.org/officeDocument/2006/relationships" id="262" r:id="R43b97a7a9dba484d"/>
    <p:sldId xmlns:r="http://schemas.openxmlformats.org/officeDocument/2006/relationships" id="263" r:id="Rb6d4fb5cd2d34b5c"/>
    <p:sldId xmlns:r="http://schemas.openxmlformats.org/officeDocument/2006/relationships" id="264" r:id="Rcc1901dbc1d5424a"/>
    <p:sldId xmlns:r="http://schemas.openxmlformats.org/officeDocument/2006/relationships" id="265" r:id="R4c68d77aa0c946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7653fc28b244a4" /><Relationship Type="http://schemas.openxmlformats.org/officeDocument/2006/relationships/slideMaster" Target="/ppt/slideMasters/slideMaster1.xml" Id="Ra5b322e343ba4a9e" /><Relationship Type="http://schemas.openxmlformats.org/officeDocument/2006/relationships/notesMaster" Target="/ppt/notesMasters/notesMaster1.xml" Id="R7c507aadd72d4dce" /><Relationship Type="http://schemas.openxmlformats.org/officeDocument/2006/relationships/presProps" Target="/ppt/presProps.xml" Id="R25307c31f3144f9b" /><Relationship Type="http://schemas.openxmlformats.org/officeDocument/2006/relationships/tableStyles" Target="/ppt/tableStyles.xml" Id="R7bb0736472554660" /><Relationship Type="http://schemas.openxmlformats.org/officeDocument/2006/relationships/slide" Target="/ppt/slides/slide1.xml" Id="R820f35f1488e432e" /><Relationship Type="http://schemas.openxmlformats.org/officeDocument/2006/relationships/slide" Target="/ppt/slides/slide2.xml" Id="Rf11d0e6f47c64f59" /><Relationship Type="http://schemas.openxmlformats.org/officeDocument/2006/relationships/slide" Target="/ppt/slides/slide3.xml" Id="Rff2a8d8e382e4600" /><Relationship Type="http://schemas.openxmlformats.org/officeDocument/2006/relationships/slide" Target="/ppt/slides/slide4.xml" Id="R091cbc49979b4e0e" /><Relationship Type="http://schemas.openxmlformats.org/officeDocument/2006/relationships/slide" Target="/ppt/slides/slide5.xml" Id="Rd362a744e88845b6" /><Relationship Type="http://schemas.openxmlformats.org/officeDocument/2006/relationships/slide" Target="/ppt/slides/slide6.xml" Id="R1c9e59a2ab2e41f4" /><Relationship Type="http://schemas.openxmlformats.org/officeDocument/2006/relationships/slide" Target="/ppt/slides/slide7.xml" Id="R43b97a7a9dba484d" /><Relationship Type="http://schemas.openxmlformats.org/officeDocument/2006/relationships/slide" Target="/ppt/slides/slide8.xml" Id="Rb6d4fb5cd2d34b5c" /><Relationship Type="http://schemas.openxmlformats.org/officeDocument/2006/relationships/slide" Target="/ppt/slides/slide9.xml" Id="Rcc1901dbc1d5424a" /><Relationship Type="http://schemas.openxmlformats.org/officeDocument/2006/relationships/slide" Target="/ppt/slides/slide10.xml" Id="R4c68d77aa0c946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67bd4f4ab34d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14892b480ec4d33" /><Relationship Type="http://schemas.openxmlformats.org/officeDocument/2006/relationships/notesMaster" Target="/ppt/notesMasters/notesMaster1.xml" Id="Re8f0cebf01674e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69d13a5fb7f4329" /><Relationship Type="http://schemas.openxmlformats.org/officeDocument/2006/relationships/notesMaster" Target="/ppt/notesMasters/notesMaster1.xml" Id="Rb378daf51ef844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aa06acc5f14688" /><Relationship Type="http://schemas.openxmlformats.org/officeDocument/2006/relationships/notesMaster" Target="/ppt/notesMasters/notesMaster1.xml" Id="Rf92f411fb7e04ea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6fc647b9b34db0" /><Relationship Type="http://schemas.openxmlformats.org/officeDocument/2006/relationships/notesMaster" Target="/ppt/notesMasters/notesMaster1.xml" Id="R449e46536a924b8e" /></Relationships>
</file>

<file path=ppt/notesSlides/_rels/notesSlide5.xml.rels>&#65279;<?xml version="1.0" encoding="utf-8"?><Relationships xmlns="http://schemas.openxmlformats.org/package/2006/relationships"><Relationship Type="http://schemas.openxmlformats.org/officeDocument/2006/relationships/slide" Target="/ppt/slides/slide5.xml" Id="Re4132c9a7cba416c" /><Relationship Type="http://schemas.openxmlformats.org/officeDocument/2006/relationships/notesMaster" Target="/ppt/notesMasters/notesMaster1.xml" Id="Rfca47089feb3447f"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e40ca8e12e458a" /><Relationship Type="http://schemas.openxmlformats.org/officeDocument/2006/relationships/notesMaster" Target="/ppt/notesMasters/notesMaster1.xml" Id="Rc3ccc1ed329e4b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a8676512144586" /><Relationship Type="http://schemas.openxmlformats.org/officeDocument/2006/relationships/notesMaster" Target="/ppt/notesMasters/notesMaster1.xml" Id="Rd56ddee6b59d4a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04942e10463499d" /><Relationship Type="http://schemas.openxmlformats.org/officeDocument/2006/relationships/notesMaster" Target="/ppt/notesMasters/notesMaster1.xml" Id="Rb5d6acab99d948ed" /></Relationships>
</file>

<file path=ppt/notesSlides/_rels/notesSlide9.xml.rels>&#65279;<?xml version="1.0" encoding="utf-8"?><Relationships xmlns="http://schemas.openxmlformats.org/package/2006/relationships"><Relationship Type="http://schemas.openxmlformats.org/officeDocument/2006/relationships/slide" Target="/ppt/slides/slide9.xml" Id="R5533f431d2644fb3" /><Relationship Type="http://schemas.openxmlformats.org/officeDocument/2006/relationships/notesMaster" Target="/ppt/notesMasters/notesMaster1.xml" Id="Rf0502e7c9abe4eb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3abedd301f94b60" /><Relationship Type="http://schemas.openxmlformats.org/officeDocument/2006/relationships/notesMaster" Target="/ppt/notesMasters/notesMaster1.xml" Id="Re6067a1e92ef46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you are at a backyard pool with friends or family. For one moment, everyone looks away. The camera keeps recording, but recording alone cannot tell you when normal play has turned into danger. Life Vision adds that missing layer. It watches each person over time and warns the adult when someone's head has stayed below the water too long.</a:t>
            </a:r>
          </a:p>
          <a:p xmlns:a="http://schemas.openxmlformats.org/drawingml/2006/main">
            <a:r>
              <a:t/>
            </a:r>
          </a:p>
          <a:p xmlns:a="http://schemas.openxmlformats.org/drawingml/2006/main">
            <a:r>
              <a:t>Sources:</a:t>
            </a:r>
          </a:p>
          <a:p xmlns:a="http://schemas.openxmlformats.org/drawingml/2006/main">
            <a:r>
              <a:t>- Concept image generated for this presentation. It does not depict a real incident.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Consumer Product Safety Commission reviewed reported pool and spa fatalities involving children under five. Sixty-one percent involved a gap in adult supervision, meaning an adult lost contact with the child long enough for the child to reach the water. Many of these homes already have a backyard camera. Our first use case is simple: turn that existing view into a second set of eyes, while keeping supervision and physical pool barriers as the primary protections.</a:t>
            </a:r>
          </a:p>
          <a:p xmlns:a="http://schemas.openxmlformats.org/drawingml/2006/main">
            <a:r>
              <a:t/>
            </a:r>
          </a:p>
          <a:p xmlns:a="http://schemas.openxmlformats.org/drawingml/2006/main">
            <a:r>
              <a:t>Sources:</a:t>
            </a:r>
          </a:p>
          <a:p xmlns:a="http://schemas.openxmlformats.org/drawingml/2006/main">
            <a:r>
              <a:t>- U.S. CPSC, Pool or Spa Submersion: Estimated Nonfatal Drowning Injuries and Reported Drownings, 2024 Report, Table 14: https://www.cpsc.gov/s3fs-public/Pool-or-Spa-Submersion-Estimated-Nonfatal-Drowning-Injuries-and-Reported-Drownings-2024-Report.pdf</a:t>
            </a:r>
          </a:p>
          <a:p xmlns:a="http://schemas.openxmlformats.org/drawingml/2006/main">
            <a:r>
              <a:t>- Pool image generated for this presentation. It depicts safe staged activity, not a real incident.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user selects a prerecorded clip for the hackathon, then presses Activate Monitoring. We intentionally made activation theatrical, with a quick Matrix-style scan, so the audience can see exactly when analysis starts. Every person receives a stable ID and a green box. If a head remains below the surface, a timer starts. The box turns yellow at the warning threshold, then red if the condition persists. The interface always explains the decision, for example head not above water for 3.1 seconds. The user chooses yellow and red alerts, red only, or on-screen alerts.</a:t>
            </a:r>
          </a:p>
          <a:p xmlns:a="http://schemas.openxmlformats.org/drawingml/2006/main">
            <a:r>
              <a:t/>
            </a:r>
          </a:p>
          <a:p xmlns:a="http://schemas.openxmlformats.org/drawingml/2006/main">
            <a:r>
              <a:t>Sources:</a:t>
            </a:r>
          </a:p>
          <a:p xmlns:a="http://schemas.openxmlformats.org/drawingml/2006/main">
            <a:r>
              <a:t>- Repository frontend: frontend/index.html, frontend/styles.css, frontend/app.js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reads a video with media timestamps. The detector finds each person and the available evidence for the head. ByteTrack links detections across frames. Our own identity layer handles short losses and resurfacing, because tracker IDs alone do not survive every dive. The event engine owns the timers, missing-person registry, and entry alert. It writes results as timestamped JSON, and the frontend draws those results over the video. For the demo this all runs locally from files, so network or cloud failures cannot break the presentation.</a:t>
            </a:r>
          </a:p>
          <a:p xmlns:a="http://schemas.openxmlformats.org/drawingml/2006/main">
            <a:r>
              <a:t/>
            </a:r>
          </a:p>
          <a:p xmlns:a="http://schemas.openxmlformats.org/drawingml/2006/main">
            <a:r>
              <a:t>Sources:</a:t>
            </a:r>
          </a:p>
          <a:p xmlns:a="http://schemas.openxmlformats.org/drawingml/2006/main">
            <a:r>
              <a:t>- Repository architecture: docs/global/architecture.md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built a MuJoCo test bench with a shallow end, a deep end, buoyancy, and scripted behaviors such as swimming, resurfacing, collapse, entry, and a silent sink. The simulator gives us exact boxes and exact head height in every frame, so we can test the tracker and event logic without hand labeling. We also built an Isaac Sim scene with more realistic people, lighting, and water. Simulation lets us test dangerous cases safely, but it does not replace real pool footage.</a:t>
            </a:r>
          </a:p>
          <a:p xmlns:a="http://schemas.openxmlformats.org/drawingml/2006/main">
            <a:r>
              <a:t/>
            </a:r>
          </a:p>
          <a:p xmlns:a="http://schemas.openxmlformats.org/drawingml/2006/main">
            <a:r>
              <a:t>Sources:</a:t>
            </a:r>
          </a:p>
          <a:p xmlns:a="http://schemas.openxmlformats.org/drawingml/2006/main">
            <a:r>
              <a:t>- Repository simulation details: docs/global/simulation.md</a:t>
            </a:r>
          </a:p>
          <a:p xmlns:a="http://schemas.openxmlformats.org/drawingml/2006/main">
            <a:r>
              <a:t>- Isaac results: model/README.md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shows recall specifically when the head is fully below water on our held-out Isaac Sim clip. Stock YOLO11n found only sixteen percent. Stock RF-DETR-S found seventy-five percent. A YOLO model trained on the older MuJoCo characters transferred better at eighty-three percent. Our YOLO model fine-tuned on 261 Isaac frames reached ninety-five percent. Precision remained ninety-five percent. These are synthetic results from one scene and character set. They prove that our training and evaluation pipeline works. They do not predict real-world accuracy.</a:t>
            </a:r>
          </a:p>
          <a:p xmlns:a="http://schemas.openxmlformats.org/drawingml/2006/main">
            <a:r>
              <a:t/>
            </a:r>
          </a:p>
          <a:p xmlns:a="http://schemas.openxmlformats.org/drawingml/2006/main">
            <a:r>
              <a:t>Sources:</a:t>
            </a:r>
          </a:p>
          <a:p xmlns:a="http://schemas.openxmlformats.org/drawingml/2006/main">
            <a:r>
              <a:t>- Repository measured results: model/README.md, held-out seed-0 clip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tracker produced eighteen IDs for four people. That makes a per-person timer useless. We added three layers: box cleanup removes duplicate and partial detections, an ID starts only after several consistent frames, and identity stitching gives a resurfacing person their previous ID when the timing and location agree. On the five MuJoCo scenarios, the fine-tuned detector plus these rules produced one ID per person with zero switches. We also learned that a submerged body remains visible in clear water, so the alarm must time the head rather than wait for the whole box to disappear.</a:t>
            </a:r>
          </a:p>
          <a:p xmlns:a="http://schemas.openxmlformats.org/drawingml/2006/main">
            <a:r>
              <a:t/>
            </a:r>
          </a:p>
          <a:p xmlns:a="http://schemas.openxmlformats.org/drawingml/2006/main">
            <a:r>
              <a:t>Sources:</a:t>
            </a:r>
          </a:p>
          <a:p xmlns:a="http://schemas.openxmlformats.org/drawingml/2006/main">
            <a:r>
              <a:t>- Repository tracking results: docs/global/simulation.md</a:t>
            </a:r>
          </a:p>
          <a:p xmlns:a="http://schemas.openxmlformats.org/drawingml/2006/main">
            <a:r>
              <a:t>- Visual: presentation/images/before_after_tracking.png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camera enters through the same source adapter. The hackathon uses uploaded video first, then a webcam. A compatible IP camera can provide an RTSP stream. Ring now offers an official developer platform with authorized device access, webhooks, and WebRTC video. Google Nest provides WebRTC or RTSP through Device Access, depending on the model. The colored overlay appears in our application, not inside the native Ring or Google Home screen. Account authorization and commercial review come later.</a:t>
            </a:r>
          </a:p>
          <a:p xmlns:a="http://schemas.openxmlformats.org/drawingml/2006/main">
            <a:r>
              <a:t/>
            </a:r>
          </a:p>
          <a:p xmlns:a="http://schemas.openxmlformats.org/drawingml/2006/main">
            <a:r>
              <a:t>Sources:</a:t>
            </a:r>
          </a:p>
          <a:p xmlns:a="http://schemas.openxmlformats.org/drawingml/2006/main">
            <a:r>
              <a:t>- Ring Developer Experience: https://developer.amazon.com/docs/ring/get-started.html</a:t>
            </a:r>
          </a:p>
          <a:p xmlns:a="http://schemas.openxmlformats.org/drawingml/2006/main">
            <a:r>
              <a:t>- Google Nest supported devices: https://developers.google.com/nest/device-access/supported-devices</a:t>
            </a:r>
          </a:p>
          <a:p xmlns:a="http://schemas.openxmlformats.org/drawingml/2006/main">
            <a:r>
              <a:t>- Camera concept image generated for this presentation. It does not show a branded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prerecorded pool clip. We use staged behavior in shallow water with a dedicated observer. When I activate monitoring, the scan starts and the system assigns each person an ID. Watch Person 02. The box starts green. As the head-submersion evidence persists, the timer appears and the box changes to yellow. At the demo alarm threshold, it turns red and the alert fires. The timeline records what changed and why. State accurately whether the run uses real model inference, a recording of a pipeline run, or scripted interface results. Never describe scripted boxes as live model inference.</a:t>
            </a:r>
          </a:p>
          <a:p xmlns:a="http://schemas.openxmlformats.org/drawingml/2006/main">
            <a:r>
              <a:t/>
            </a:r>
          </a:p>
          <a:p xmlns:a="http://schemas.openxmlformats.org/drawingml/2006/main">
            <a:r>
              <a:t>Sources:</a:t>
            </a:r>
          </a:p>
          <a:p xmlns:a="http://schemas.openxmlformats.org/drawingml/2006/main">
            <a:r>
              <a:t>- Frontend: frontend/index.html</a:t>
            </a:r>
          </a:p>
          <a:p xmlns:a="http://schemas.openxmlformats.org/drawingml/2006/main">
            <a:r>
              <a:t>- Fallback visual: presentation/images/demo_hq_tracking_still.png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Every accuracy number in this presentation comes from synthetic footage. The simulator lacks real glare, splashing, occlusion, camera compression, and the diversity of real people. Our next experiment is real pool footage split by recording session. We will label whether each head is above or below the surface, fine-tune on the training sessions, and evaluate only on separate sessions. We will report detection delay, missed events, false warnings per monitored hour, and identity errors. Life Vision remains a supervision aid. It does not replace watching children, pool fences, or lifeguards. We are not asking families to buy another camera. We are testing whether the camera they already have can recognize when the water stops looking normal.</a:t>
            </a:r>
          </a:p>
          <a:p xmlns:a="http://schemas.openxmlformats.org/drawingml/2006/main">
            <a:r>
              <a:t/>
            </a:r>
          </a:p>
          <a:p xmlns:a="http://schemas.openxmlformats.org/drawingml/2006/main">
            <a:r>
              <a:t>Sources:</a:t>
            </a:r>
          </a:p>
          <a:p xmlns:a="http://schemas.openxmlformats.org/drawingml/2006/main">
            <a:r>
              <a:t>- Repository decisions: docs/global/decisions.md</a:t>
            </a:r>
          </a:p>
          <a:p xmlns:a="http://schemas.openxmlformats.org/drawingml/2006/main">
            <a:r>
              <a:t>- Evaluation plan: docs/global/architecture.md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1e5305983d54bd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37b37099a34f7d" /><Relationship Type="http://schemas.openxmlformats.org/officeDocument/2006/relationships/slideLayout" Target="/ppt/slideLayouts/slideLayout1.xml" Id="R23ca668f66f24f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ca668f66f24f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d69fa253fbd4675" /><Relationship Type="http://schemas.openxmlformats.org/officeDocument/2006/relationships/image" Target="/ppt/media/image.png" Id="R9de1696f15904057" /><Relationship Type="http://schemas.openxmlformats.org/officeDocument/2006/relationships/notesSlide" Target="/ppt/notesSlides/notesSlide1.xml" Id="R9efdb8fe3ed445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7aa6976ec8b4853" /><Relationship Type="http://schemas.openxmlformats.org/officeDocument/2006/relationships/image" Target="/ppt/media/image2.png" Id="Re338701618de4304" /><Relationship Type="http://schemas.openxmlformats.org/officeDocument/2006/relationships/notesSlide" Target="/ppt/notesSlides/notesSlide2.xml" Id="R572549b403fe4fc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6e7f92d445c4161" /><Relationship Type="http://schemas.openxmlformats.org/officeDocument/2006/relationships/notesSlide" Target="/ppt/notesSlides/notesSlide3.xml" Id="R1096840c22124d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f6dc715c1374b3f" /><Relationship Type="http://schemas.openxmlformats.org/officeDocument/2006/relationships/notesSlide" Target="/ppt/notesSlides/notesSlide4.xml" Id="Rd3c459ff47d943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ebefb375ffd4160" /><Relationship Type="http://schemas.openxmlformats.org/officeDocument/2006/relationships/image" Target="/ppt/media/image3.png" Id="R9e5d276fc0df41cb" /><Relationship Type="http://schemas.openxmlformats.org/officeDocument/2006/relationships/image" Target="/ppt/media/image4.png" Id="R06ede4f4113146a3" /><Relationship Type="http://schemas.openxmlformats.org/officeDocument/2006/relationships/notesSlide" Target="/ppt/notesSlides/notesSlide5.xml" Id="R8b881c4a78db43a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b5d22f4aa6b4554" /><Relationship Type="http://schemas.openxmlformats.org/officeDocument/2006/relationships/chart" Target="/ppt/slides/charts/chart1.xml" Id="Rdff9ed7235974191" /><Relationship Type="http://schemas.openxmlformats.org/officeDocument/2006/relationships/notesSlide" Target="/ppt/notesSlides/notesSlide6.xml" Id="R2d56ba4bee5842a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5fa820668814f65" /><Relationship Type="http://schemas.openxmlformats.org/officeDocument/2006/relationships/image" Target="/ppt/media/image5.png" Id="R828a4db6ceb64d62" /><Relationship Type="http://schemas.openxmlformats.org/officeDocument/2006/relationships/notesSlide" Target="/ppt/notesSlides/notesSlide7.xml" Id="R7ccda17c11d0454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2aec2e271344d7d" /><Relationship Type="http://schemas.openxmlformats.org/officeDocument/2006/relationships/image" Target="/ppt/media/image6.png" Id="R76a4485e09484f40" /><Relationship Type="http://schemas.openxmlformats.org/officeDocument/2006/relationships/notesSlide" Target="/ppt/notesSlides/notesSlide8.xml" Id="Rce0819f26b9b447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d9e41b6de764a65" /><Relationship Type="http://schemas.openxmlformats.org/officeDocument/2006/relationships/image" Target="/ppt/media/image7.png" Id="Rd8c3036bc16d4fd9" /><Relationship Type="http://schemas.openxmlformats.org/officeDocument/2006/relationships/notesSlide" Target="/ppt/notesSlides/notesSlide9.xml" Id="R819eb43b3b92453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cabfe13beb1430c" /><Relationship Type="http://schemas.openxmlformats.org/officeDocument/2006/relationships/notesSlide" Target="/ppt/notesSlides/notesSlide10.xml" Id="R3440eeac34c447ac"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Recall, head fully under</c:v>
          </c:tx>
          <c:spPr>
            <a:solidFill xmlns:a="http://schemas.openxmlformats.org/drawingml/2006/main">
              <a:srgbClr val="41F28D"/>
            </a:solidFill>
          </c:spPr>
          <c:dPt>
            <c:idx val="0"/>
            <c:invertIfNegative val="0"/>
            <c:spPr>
              <a:solidFill xmlns:a="http://schemas.openxmlformats.org/drawingml/2006/main">
                <a:srgbClr val="8AACA0"/>
              </a:solidFill>
            </c:spPr>
          </c:dPt>
          <c:dPt>
            <c:idx val="1"/>
            <c:invertIfNegative val="0"/>
            <c:spPr>
              <a:solidFill xmlns:a="http://schemas.openxmlformats.org/drawingml/2006/main">
                <a:srgbClr val="64B7FF"/>
              </a:solidFill>
            </c:spPr>
          </c:dPt>
          <c:dPt>
            <c:idx val="2"/>
            <c:invertIfNegative val="0"/>
            <c:spPr>
              <a:solidFill xmlns:a="http://schemas.openxmlformats.org/drawingml/2006/main">
                <a:srgbClr val="FFD447"/>
              </a:solidFill>
            </c:spPr>
          </c:dPt>
          <c:dPt>
            <c:idx val="3"/>
            <c:invertIfNegative val="0"/>
            <c:spPr>
              <a:solidFill xmlns:a="http://schemas.openxmlformats.org/drawingml/2006/main">
                <a:srgbClr val="41F28D"/>
              </a:solidFill>
            </c:spPr>
          </c:dPt>
          <c:cat>
            <c:strRef>
              <c:f>'Chart Data'!$A$2:$A$5</c:f>
              <c:strCache>
                <c:ptCount val="4"/>
                <c:pt idx="0">
                  <c:v>Stock YOLO11n</c:v>
                </c:pt>
                <c:pt idx="1">
                  <c:v>Stock RF-DETR-S</c:v>
                </c:pt>
                <c:pt idx="2">
                  <c:v>MuJoCo tuned YOLO</c:v>
                </c:pt>
                <c:pt idx="3">
                  <c:v>Isaac tuned YOLO</c:v>
                </c:pt>
              </c:strCache>
            </c:strRef>
          </c:cat>
          <c:val>
            <c:numRef>
              <c:f>'Chart Data'!$B$2:$B$5</c:f>
              <c:numCache>
                <c:formatCode>0"%"</c:formatCode>
                <c:ptCount val="4"/>
                <c:pt idx="0">
                  <c:v>16</c:v>
                </c:pt>
                <c:pt idx="1">
                  <c:v>75</c:v>
                </c:pt>
                <c:pt idx="2">
                  <c:v>83</c:v>
                </c:pt>
                <c:pt idx="3">
                  <c:v>95</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EDFDF6"/>
                  </a:solidFill>
                  <a:latin typeface="Avenir Next"/>
                  <a:ea typeface="Avenir Next"/>
                  <a:cs typeface="Avenir Next"/>
                </a:defRPr>
              </a:pPr>
            </a:p>
          </c:txPr>
          <c:dLblPos val="outEnd"/>
          <c:showLegendKey val="0"/>
          <c:showVal val="1"/>
          <c:showCatName val="0"/>
          <c:showSerName val="0"/>
          <c:showPercent val="0"/>
          <c:showBubbleSize val="0"/>
          <c:showLeaderLines val="0"/>
        </c:dLbls>
        <c:gapWidth val="62"/>
        <c:axId val="48650112"/>
        <c:axId val="48672768"/>
      </c:barChart>
      <c:catAx>
        <c:axId val="48650112"/>
        <c:scaling>
          <c:orientation val="minMax"/>
        </c:scaling>
        <c:delete val="0"/>
        <c:axPos val="l"/>
        <c:numFmt formatCode="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8AACA0"/>
                </a:solidFill>
                <a:latin typeface="Avenir Next"/>
                <a:ea typeface="Avenir Next"/>
                <a:cs typeface="Avenir Next"/>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EDFDF6"/>
                </a:solidFill>
                <a:latin typeface="Avenir Next"/>
                <a:ea typeface="Avenir Next"/>
                <a:cs typeface="Avenir Next"/>
              </a:defRPr>
            </a:pPr>
          </a:p>
        </c:txPr>
        <c:crossAx val="48650112"/>
        <c:crossBetween val="between"/>
      </c:valAx>
      <c:spPr>
        <a:solidFill xmlns:a="http://schemas.openxmlformats.org/drawingml/2006/main">
          <a:srgbClr val="071411"/>
        </a:solidFill>
        <a:ln xmlns:a="http://schemas.openxmlformats.org/drawingml/2006/main" w="0">
          <a:noFill/>
        </a:ln>
      </c:spPr>
    </c:plotArea>
    <c:plotVisOnly val="1"/>
  </c:chart>
  <c:spPr>
    <a:solidFill xmlns:a="http://schemas.openxmlformats.org/drawingml/2006/main">
      <a:srgbClr val="071411"/>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411"/>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de1696f1590405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51809D2-AC3C-4712-8F75-B330792B2300}"/>
              </a:ext>
            </a:extLst>
          </p:cNvPr>
          <p:cNvSpPr>
            <a:spLocks xmlns:a="http://schemas.openxmlformats.org/drawingml/2006/main" noGrp="1"/>
          </p:cNvSpPr>
          <p:nvPr/>
        </p:nvSpPr>
        <p:spPr>
          <a:xfrm xmlns:a="http://schemas.openxmlformats.org/drawingml/2006/main">
            <a:off x="0" y="0"/>
            <a:ext cx="5095875" cy="6858000"/>
          </a:xfrm>
          <a:prstGeom xmlns:a="http://schemas.openxmlformats.org/drawingml/2006/main" prst="rect">
            <a:avLst/>
          </a:prstGeom>
          <a:solidFill xmlns:a="http://schemas.openxmlformats.org/drawingml/2006/main">
            <a:srgbClr val="07141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3FD746DA-748B-4E3C-80D1-C7214FE384B6}"/>
              </a:ext>
            </a:extLst>
          </p:cNvPr>
          <p:cNvSpPr>
            <a:spLocks xmlns:a="http://schemas.openxmlformats.org/drawingml/2006/main" noGrp="1"/>
          </p:cNvSpPr>
          <p:nvPr/>
        </p:nvSpPr>
        <p:spPr>
          <a:xfrm xmlns:a="http://schemas.openxmlformats.org/drawingml/2006/main">
            <a:off x="552450" y="876300"/>
            <a:ext cx="361950" cy="361950"/>
          </a:xfrm>
          <a:prstGeom xmlns:a="http://schemas.openxmlformats.org/drawingml/2006/main" prst="roundRect">
            <a:avLst>
              <a:gd name="adj" fmla="val 26316"/>
            </a:avLst>
          </a:prstGeom>
          <a:solidFill xmlns:a="http://schemas.openxmlformats.org/drawingml/2006/main">
            <a:srgbClr val="41F28D"/>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134208E-6346-4437-A0EE-E824F81FA666}"/>
              </a:ext>
            </a:extLst>
          </p:cNvPr>
          <p:cNvSpPr>
            <a:spLocks xmlns:a="http://schemas.openxmlformats.org/drawingml/2006/main" noGrp="1"/>
          </p:cNvSpPr>
          <p:nvPr/>
        </p:nvSpPr>
        <p:spPr>
          <a:xfrm xmlns:a="http://schemas.openxmlformats.org/drawingml/2006/main">
            <a:off x="628650" y="1057275"/>
            <a:ext cx="47625" cy="104775"/>
          </a:xfrm>
          <a:prstGeom xmlns:a="http://schemas.openxmlformats.org/drawingml/2006/main" prst="roundRect">
            <a:avLst>
              <a:gd name="adj" fmla="val 40000"/>
            </a:avLst>
          </a:prstGeom>
          <a:solidFill xmlns:a="http://schemas.openxmlformats.org/drawingml/2006/main">
            <a:srgbClr val="04120D"/>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73E2028-B2DB-4D79-81A9-463837A83163}"/>
              </a:ext>
            </a:extLst>
          </p:cNvPr>
          <p:cNvSpPr>
            <a:spLocks xmlns:a="http://schemas.openxmlformats.org/drawingml/2006/main" noGrp="1"/>
          </p:cNvSpPr>
          <p:nvPr/>
        </p:nvSpPr>
        <p:spPr>
          <a:xfrm xmlns:a="http://schemas.openxmlformats.org/drawingml/2006/main">
            <a:off x="714375" y="962025"/>
            <a:ext cx="47625" cy="200025"/>
          </a:xfrm>
          <a:prstGeom xmlns:a="http://schemas.openxmlformats.org/drawingml/2006/main" prst="roundRect">
            <a:avLst>
              <a:gd name="adj" fmla="val 40000"/>
            </a:avLst>
          </a:prstGeom>
          <a:solidFill xmlns:a="http://schemas.openxmlformats.org/drawingml/2006/main">
            <a:srgbClr val="04120D"/>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4E9A0C6-BC97-4B0A-82EB-90BC9783C230}"/>
              </a:ext>
            </a:extLst>
          </p:cNvPr>
          <p:cNvSpPr>
            <a:spLocks xmlns:a="http://schemas.openxmlformats.org/drawingml/2006/main" noGrp="1"/>
          </p:cNvSpPr>
          <p:nvPr/>
        </p:nvSpPr>
        <p:spPr>
          <a:xfrm xmlns:a="http://schemas.openxmlformats.org/drawingml/2006/main">
            <a:off x="800100" y="1009650"/>
            <a:ext cx="47625" cy="152400"/>
          </a:xfrm>
          <a:prstGeom xmlns:a="http://schemas.openxmlformats.org/drawingml/2006/main" prst="roundRect">
            <a:avLst>
              <a:gd name="adj" fmla="val 40000"/>
            </a:avLst>
          </a:prstGeom>
          <a:solidFill xmlns:a="http://schemas.openxmlformats.org/drawingml/2006/main">
            <a:srgbClr val="04120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51E5317-C1C1-4D5A-B93B-92CCEDD5BE49}"/>
              </a:ext>
            </a:extLst>
          </p:cNvPr>
          <p:cNvSpPr>
            <a:spLocks xmlns:a="http://schemas.openxmlformats.org/drawingml/2006/main" noGrp="1"/>
          </p:cNvSpPr>
          <p:nvPr/>
        </p:nvSpPr>
        <p:spPr>
          <a:xfrm xmlns:a="http://schemas.openxmlformats.org/drawingml/2006/main">
            <a:off x="552450" y="1647825"/>
            <a:ext cx="4095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83"/>
          </a:bodyPr>
          <a:lstStyle xmlns:a="http://schemas.openxmlformats.org/drawingml/2006/main"/>
          <a:p xmlns:a="http://schemas.openxmlformats.org/drawingml/2006/main">
            <a:pPr>
              <a:defRPr sz="4050" b="1">
                <a:solidFill>
                  <a:srgbClr val="EDFDF6"/>
                </a:solidFill>
                <a:latin typeface="Avenir Next"/>
                <a:ea typeface="Avenir Next"/>
                <a:cs typeface="Avenir Next"/>
              </a:defRPr>
            </a:pPr>
            <a:r>
              <a:rPr sz="4050" b="1">
                <a:solidFill>
                  <a:srgbClr val="EDFDF6"/>
                </a:solidFill>
                <a:latin typeface="Avenir Next"/>
                <a:ea typeface="Avenir Next"/>
                <a:cs typeface="Avenir Next"/>
              </a:rPr>
              <a:t>LIFE VISION</a:t>
            </a:r>
          </a:p>
        </p:txBody>
      </p:sp>
      <p:sp>
        <p:nvSpPr>
          <p:cNvPr id="8" name="">
            <a:extLst xmlns:a="http://schemas.openxmlformats.org/drawingml/2006/main">
              <a:ext uri="{FF2B5EF4-FFF2-40B4-BE49-F238E27FC236}">
                <a16:creationId xmlns:a16="http://schemas.microsoft.com/office/drawing/2014/main" id="{CAF81B18-6354-4484-9394-7FBA6DD99459}"/>
              </a:ext>
            </a:extLst>
          </p:cNvPr>
          <p:cNvSpPr>
            <a:spLocks xmlns:a="http://schemas.openxmlformats.org/drawingml/2006/main" noGrp="1"/>
          </p:cNvSpPr>
          <p:nvPr/>
        </p:nvSpPr>
        <p:spPr>
          <a:xfrm xmlns:a="http://schemas.openxmlformats.org/drawingml/2006/main">
            <a:off x="552450" y="2428875"/>
            <a:ext cx="3905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875" b="0">
                <a:solidFill>
                  <a:srgbClr val="41F28D"/>
                </a:solidFill>
                <a:latin typeface="Avenir Next"/>
                <a:ea typeface="Avenir Next"/>
                <a:cs typeface="Avenir Next"/>
              </a:defRPr>
            </a:pPr>
            <a:r>
              <a:rPr sz="1875" b="0">
                <a:solidFill>
                  <a:srgbClr val="41F28D"/>
                </a:solidFill>
                <a:latin typeface="Avenir Next"/>
                <a:ea typeface="Avenir Next"/>
                <a:cs typeface="Avenir Next"/>
              </a:rPr>
              <a:t>Explainable pool-risk monitoring</a:t>
            </a:r>
          </a:p>
          <a:p xmlns:a="http://schemas.openxmlformats.org/drawingml/2006/main">
            <a:pPr>
              <a:defRPr sz="1875" b="0">
                <a:solidFill>
                  <a:srgbClr val="41F28D"/>
                </a:solidFill>
                <a:latin typeface="Avenir Next"/>
                <a:ea typeface="Avenir Next"/>
                <a:cs typeface="Avenir Next"/>
              </a:defRPr>
            </a:pPr>
            <a:r>
              <a:rPr sz="1875" b="0">
                <a:solidFill>
                  <a:srgbClr val="41F28D"/>
                </a:solidFill>
                <a:latin typeface="Avenir Next"/>
                <a:ea typeface="Avenir Next"/>
                <a:cs typeface="Avenir Next"/>
              </a:rPr>
              <a:t>for cameras families already own</a:t>
            </a:r>
          </a:p>
        </p:txBody>
      </p:sp>
      <p:sp>
        <p:nvSpPr>
          <p:cNvPr id="9" name="">
            <a:extLst xmlns:a="http://schemas.openxmlformats.org/drawingml/2006/main">
              <a:ext uri="{FF2B5EF4-FFF2-40B4-BE49-F238E27FC236}">
                <a16:creationId xmlns:a16="http://schemas.microsoft.com/office/drawing/2014/main" id="{22CEFC7D-6F0C-42CF-9434-13A6F171902F}"/>
              </a:ext>
            </a:extLst>
          </p:cNvPr>
          <p:cNvSpPr>
            <a:spLocks xmlns:a="http://schemas.openxmlformats.org/drawingml/2006/main" noGrp="1"/>
          </p:cNvSpPr>
          <p:nvPr/>
        </p:nvSpPr>
        <p:spPr>
          <a:xfrm xmlns:a="http://schemas.openxmlformats.org/drawingml/2006/main">
            <a:off x="552450" y="5657850"/>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050" b="1">
                <a:solidFill>
                  <a:srgbClr val="EDFDF6"/>
                </a:solidFill>
                <a:latin typeface="Avenir Next"/>
                <a:ea typeface="Avenir Next"/>
                <a:cs typeface="Avenir Next"/>
              </a:defRPr>
            </a:pPr>
            <a:r>
              <a:rPr sz="1050" b="1">
                <a:solidFill>
                  <a:srgbClr val="EDFDF6"/>
                </a:solidFill>
                <a:latin typeface="Avenir Next"/>
                <a:ea typeface="Avenir Next"/>
                <a:cs typeface="Avenir Next"/>
              </a:rPr>
              <a:t>Hackathon prototype</a:t>
            </a:r>
          </a:p>
        </p:txBody>
      </p:sp>
      <p:sp>
        <p:nvSpPr>
          <p:cNvPr id="10" name="">
            <a:extLst xmlns:a="http://schemas.openxmlformats.org/drawingml/2006/main">
              <a:ext uri="{FF2B5EF4-FFF2-40B4-BE49-F238E27FC236}">
                <a16:creationId xmlns:a16="http://schemas.microsoft.com/office/drawing/2014/main" id="{F4CED7DF-D116-44C0-A634-D90CA6F858EB}"/>
              </a:ext>
            </a:extLst>
          </p:cNvPr>
          <p:cNvSpPr>
            <a:spLocks xmlns:a="http://schemas.openxmlformats.org/drawingml/2006/main" noGrp="1"/>
          </p:cNvSpPr>
          <p:nvPr/>
        </p:nvSpPr>
        <p:spPr>
          <a:xfrm xmlns:a="http://schemas.openxmlformats.org/drawingml/2006/main">
            <a:off x="552450" y="5991225"/>
            <a:ext cx="4000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0">
                <a:solidFill>
                  <a:srgbClr val="8AACA0"/>
                </a:solidFill>
                <a:latin typeface="Avenir Next"/>
                <a:ea typeface="Avenir Next"/>
                <a:cs typeface="Avenir Next"/>
              </a:defRPr>
            </a:pPr>
            <a:r>
              <a:rPr sz="900" b="0">
                <a:solidFill>
                  <a:srgbClr val="8AACA0"/>
                </a:solidFill>
                <a:latin typeface="Avenir Next"/>
                <a:ea typeface="Avenir Next"/>
                <a:cs typeface="Avenir Next"/>
              </a:rPr>
              <a:t>David · Rohan · Sunny · Joanne · Sam</a:t>
            </a:r>
          </a:p>
        </p:txBody>
      </p:sp>
    </p:spTree>
    <p:extLst>
      <p:ext uri="{BB962C8B-B14F-4D97-AF65-F5344CB8AC3E}">
        <p14:creationId xmlns:p14="http://schemas.microsoft.com/office/powerpoint/2010/main" val="989119320"/>
      </p:ext>
    </p:extLst>
  </p:cSld>
</p:sld>
</file>

<file path=ppt/slides/slide2.xml><?xml version="1.0" encoding="utf-8"?>
<p:sld xmlns:p="http://schemas.openxmlformats.org/presentationml/2006/main">
  <p:cSld>
    <p:bg>
      <p:bgPr>
        <a:solidFill xmlns:a="http://schemas.openxmlformats.org/drawingml/2006/main">
          <a:srgbClr val="07141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8EB9F3F-1D0D-418B-BAE2-04513083D590}"/>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41F28D"/>
                </a:solidFill>
                <a:latin typeface="Avenir Next"/>
                <a:ea typeface="Avenir Next"/>
                <a:cs typeface="Avenir Next"/>
              </a:defRPr>
            </a:pPr>
            <a:r>
              <a:rPr sz="975" b="1">
                <a:solidFill>
                  <a:srgbClr val="41F28D"/>
                </a:solidFill>
                <a:latin typeface="Avenir Next"/>
                <a:ea typeface="Avenir Next"/>
                <a:cs typeface="Avenir Next"/>
              </a:rPr>
              <a:t>THE USE CASE</a:t>
            </a:r>
          </a:p>
        </p:txBody>
      </p:sp>
      <p:sp>
        <p:nvSpPr>
          <p:cNvPr id="2" name="">
            <a:extLst xmlns:a="http://schemas.openxmlformats.org/drawingml/2006/main">
              <a:ext uri="{FF2B5EF4-FFF2-40B4-BE49-F238E27FC236}">
                <a16:creationId xmlns:a16="http://schemas.microsoft.com/office/drawing/2014/main" id="{3FC33CCA-9F32-49EB-95D5-D4A92F8E3604}"/>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8AACA0"/>
                </a:solidFill>
                <a:latin typeface="Avenir Next"/>
                <a:ea typeface="Avenir Next"/>
                <a:cs typeface="Avenir Next"/>
              </a:defRPr>
            </a:pPr>
            <a:r>
              <a:rPr sz="975" b="1">
                <a:solidFill>
                  <a:srgbClr val="8AACA0"/>
                </a:solidFill>
                <a:latin typeface="Avenir Next"/>
                <a:ea typeface="Avenir Next"/>
                <a:cs typeface="Avenir Next"/>
              </a:rPr>
              <a:t>02</a:t>
            </a:r>
          </a:p>
        </p:txBody>
      </p:sp>
      <p:sp>
        <p:nvSpPr>
          <p:cNvPr id="3" name="">
            <a:extLst xmlns:a="http://schemas.openxmlformats.org/drawingml/2006/main">
              <a:ext uri="{FF2B5EF4-FFF2-40B4-BE49-F238E27FC236}">
                <a16:creationId xmlns:a16="http://schemas.microsoft.com/office/drawing/2014/main" id="{B1C7F02B-C3F6-4BC0-BE7A-63AEB84BEC61}"/>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24443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094564B-FD4A-4E8D-BF2E-92FB48ED007C}"/>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546"/>
          </a:bodyPr>
          <a:lstStyle xmlns:a="http://schemas.openxmlformats.org/drawingml/2006/main"/>
          <a:p xmlns:a="http://schemas.openxmlformats.org/drawingml/2006/main">
            <a:pPr>
              <a:defRPr sz="3150" b="1">
                <a:solidFill>
                  <a:srgbClr val="EDFDF6"/>
                </a:solidFill>
                <a:latin typeface="Avenir Next"/>
                <a:ea typeface="Avenir Next"/>
                <a:cs typeface="Avenir Next"/>
              </a:defRPr>
            </a:pPr>
            <a:r>
              <a:rPr sz="3150" b="1">
                <a:solidFill>
                  <a:srgbClr val="EDFDF6"/>
                </a:solidFill>
                <a:latin typeface="Avenir Next"/>
                <a:ea typeface="Avenir Next"/>
                <a:cs typeface="Avenir Next"/>
              </a:rPr>
              <a:t>A short gap in supervision can become a pool emergency</a:t>
            </a:r>
          </a:p>
        </p:txBody>
      </p:sp>
      <p:sp>
        <p:nvSpPr>
          <p:cNvPr id="5" name="">
            <a:extLst xmlns:a="http://schemas.openxmlformats.org/drawingml/2006/main">
              <a:ext uri="{FF2B5EF4-FFF2-40B4-BE49-F238E27FC236}">
                <a16:creationId xmlns:a16="http://schemas.microsoft.com/office/drawing/2014/main" id="{6F140403-08AC-4281-968B-AC9211B32E28}"/>
              </a:ext>
            </a:extLst>
          </p:cNvPr>
          <p:cNvSpPr>
            <a:spLocks xmlns:a="http://schemas.openxmlformats.org/drawingml/2006/main" noGrp="1"/>
          </p:cNvSpPr>
          <p:nvPr/>
        </p:nvSpPr>
        <p:spPr>
          <a:xfrm xmlns:a="http://schemas.openxmlformats.org/drawingml/2006/main">
            <a:off x="552450" y="1828800"/>
            <a:ext cx="285750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6150" b="1">
                <a:solidFill>
                  <a:srgbClr val="41F28D"/>
                </a:solidFill>
                <a:latin typeface="Avenir Next"/>
                <a:ea typeface="Avenir Next"/>
                <a:cs typeface="Avenir Next"/>
              </a:defRPr>
            </a:pPr>
            <a:r>
              <a:rPr sz="6150" b="1">
                <a:solidFill>
                  <a:srgbClr val="41F28D"/>
                </a:solidFill>
                <a:latin typeface="Avenir Next"/>
                <a:ea typeface="Avenir Next"/>
                <a:cs typeface="Avenir Next"/>
              </a:rPr>
              <a:t>61%</a:t>
            </a:r>
          </a:p>
        </p:txBody>
      </p:sp>
      <p:sp>
        <p:nvSpPr>
          <p:cNvPr id="6" name="">
            <a:extLst xmlns:a="http://schemas.openxmlformats.org/drawingml/2006/main">
              <a:ext uri="{FF2B5EF4-FFF2-40B4-BE49-F238E27FC236}">
                <a16:creationId xmlns:a16="http://schemas.microsoft.com/office/drawing/2014/main" id="{B5E5F446-F762-453D-8209-D2FD440C47DC}"/>
              </a:ext>
            </a:extLst>
          </p:cNvPr>
          <p:cNvSpPr>
            <a:spLocks xmlns:a="http://schemas.openxmlformats.org/drawingml/2006/main" noGrp="1"/>
          </p:cNvSpPr>
          <p:nvPr/>
        </p:nvSpPr>
        <p:spPr>
          <a:xfrm xmlns:a="http://schemas.openxmlformats.org/drawingml/2006/main">
            <a:off x="590550" y="2971800"/>
            <a:ext cx="4000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650" b="0">
                <a:solidFill>
                  <a:srgbClr val="EDFDF6"/>
                </a:solidFill>
                <a:latin typeface="Avenir Next"/>
                <a:ea typeface="Avenir Next"/>
                <a:cs typeface="Avenir Next"/>
              </a:defRPr>
            </a:pPr>
            <a:r>
              <a:rPr sz="1650" b="0">
                <a:solidFill>
                  <a:srgbClr val="EDFDF6"/>
                </a:solidFill>
                <a:latin typeface="Avenir Next"/>
                <a:ea typeface="Avenir Next"/>
                <a:cs typeface="Avenir Next"/>
              </a:rPr>
              <a:t>of reported pool and spa fatalities involving children under five were associated with a gap in adult supervision</a:t>
            </a:r>
          </a:p>
        </p:txBody>
      </p:sp>
      <p:sp>
        <p:nvSpPr>
          <p:cNvPr id="7" name="">
            <a:extLst xmlns:a="http://schemas.openxmlformats.org/drawingml/2006/main">
              <a:ext uri="{FF2B5EF4-FFF2-40B4-BE49-F238E27FC236}">
                <a16:creationId xmlns:a16="http://schemas.microsoft.com/office/drawing/2014/main" id="{25C01EA2-9F8B-4A34-AF2C-BCF03B72D37D}"/>
              </a:ext>
            </a:extLst>
          </p:cNvPr>
          <p:cNvSpPr>
            <a:spLocks xmlns:a="http://schemas.openxmlformats.org/drawingml/2006/main" noGrp="1"/>
          </p:cNvSpPr>
          <p:nvPr/>
        </p:nvSpPr>
        <p:spPr>
          <a:xfrm xmlns:a="http://schemas.openxmlformats.org/drawingml/2006/main">
            <a:off x="590550" y="4667250"/>
            <a:ext cx="1619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8AACA0"/>
                </a:solidFill>
                <a:latin typeface="Avenir Next"/>
                <a:ea typeface="Avenir Next"/>
                <a:cs typeface="Avenir Next"/>
              </a:defRPr>
            </a:pPr>
            <a:r>
              <a:rPr sz="825" b="1">
                <a:solidFill>
                  <a:srgbClr val="8AACA0"/>
                </a:solidFill>
                <a:latin typeface="Avenir Next"/>
                <a:ea typeface="Avenir Next"/>
                <a:cs typeface="Avenir Next"/>
              </a:rPr>
              <a:t>FIRST USE CASE</a:t>
            </a:r>
          </a:p>
        </p:txBody>
      </p:sp>
      <p:sp>
        <p:nvSpPr>
          <p:cNvPr id="8" name="">
            <a:extLst xmlns:a="http://schemas.openxmlformats.org/drawingml/2006/main">
              <a:ext uri="{FF2B5EF4-FFF2-40B4-BE49-F238E27FC236}">
                <a16:creationId xmlns:a16="http://schemas.microsoft.com/office/drawing/2014/main" id="{E661817F-55F1-41B3-959E-E7022E5D1C5A}"/>
              </a:ext>
            </a:extLst>
          </p:cNvPr>
          <p:cNvSpPr>
            <a:spLocks xmlns:a="http://schemas.openxmlformats.org/drawingml/2006/main" noGrp="1"/>
          </p:cNvSpPr>
          <p:nvPr/>
        </p:nvSpPr>
        <p:spPr>
          <a:xfrm xmlns:a="http://schemas.openxmlformats.org/drawingml/2006/main">
            <a:off x="590550" y="4933950"/>
            <a:ext cx="4095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1">
                <a:solidFill>
                  <a:srgbClr val="EDFDF6"/>
                </a:solidFill>
                <a:latin typeface="Avenir Next"/>
                <a:ea typeface="Avenir Next"/>
                <a:cs typeface="Avenir Next"/>
              </a:defRPr>
            </a:pPr>
            <a:r>
              <a:rPr sz="1350" b="1">
                <a:solidFill>
                  <a:srgbClr val="EDFDF6"/>
                </a:solidFill>
                <a:latin typeface="Avenir Next"/>
                <a:ea typeface="Avenir Next"/>
                <a:cs typeface="Avenir Next"/>
              </a:rPr>
              <a:t>Backyard pool · existing camera · responsible adult nearby</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e338701618de4304"/>
          <a:srcRect xmlns:a="http://schemas.openxmlformats.org/drawingml/2006/main" l="6048" t="0" r="6048" b="0"/>
          <a:stretch xmlns:a="http://schemas.openxmlformats.org/drawingml/2006/main">
            <a:fillRect l="0" t="0" r="0" b="0"/>
          </a:stretch>
        </p:blipFill>
        <p:spPr>
          <a:xfrm xmlns:a="http://schemas.openxmlformats.org/drawingml/2006/main">
            <a:off x="5391150" y="1714500"/>
            <a:ext cx="6248400" cy="4000500"/>
          </a:xfrm>
          <a:prstGeom xmlns:a="http://schemas.openxmlformats.org/drawingml/2006/main" prst="roundRect">
            <a:avLst>
              <a:gd name="adj" fmla="val 4762"/>
            </a:avLst>
          </a:prstGeom>
        </p:spPr>
      </p:pic>
      <p:sp>
        <p:nvSpPr>
          <p:cNvPr id="10" name="">
            <a:extLst xmlns:a="http://schemas.openxmlformats.org/drawingml/2006/main">
              <a:ext uri="{FF2B5EF4-FFF2-40B4-BE49-F238E27FC236}">
                <a16:creationId xmlns:a16="http://schemas.microsoft.com/office/drawing/2014/main" id="{F9D6D55A-EBE0-42AF-B11E-4BC3B4D45E35}"/>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8AACA0"/>
                </a:solidFill>
                <a:latin typeface="Avenir Next"/>
                <a:ea typeface="Avenir Next"/>
                <a:cs typeface="Avenir Next"/>
              </a:defRPr>
            </a:pPr>
            <a:r>
              <a:rPr sz="675" b="0">
                <a:solidFill>
                  <a:srgbClr val="8AACA0"/>
                </a:solidFill>
                <a:latin typeface="Avenir Next"/>
                <a:ea typeface="Avenir Next"/>
                <a:cs typeface="Avenir Next"/>
              </a:rPr>
              <a:t>CPSC 2024 REPORT · REPORTED FATALITIES, 2019–2021</a:t>
            </a:r>
          </a:p>
        </p:txBody>
      </p:sp>
    </p:spTree>
    <p:extLst>
      <p:ext uri="{BB962C8B-B14F-4D97-AF65-F5344CB8AC3E}">
        <p14:creationId xmlns:p14="http://schemas.microsoft.com/office/powerpoint/2010/main" val="1023685877"/>
      </p:ext>
    </p:extLst>
  </p:cSld>
</p:sld>
</file>

<file path=ppt/slides/slide3.xml><?xml version="1.0" encoding="utf-8"?>
<p:sld xmlns:p="http://schemas.openxmlformats.org/presentationml/2006/main">
  <p:cSld>
    <p:bg>
      <p:bgPr>
        <a:solidFill xmlns:a="http://schemas.openxmlformats.org/drawingml/2006/main">
          <a:srgbClr val="071411"/>
        </a:solidFill>
      </p:bgPr>
    </p:bg>
    <p:spTree>
      <p:nvGrpSpPr>
        <p:cNvPr id="1" name=""/>
        <p:cNvGrpSpPr/>
        <p:nvPr/>
      </p:nvGrpSpPr>
      <p:grpSpPr>
        <a:xfrm xmlns:a="http://schemas.openxmlformats.org/drawingml/2006/main"/>
      </p:grpSpPr>
      <p:cxnSp>
        <p:nvCxnSpPr>
          <p:cNvPr id="24" name=""/>
          <p:cNvCxnSpPr>
            <a:stCxn xmlns:a="http://schemas.openxmlformats.org/drawingml/2006/main" id="7" idx="3"/>
            <a:endCxn xmlns:a="http://schemas.openxmlformats.org/drawingml/2006/main" id="9" idx="1"/>
          </p:cNvCxnSpPr>
          <p:nvPr/>
        </p:nvCxnSpPr>
        <p:spPr>
          <a:xfrm xmlns:a="http://schemas.openxmlformats.org/drawingml/2006/main">
            <a:off x="5838825" y="2447925"/>
            <a:ext cx="752475" cy="0"/>
          </a:xfrm>
          <a:prstGeom xmlns:a="http://schemas.openxmlformats.org/drawingml/2006/main" prst="straightConnector1">
            <a:avLst/>
          </a:prstGeom>
          <a:ln xmlns:a="http://schemas.openxmlformats.org/drawingml/2006/main" w="19050">
            <a:solidFill>
              <a:srgbClr val="8AACA0"/>
            </a:solidFill>
            <a:tailEnd type="arrow" w="med" len="med"/>
          </a:ln>
        </p:spPr>
      </p:cxnSp>
      <p:cxnSp>
        <p:nvCxnSpPr>
          <p:cNvPr id="25" name=""/>
          <p:cNvCxnSpPr>
            <a:stCxn xmlns:a="http://schemas.openxmlformats.org/drawingml/2006/main" id="5" idx="3"/>
            <a:endCxn xmlns:a="http://schemas.openxmlformats.org/drawingml/2006/main" id="7" idx="1"/>
          </p:cNvCxnSpPr>
          <p:nvPr/>
        </p:nvCxnSpPr>
        <p:spPr>
          <a:xfrm xmlns:a="http://schemas.openxmlformats.org/drawingml/2006/main">
            <a:off x="2819400" y="2447925"/>
            <a:ext cx="752475" cy="0"/>
          </a:xfrm>
          <a:prstGeom xmlns:a="http://schemas.openxmlformats.org/drawingml/2006/main" prst="straightConnector1">
            <a:avLst/>
          </a:prstGeom>
          <a:ln xmlns:a="http://schemas.openxmlformats.org/drawingml/2006/main" w="19050">
            <a:solidFill>
              <a:srgbClr val="8AACA0"/>
            </a:solidFill>
            <a:tailEnd type="arrow" w="med" len="med"/>
          </a:ln>
        </p:spPr>
      </p:cxnSp>
      <p:sp>
        <p:nvSpPr>
          <p:cNvPr id="26" name="">
            <a:extLst xmlns:a="http://schemas.openxmlformats.org/drawingml/2006/main">
              <a:ext uri="{FF2B5EF4-FFF2-40B4-BE49-F238E27FC236}">
                <a16:creationId xmlns:a16="http://schemas.microsoft.com/office/drawing/2014/main" id="{EAFDBF88-4ED8-4FA1-AF3C-3179C11D8582}"/>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41F28D"/>
                </a:solidFill>
                <a:latin typeface="Avenir Next"/>
                <a:ea typeface="Avenir Next"/>
                <a:cs typeface="Avenir Next"/>
              </a:defRPr>
            </a:pPr>
            <a:r>
              <a:rPr sz="975" b="1">
                <a:solidFill>
                  <a:srgbClr val="41F28D"/>
                </a:solidFill>
                <a:latin typeface="Avenir Next"/>
                <a:ea typeface="Avenir Next"/>
                <a:cs typeface="Avenir Next"/>
              </a:rPr>
              <a:t>USER INTERACTION</a:t>
            </a:r>
          </a:p>
        </p:txBody>
      </p:sp>
      <p:sp>
        <p:nvSpPr>
          <p:cNvPr id="2" name="">
            <a:extLst xmlns:a="http://schemas.openxmlformats.org/drawingml/2006/main">
              <a:ext uri="{FF2B5EF4-FFF2-40B4-BE49-F238E27FC236}">
                <a16:creationId xmlns:a16="http://schemas.microsoft.com/office/drawing/2014/main" id="{A5B5A7A5-E9A9-4732-9084-E9133980DB25}"/>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8AACA0"/>
                </a:solidFill>
                <a:latin typeface="Avenir Next"/>
                <a:ea typeface="Avenir Next"/>
                <a:cs typeface="Avenir Next"/>
              </a:defRPr>
            </a:pPr>
            <a:r>
              <a:rPr sz="975" b="1">
                <a:solidFill>
                  <a:srgbClr val="8AACA0"/>
                </a:solidFill>
                <a:latin typeface="Avenir Next"/>
                <a:ea typeface="Avenir Next"/>
                <a:cs typeface="Avenir Next"/>
              </a:rPr>
              <a:t>03</a:t>
            </a:r>
          </a:p>
        </p:txBody>
      </p:sp>
      <p:sp>
        <p:nvSpPr>
          <p:cNvPr id="3" name="">
            <a:extLst xmlns:a="http://schemas.openxmlformats.org/drawingml/2006/main">
              <a:ext uri="{FF2B5EF4-FFF2-40B4-BE49-F238E27FC236}">
                <a16:creationId xmlns:a16="http://schemas.microsoft.com/office/drawing/2014/main" id="{8A22A682-623A-4E6A-BD67-9C8C026A9E4E}"/>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24443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D1D0EB20-97B4-44B5-A067-407455997D3E}"/>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a:solidFill>
                  <a:srgbClr val="EDFDF6"/>
                </a:solidFill>
                <a:latin typeface="Avenir Next"/>
                <a:ea typeface="Avenir Next"/>
                <a:cs typeface="Avenir Next"/>
              </a:defRPr>
            </a:pPr>
            <a:r>
              <a:rPr sz="3150" b="1">
                <a:solidFill>
                  <a:srgbClr val="EDFDF6"/>
                </a:solidFill>
                <a:latin typeface="Avenir Next"/>
                <a:ea typeface="Avenir Next"/>
                <a:cs typeface="Avenir Next"/>
              </a:rPr>
              <a:t>Every alert shows who, why, and for how long</a:t>
            </a:r>
          </a:p>
        </p:txBody>
      </p:sp>
      <p:sp>
        <p:nvSpPr>
          <p:cNvPr id="5" name="">
            <a:extLst xmlns:a="http://schemas.openxmlformats.org/drawingml/2006/main">
              <a:ext uri="{FF2B5EF4-FFF2-40B4-BE49-F238E27FC236}">
                <a16:creationId xmlns:a16="http://schemas.microsoft.com/office/drawing/2014/main" id="{88C3C1D5-D594-4DC0-8645-2360FE8E6290}"/>
              </a:ext>
            </a:extLst>
          </p:cNvPr>
          <p:cNvSpPr>
            <a:spLocks xmlns:a="http://schemas.openxmlformats.org/drawingml/2006/main" noGrp="1"/>
          </p:cNvSpPr>
          <p:nvPr/>
        </p:nvSpPr>
        <p:spPr>
          <a:xfrm xmlns:a="http://schemas.openxmlformats.org/drawingml/2006/main">
            <a:off x="552450" y="2095500"/>
            <a:ext cx="2266950" cy="704850"/>
          </a:xfrm>
          <a:prstGeom xmlns:a="http://schemas.openxmlformats.org/drawingml/2006/main" prst="roundRect">
            <a:avLst>
              <a:gd name="adj" fmla="val 18919"/>
            </a:avLst>
          </a:prstGeom>
          <a:solidFill xmlns:a="http://schemas.openxmlformats.org/drawingml/2006/main">
            <a:srgbClr val="0B1F1A"/>
          </a:solidFill>
          <a:ln xmlns:a="http://schemas.openxmlformats.org/drawingml/2006/main" w="19050">
            <a:solidFill>
              <a:srgbClr val="41F28D"/>
            </a:solidFill>
          </a:ln>
        </p:spPr>
      </p:sp>
      <p:sp>
        <p:nvSpPr>
          <p:cNvPr id="6" name="">
            <a:extLst xmlns:a="http://schemas.openxmlformats.org/drawingml/2006/main">
              <a:ext uri="{FF2B5EF4-FFF2-40B4-BE49-F238E27FC236}">
                <a16:creationId xmlns:a16="http://schemas.microsoft.com/office/drawing/2014/main" id="{9A71F2D1-4C7A-4E0F-A329-EEC77B71DE3B}"/>
              </a:ext>
            </a:extLst>
          </p:cNvPr>
          <p:cNvSpPr>
            <a:spLocks xmlns:a="http://schemas.openxmlformats.org/drawingml/2006/main" noGrp="1"/>
          </p:cNvSpPr>
          <p:nvPr/>
        </p:nvSpPr>
        <p:spPr>
          <a:xfrm xmlns:a="http://schemas.openxmlformats.org/drawingml/2006/main">
            <a:off x="666750" y="2190750"/>
            <a:ext cx="2038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41F28D"/>
                </a:solidFill>
                <a:latin typeface="Avenir Next"/>
                <a:ea typeface="Avenir Next"/>
                <a:cs typeface="Avenir Next"/>
              </a:defRPr>
            </a:pPr>
            <a:r>
              <a:rPr sz="1275" b="1">
                <a:solidFill>
                  <a:srgbClr val="41F28D"/>
                </a:solidFill>
                <a:latin typeface="Avenir Next"/>
                <a:ea typeface="Avenir Next"/>
                <a:cs typeface="Avenir Next"/>
              </a:rPr>
              <a:t>GREEN</a:t>
            </a:r>
          </a:p>
          <a:p xmlns:a="http://schemas.openxmlformats.org/drawingml/2006/main">
            <a:pPr>
              <a:defRPr sz="1275" b="1">
                <a:solidFill>
                  <a:srgbClr val="41F28D"/>
                </a:solidFill>
                <a:latin typeface="Avenir Next"/>
                <a:ea typeface="Avenir Next"/>
                <a:cs typeface="Avenir Next"/>
              </a:defRPr>
            </a:pPr>
            <a:r>
              <a:rPr sz="1275" b="1">
                <a:solidFill>
                  <a:srgbClr val="41F28D"/>
                </a:solidFill>
                <a:latin typeface="Avenir Next"/>
                <a:ea typeface="Avenir Next"/>
                <a:cs typeface="Avenir Next"/>
              </a:rPr>
              <a:t>tracked normally</a:t>
            </a:r>
          </a:p>
        </p:txBody>
      </p:sp>
      <p:sp>
        <p:nvSpPr>
          <p:cNvPr id="7" name="">
            <a:extLst xmlns:a="http://schemas.openxmlformats.org/drawingml/2006/main">
              <a:ext uri="{FF2B5EF4-FFF2-40B4-BE49-F238E27FC236}">
                <a16:creationId xmlns:a16="http://schemas.microsoft.com/office/drawing/2014/main" id="{C9A05319-B9DB-4F5E-9696-CDA6331F411B}"/>
              </a:ext>
            </a:extLst>
          </p:cNvPr>
          <p:cNvSpPr>
            <a:spLocks xmlns:a="http://schemas.openxmlformats.org/drawingml/2006/main" noGrp="1"/>
          </p:cNvSpPr>
          <p:nvPr/>
        </p:nvSpPr>
        <p:spPr>
          <a:xfrm xmlns:a="http://schemas.openxmlformats.org/drawingml/2006/main">
            <a:off x="3571875" y="2095500"/>
            <a:ext cx="2266950" cy="704850"/>
          </a:xfrm>
          <a:prstGeom xmlns:a="http://schemas.openxmlformats.org/drawingml/2006/main" prst="roundRect">
            <a:avLst>
              <a:gd name="adj" fmla="val 18919"/>
            </a:avLst>
          </a:prstGeom>
          <a:solidFill xmlns:a="http://schemas.openxmlformats.org/drawingml/2006/main">
            <a:srgbClr val="0B1F1A"/>
          </a:solidFill>
          <a:ln xmlns:a="http://schemas.openxmlformats.org/drawingml/2006/main" w="19050">
            <a:solidFill>
              <a:srgbClr val="FFD447"/>
            </a:solidFill>
          </a:ln>
        </p:spPr>
      </p:sp>
      <p:sp>
        <p:nvSpPr>
          <p:cNvPr id="8" name="">
            <a:extLst xmlns:a="http://schemas.openxmlformats.org/drawingml/2006/main">
              <a:ext uri="{FF2B5EF4-FFF2-40B4-BE49-F238E27FC236}">
                <a16:creationId xmlns:a16="http://schemas.microsoft.com/office/drawing/2014/main" id="{D58ECB6B-7073-44E2-994F-80FB520F38B3}"/>
              </a:ext>
            </a:extLst>
          </p:cNvPr>
          <p:cNvSpPr>
            <a:spLocks xmlns:a="http://schemas.openxmlformats.org/drawingml/2006/main" noGrp="1"/>
          </p:cNvSpPr>
          <p:nvPr/>
        </p:nvSpPr>
        <p:spPr>
          <a:xfrm xmlns:a="http://schemas.openxmlformats.org/drawingml/2006/main">
            <a:off x="3686175" y="2190750"/>
            <a:ext cx="2038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FD447"/>
                </a:solidFill>
                <a:latin typeface="Avenir Next"/>
                <a:ea typeface="Avenir Next"/>
                <a:cs typeface="Avenir Next"/>
              </a:defRPr>
            </a:pPr>
            <a:r>
              <a:rPr sz="1275" b="1">
                <a:solidFill>
                  <a:srgbClr val="FFD447"/>
                </a:solidFill>
                <a:latin typeface="Avenir Next"/>
                <a:ea typeface="Avenir Next"/>
                <a:cs typeface="Avenir Next"/>
              </a:rPr>
              <a:t>YELLOW</a:t>
            </a:r>
          </a:p>
          <a:p xmlns:a="http://schemas.openxmlformats.org/drawingml/2006/main">
            <a:pPr>
              <a:defRPr sz="1275" b="1">
                <a:solidFill>
                  <a:srgbClr val="FFD447"/>
                </a:solidFill>
                <a:latin typeface="Avenir Next"/>
                <a:ea typeface="Avenir Next"/>
                <a:cs typeface="Avenir Next"/>
              </a:defRPr>
            </a:pPr>
            <a:r>
              <a:rPr sz="1275" b="1">
                <a:solidFill>
                  <a:srgbClr val="FFD447"/>
                </a:solidFill>
                <a:latin typeface="Avenir Next"/>
                <a:ea typeface="Avenir Next"/>
                <a:cs typeface="Avenir Next"/>
              </a:rPr>
              <a:t>warning timer</a:t>
            </a:r>
          </a:p>
        </p:txBody>
      </p:sp>
      <p:sp>
        <p:nvSpPr>
          <p:cNvPr id="9" name="">
            <a:extLst xmlns:a="http://schemas.openxmlformats.org/drawingml/2006/main">
              <a:ext uri="{FF2B5EF4-FFF2-40B4-BE49-F238E27FC236}">
                <a16:creationId xmlns:a16="http://schemas.microsoft.com/office/drawing/2014/main" id="{85CFB66A-2B08-4BEE-B8DE-D73CF6DAE4F8}"/>
              </a:ext>
            </a:extLst>
          </p:cNvPr>
          <p:cNvSpPr>
            <a:spLocks xmlns:a="http://schemas.openxmlformats.org/drawingml/2006/main" noGrp="1"/>
          </p:cNvSpPr>
          <p:nvPr/>
        </p:nvSpPr>
        <p:spPr>
          <a:xfrm xmlns:a="http://schemas.openxmlformats.org/drawingml/2006/main">
            <a:off x="6591300" y="2095500"/>
            <a:ext cx="2266950" cy="704850"/>
          </a:xfrm>
          <a:prstGeom xmlns:a="http://schemas.openxmlformats.org/drawingml/2006/main" prst="roundRect">
            <a:avLst>
              <a:gd name="adj" fmla="val 18919"/>
            </a:avLst>
          </a:prstGeom>
          <a:solidFill xmlns:a="http://schemas.openxmlformats.org/drawingml/2006/main">
            <a:srgbClr val="0B1F1A"/>
          </a:solidFill>
          <a:ln xmlns:a="http://schemas.openxmlformats.org/drawingml/2006/main" w="19050">
            <a:solidFill>
              <a:srgbClr val="FF4E5C"/>
            </a:solidFill>
          </a:ln>
        </p:spPr>
      </p:sp>
      <p:sp>
        <p:nvSpPr>
          <p:cNvPr id="10" name="">
            <a:extLst xmlns:a="http://schemas.openxmlformats.org/drawingml/2006/main">
              <a:ext uri="{FF2B5EF4-FFF2-40B4-BE49-F238E27FC236}">
                <a16:creationId xmlns:a16="http://schemas.microsoft.com/office/drawing/2014/main" id="{0AF11DB2-A289-428D-8774-C46563DD0C53}"/>
              </a:ext>
            </a:extLst>
          </p:cNvPr>
          <p:cNvSpPr>
            <a:spLocks xmlns:a="http://schemas.openxmlformats.org/drawingml/2006/main" noGrp="1"/>
          </p:cNvSpPr>
          <p:nvPr/>
        </p:nvSpPr>
        <p:spPr>
          <a:xfrm xmlns:a="http://schemas.openxmlformats.org/drawingml/2006/main">
            <a:off x="6705600" y="2190750"/>
            <a:ext cx="20383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FF4E5C"/>
                </a:solidFill>
                <a:latin typeface="Avenir Next"/>
                <a:ea typeface="Avenir Next"/>
                <a:cs typeface="Avenir Next"/>
              </a:defRPr>
            </a:pPr>
            <a:r>
              <a:rPr sz="1275" b="1">
                <a:solidFill>
                  <a:srgbClr val="FF4E5C"/>
                </a:solidFill>
                <a:latin typeface="Avenir Next"/>
                <a:ea typeface="Avenir Next"/>
                <a:cs typeface="Avenir Next"/>
              </a:rPr>
              <a:t>RED</a:t>
            </a:r>
          </a:p>
          <a:p xmlns:a="http://schemas.openxmlformats.org/drawingml/2006/main">
            <a:pPr>
              <a:defRPr sz="1275" b="1">
                <a:solidFill>
                  <a:srgbClr val="FF4E5C"/>
                </a:solidFill>
                <a:latin typeface="Avenir Next"/>
                <a:ea typeface="Avenir Next"/>
                <a:cs typeface="Avenir Next"/>
              </a:defRPr>
            </a:pPr>
            <a:r>
              <a:rPr sz="1275" b="1">
                <a:solidFill>
                  <a:srgbClr val="FF4E5C"/>
                </a:solidFill>
                <a:latin typeface="Avenir Next"/>
                <a:ea typeface="Avenir Next"/>
                <a:cs typeface="Avenir Next"/>
              </a:rPr>
              <a:t>check the pool</a:t>
            </a:r>
          </a:p>
        </p:txBody>
      </p:sp>
      <p:sp>
        <p:nvSpPr>
          <p:cNvPr id="13" name="">
            <a:extLst xmlns:a="http://schemas.openxmlformats.org/drawingml/2006/main">
              <a:ext uri="{FF2B5EF4-FFF2-40B4-BE49-F238E27FC236}">
                <a16:creationId xmlns:a16="http://schemas.microsoft.com/office/drawing/2014/main" id="{215E86E8-7F42-4F84-A48F-63250A5040B5}"/>
              </a:ext>
            </a:extLst>
          </p:cNvPr>
          <p:cNvSpPr>
            <a:spLocks xmlns:a="http://schemas.openxmlformats.org/drawingml/2006/main" noGrp="1"/>
          </p:cNvSpPr>
          <p:nvPr/>
        </p:nvSpPr>
        <p:spPr>
          <a:xfrm xmlns:a="http://schemas.openxmlformats.org/drawingml/2006/main">
            <a:off x="2724150" y="1752600"/>
            <a:ext cx="971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4848"/>
          </a:bodyPr>
          <a:lstStyle xmlns:a="http://schemas.openxmlformats.org/drawingml/2006/main"/>
          <a:p xmlns:a="http://schemas.openxmlformats.org/drawingml/2006/main">
            <a:pPr>
              <a:defRPr sz="825" b="0">
                <a:solidFill>
                  <a:srgbClr val="8AACA0"/>
                </a:solidFill>
                <a:latin typeface="Avenir Next"/>
                <a:ea typeface="Avenir Next"/>
                <a:cs typeface="Avenir Next"/>
              </a:defRPr>
            </a:pPr>
            <a:r>
              <a:rPr sz="825" b="0">
                <a:solidFill>
                  <a:srgbClr val="8AACA0"/>
                </a:solidFill>
                <a:latin typeface="Avenir Next"/>
                <a:ea typeface="Avenir Next"/>
                <a:cs typeface="Avenir Next"/>
              </a:rPr>
              <a:t>Head evidence changes</a:t>
            </a:r>
          </a:p>
        </p:txBody>
      </p:sp>
      <p:sp>
        <p:nvSpPr>
          <p:cNvPr id="14" name="">
            <a:extLst xmlns:a="http://schemas.openxmlformats.org/drawingml/2006/main">
              <a:ext uri="{FF2B5EF4-FFF2-40B4-BE49-F238E27FC236}">
                <a16:creationId xmlns:a16="http://schemas.microsoft.com/office/drawing/2014/main" id="{9769281A-EB69-42BB-93B8-41617A4B99A7}"/>
              </a:ext>
            </a:extLst>
          </p:cNvPr>
          <p:cNvSpPr>
            <a:spLocks xmlns:a="http://schemas.openxmlformats.org/drawingml/2006/main" noGrp="1"/>
          </p:cNvSpPr>
          <p:nvPr/>
        </p:nvSpPr>
        <p:spPr>
          <a:xfrm xmlns:a="http://schemas.openxmlformats.org/drawingml/2006/main">
            <a:off x="5743575" y="1752600"/>
            <a:ext cx="9715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568"/>
          </a:bodyPr>
          <a:lstStyle xmlns:a="http://schemas.openxmlformats.org/drawingml/2006/main"/>
          <a:p xmlns:a="http://schemas.openxmlformats.org/drawingml/2006/main">
            <a:pPr>
              <a:defRPr sz="825" b="0">
                <a:solidFill>
                  <a:srgbClr val="8AACA0"/>
                </a:solidFill>
                <a:latin typeface="Avenir Next"/>
                <a:ea typeface="Avenir Next"/>
                <a:cs typeface="Avenir Next"/>
              </a:defRPr>
            </a:pPr>
            <a:r>
              <a:rPr sz="825" b="0">
                <a:solidFill>
                  <a:srgbClr val="8AACA0"/>
                </a:solidFill>
                <a:latin typeface="Avenir Next"/>
                <a:ea typeface="Avenir Next"/>
                <a:cs typeface="Avenir Next"/>
              </a:rPr>
              <a:t>Condition persists</a:t>
            </a:r>
          </a:p>
        </p:txBody>
      </p:sp>
      <p:sp>
        <p:nvSpPr>
          <p:cNvPr id="15" name="">
            <a:extLst xmlns:a="http://schemas.openxmlformats.org/drawingml/2006/main">
              <a:ext uri="{FF2B5EF4-FFF2-40B4-BE49-F238E27FC236}">
                <a16:creationId xmlns:a16="http://schemas.microsoft.com/office/drawing/2014/main" id="{85424AB3-4B20-48D6-A10D-5CE154354E15}"/>
              </a:ext>
            </a:extLst>
          </p:cNvPr>
          <p:cNvSpPr>
            <a:spLocks xmlns:a="http://schemas.openxmlformats.org/drawingml/2006/main" noGrp="1"/>
          </p:cNvSpPr>
          <p:nvPr/>
        </p:nvSpPr>
        <p:spPr>
          <a:xfrm xmlns:a="http://schemas.openxmlformats.org/drawingml/2006/main">
            <a:off x="9401175" y="1857375"/>
            <a:ext cx="2238375" cy="1409700"/>
          </a:xfrm>
          <a:prstGeom xmlns:a="http://schemas.openxmlformats.org/drawingml/2006/main" prst="roundRect">
            <a:avLst>
              <a:gd name="adj" fmla="val 10811"/>
            </a:avLst>
          </a:prstGeom>
          <a:solidFill xmlns:a="http://schemas.openxmlformats.org/drawingml/2006/main">
            <a:srgbClr val="102822"/>
          </a:solidFill>
          <a:ln xmlns:a="http://schemas.openxmlformats.org/drawingml/2006/main" w="9525">
            <a:solidFill>
              <a:srgbClr val="24443A"/>
            </a:solidFill>
          </a:ln>
        </p:spPr>
      </p:sp>
      <p:sp>
        <p:nvSpPr>
          <p:cNvPr id="16" name="">
            <a:extLst xmlns:a="http://schemas.openxmlformats.org/drawingml/2006/main">
              <a:ext uri="{FF2B5EF4-FFF2-40B4-BE49-F238E27FC236}">
                <a16:creationId xmlns:a16="http://schemas.microsoft.com/office/drawing/2014/main" id="{424ACABA-7140-482D-A8EA-D87521902651}"/>
              </a:ext>
            </a:extLst>
          </p:cNvPr>
          <p:cNvSpPr>
            <a:spLocks xmlns:a="http://schemas.openxmlformats.org/drawingml/2006/main" noGrp="1"/>
          </p:cNvSpPr>
          <p:nvPr/>
        </p:nvSpPr>
        <p:spPr>
          <a:xfrm xmlns:a="http://schemas.openxmlformats.org/drawingml/2006/main">
            <a:off x="9591675" y="2028825"/>
            <a:ext cx="1857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DFDF6"/>
                </a:solidFill>
                <a:latin typeface="Avenir Next"/>
                <a:ea typeface="Avenir Next"/>
                <a:cs typeface="Avenir Next"/>
              </a:defRPr>
            </a:pPr>
            <a:r>
              <a:rPr sz="900" b="1">
                <a:solidFill>
                  <a:srgbClr val="EDFDF6"/>
                </a:solidFill>
                <a:latin typeface="Avenir Next"/>
                <a:ea typeface="Avenir Next"/>
                <a:cs typeface="Avenir Next"/>
              </a:rPr>
              <a:t>PERSON 02</a:t>
            </a:r>
          </a:p>
        </p:txBody>
      </p:sp>
      <p:sp>
        <p:nvSpPr>
          <p:cNvPr id="17" name="">
            <a:extLst xmlns:a="http://schemas.openxmlformats.org/drawingml/2006/main">
              <a:ext uri="{FF2B5EF4-FFF2-40B4-BE49-F238E27FC236}">
                <a16:creationId xmlns:a16="http://schemas.microsoft.com/office/drawing/2014/main" id="{D2EE7DEE-F133-4169-B29F-85075BE7E446}"/>
              </a:ext>
            </a:extLst>
          </p:cNvPr>
          <p:cNvSpPr>
            <a:spLocks xmlns:a="http://schemas.openxmlformats.org/drawingml/2006/main" noGrp="1"/>
          </p:cNvSpPr>
          <p:nvPr/>
        </p:nvSpPr>
        <p:spPr>
          <a:xfrm xmlns:a="http://schemas.openxmlformats.org/drawingml/2006/main">
            <a:off x="9591675" y="2381250"/>
            <a:ext cx="18573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939"/>
          </a:bodyPr>
          <a:lstStyle xmlns:a="http://schemas.openxmlformats.org/drawingml/2006/main"/>
          <a:p xmlns:a="http://schemas.openxmlformats.org/drawingml/2006/main">
            <a:pPr>
              <a:defRPr sz="825" b="1">
                <a:solidFill>
                  <a:srgbClr val="FFD447"/>
                </a:solidFill>
                <a:latin typeface="Avenir Next"/>
                <a:ea typeface="Avenir Next"/>
                <a:cs typeface="Avenir Next"/>
              </a:defRPr>
            </a:pPr>
            <a:r>
              <a:rPr sz="825" b="1">
                <a:solidFill>
                  <a:srgbClr val="FFD447"/>
                </a:solidFill>
                <a:latin typeface="Avenir Next"/>
                <a:ea typeface="Avenir Next"/>
                <a:cs typeface="Avenir Next"/>
              </a:rPr>
              <a:t>HEAD NOT ABOVE</a:t>
            </a:r>
          </a:p>
        </p:txBody>
      </p:sp>
      <p:sp>
        <p:nvSpPr>
          <p:cNvPr id="18" name="">
            <a:extLst xmlns:a="http://schemas.openxmlformats.org/drawingml/2006/main">
              <a:ext uri="{FF2B5EF4-FFF2-40B4-BE49-F238E27FC236}">
                <a16:creationId xmlns:a16="http://schemas.microsoft.com/office/drawing/2014/main" id="{4EC1B2A8-C48D-4135-8322-3EE352A4E0B6}"/>
              </a:ext>
            </a:extLst>
          </p:cNvPr>
          <p:cNvSpPr>
            <a:spLocks xmlns:a="http://schemas.openxmlformats.org/drawingml/2006/main" noGrp="1"/>
          </p:cNvSpPr>
          <p:nvPr/>
        </p:nvSpPr>
        <p:spPr>
          <a:xfrm xmlns:a="http://schemas.openxmlformats.org/drawingml/2006/main">
            <a:off x="9591675" y="2638425"/>
            <a:ext cx="1857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428"/>
          </a:bodyPr>
          <a:lstStyle xmlns:a="http://schemas.openxmlformats.org/drawingml/2006/main"/>
          <a:p xmlns:a="http://schemas.openxmlformats.org/drawingml/2006/main">
            <a:pPr>
              <a:defRPr sz="2100" b="1">
                <a:solidFill>
                  <a:srgbClr val="EDFDF6"/>
                </a:solidFill>
                <a:latin typeface="Avenir Next"/>
                <a:ea typeface="Avenir Next"/>
                <a:cs typeface="Avenir Next"/>
              </a:defRPr>
            </a:pPr>
            <a:r>
              <a:rPr sz="2100" b="1">
                <a:solidFill>
                  <a:srgbClr val="EDFDF6"/>
                </a:solidFill>
                <a:latin typeface="Avenir Next"/>
                <a:ea typeface="Avenir Next"/>
                <a:cs typeface="Avenir Next"/>
              </a:rPr>
              <a:t>3.1 s</a:t>
            </a:r>
          </a:p>
        </p:txBody>
      </p:sp>
      <p:sp>
        <p:nvSpPr>
          <p:cNvPr id="19" name="">
            <a:extLst xmlns:a="http://schemas.openxmlformats.org/drawingml/2006/main">
              <a:ext uri="{FF2B5EF4-FFF2-40B4-BE49-F238E27FC236}">
                <a16:creationId xmlns:a16="http://schemas.microsoft.com/office/drawing/2014/main" id="{B88C2D5B-7A21-4AE2-B1D8-2529DF8EA625}"/>
              </a:ext>
            </a:extLst>
          </p:cNvPr>
          <p:cNvSpPr>
            <a:spLocks xmlns:a="http://schemas.openxmlformats.org/drawingml/2006/main" noGrp="1"/>
          </p:cNvSpPr>
          <p:nvPr/>
        </p:nvSpPr>
        <p:spPr>
          <a:xfrm xmlns:a="http://schemas.openxmlformats.org/drawingml/2006/main">
            <a:off x="552450" y="3905250"/>
            <a:ext cx="314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EDFDF6"/>
                </a:solidFill>
                <a:latin typeface="Avenir Next"/>
                <a:ea typeface="Avenir Next"/>
                <a:cs typeface="Avenir Next"/>
              </a:defRPr>
            </a:pPr>
            <a:r>
              <a:rPr sz="1425" b="1">
                <a:solidFill>
                  <a:srgbClr val="EDFDF6"/>
                </a:solidFill>
                <a:latin typeface="Avenir Next"/>
                <a:ea typeface="Avenir Next"/>
                <a:cs typeface="Avenir Next"/>
              </a:rPr>
              <a:t>1  Choose video or camera</a:t>
            </a:r>
          </a:p>
        </p:txBody>
      </p:sp>
      <p:sp>
        <p:nvSpPr>
          <p:cNvPr id="20" name="">
            <a:extLst xmlns:a="http://schemas.openxmlformats.org/drawingml/2006/main">
              <a:ext uri="{FF2B5EF4-FFF2-40B4-BE49-F238E27FC236}">
                <a16:creationId xmlns:a16="http://schemas.microsoft.com/office/drawing/2014/main" id="{B8FFB8E8-DD35-4317-805A-15F67E42715C}"/>
              </a:ext>
            </a:extLst>
          </p:cNvPr>
          <p:cNvSpPr>
            <a:spLocks xmlns:a="http://schemas.openxmlformats.org/drawingml/2006/main" noGrp="1"/>
          </p:cNvSpPr>
          <p:nvPr/>
        </p:nvSpPr>
        <p:spPr>
          <a:xfrm xmlns:a="http://schemas.openxmlformats.org/drawingml/2006/main">
            <a:off x="4429125" y="39052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EDFDF6"/>
                </a:solidFill>
                <a:latin typeface="Avenir Next"/>
                <a:ea typeface="Avenir Next"/>
                <a:cs typeface="Avenir Next"/>
              </a:defRPr>
            </a:pPr>
            <a:r>
              <a:rPr sz="1425" b="1">
                <a:solidFill>
                  <a:srgbClr val="EDFDF6"/>
                </a:solidFill>
                <a:latin typeface="Avenir Next"/>
                <a:ea typeface="Avenir Next"/>
                <a:cs typeface="Avenir Next"/>
              </a:rPr>
              <a:t>2  Activate monitoring</a:t>
            </a:r>
          </a:p>
        </p:txBody>
      </p:sp>
      <p:sp>
        <p:nvSpPr>
          <p:cNvPr id="21" name="">
            <a:extLst xmlns:a="http://schemas.openxmlformats.org/drawingml/2006/main">
              <a:ext uri="{FF2B5EF4-FFF2-40B4-BE49-F238E27FC236}">
                <a16:creationId xmlns:a16="http://schemas.microsoft.com/office/drawing/2014/main" id="{3A3DF5F4-56E2-4579-B996-17BAF952B9D8}"/>
              </a:ext>
            </a:extLst>
          </p:cNvPr>
          <p:cNvSpPr>
            <a:spLocks xmlns:a="http://schemas.openxmlformats.org/drawingml/2006/main" noGrp="1"/>
          </p:cNvSpPr>
          <p:nvPr/>
        </p:nvSpPr>
        <p:spPr>
          <a:xfrm xmlns:a="http://schemas.openxmlformats.org/drawingml/2006/main">
            <a:off x="8115300" y="3905250"/>
            <a:ext cx="352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1">
                <a:solidFill>
                  <a:srgbClr val="EDFDF6"/>
                </a:solidFill>
                <a:latin typeface="Avenir Next"/>
                <a:ea typeface="Avenir Next"/>
                <a:cs typeface="Avenir Next"/>
              </a:defRPr>
            </a:pPr>
            <a:r>
              <a:rPr sz="1425" b="1">
                <a:solidFill>
                  <a:srgbClr val="EDFDF6"/>
                </a:solidFill>
                <a:latin typeface="Avenir Next"/>
                <a:ea typeface="Avenir Next"/>
                <a:cs typeface="Avenir Next"/>
              </a:rPr>
              <a:t>3  Select alert preference</a:t>
            </a:r>
          </a:p>
        </p:txBody>
      </p:sp>
      <p:sp>
        <p:nvSpPr>
          <p:cNvPr id="22" name="">
            <a:extLst xmlns:a="http://schemas.openxmlformats.org/drawingml/2006/main">
              <a:ext uri="{FF2B5EF4-FFF2-40B4-BE49-F238E27FC236}">
                <a16:creationId xmlns:a16="http://schemas.microsoft.com/office/drawing/2014/main" id="{33084CEE-58CC-443A-B822-B4A4782F2513}"/>
              </a:ext>
            </a:extLst>
          </p:cNvPr>
          <p:cNvSpPr>
            <a:spLocks xmlns:a="http://schemas.openxmlformats.org/drawingml/2006/main" noGrp="1"/>
          </p:cNvSpPr>
          <p:nvPr/>
        </p:nvSpPr>
        <p:spPr>
          <a:xfrm xmlns:a="http://schemas.openxmlformats.org/drawingml/2006/main">
            <a:off x="552450" y="4705350"/>
            <a:ext cx="110871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8AACA0"/>
                </a:solidFill>
                <a:latin typeface="Avenir Next"/>
                <a:ea typeface="Avenir Next"/>
                <a:cs typeface="Avenir Next"/>
              </a:defRPr>
            </a:pPr>
            <a:r>
              <a:rPr sz="1500" b="0">
                <a:solidFill>
                  <a:srgbClr val="8AACA0"/>
                </a:solidFill>
                <a:latin typeface="Avenir Next"/>
                <a:ea typeface="Avenir Next"/>
                <a:cs typeface="Avenir Next"/>
              </a:rPr>
              <a:t>A brief Matrix-style scan marks the moment analysis starts. Demo thresholds are always labeled.</a:t>
            </a:r>
          </a:p>
        </p:txBody>
      </p:sp>
      <p:sp>
        <p:nvSpPr>
          <p:cNvPr id="23" name="">
            <a:extLst xmlns:a="http://schemas.openxmlformats.org/drawingml/2006/main">
              <a:ext uri="{FF2B5EF4-FFF2-40B4-BE49-F238E27FC236}">
                <a16:creationId xmlns:a16="http://schemas.microsoft.com/office/drawing/2014/main" id="{B2E7BDBF-E4C0-47F9-8BB0-38AA28C8280A}"/>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8AACA0"/>
                </a:solidFill>
                <a:latin typeface="Avenir Next"/>
                <a:ea typeface="Avenir Next"/>
                <a:cs typeface="Avenir Next"/>
              </a:defRPr>
            </a:pPr>
            <a:r>
              <a:rPr sz="675" b="0">
                <a:solidFill>
                  <a:srgbClr val="8AACA0"/>
                </a:solidFill>
                <a:latin typeface="Avenir Next"/>
                <a:ea typeface="Avenir Next"/>
                <a:cs typeface="Avenir Next"/>
              </a:rPr>
              <a:t>RESEARCH PROTOTYPE · SYNTHETIC RESULTS WHERE NOTED</a:t>
            </a:r>
          </a:p>
        </p:txBody>
      </p:sp>
    </p:spTree>
    <p:extLst>
      <p:ext uri="{BB962C8B-B14F-4D97-AF65-F5344CB8AC3E}">
        <p14:creationId xmlns:p14="http://schemas.microsoft.com/office/powerpoint/2010/main" val="150626078"/>
      </p:ext>
    </p:extLst>
  </p:cSld>
</p:sld>
</file>

<file path=ppt/slides/slide4.xml><?xml version="1.0" encoding="utf-8"?>
<p:sld xmlns:p="http://schemas.openxmlformats.org/presentationml/2006/main">
  <p:cSld>
    <p:bg>
      <p:bgPr>
        <a:solidFill xmlns:a="http://schemas.openxmlformats.org/drawingml/2006/main">
          <a:srgbClr val="071411"/>
        </a:solidFill>
      </p:bgPr>
    </p:bg>
    <p:spTree>
      <p:nvGrpSpPr>
        <p:cNvPr id="1" name=""/>
        <p:cNvGrpSpPr/>
        <p:nvPr/>
      </p:nvGrpSpPr>
      <p:grpSpPr>
        <a:xfrm xmlns:a="http://schemas.openxmlformats.org/drawingml/2006/main"/>
      </p:grpSpPr>
      <p:cxnSp>
        <p:nvCxnSpPr>
          <p:cNvPr id="25" name=""/>
          <p:cNvCxnSpPr>
            <a:stCxn xmlns:a="http://schemas.openxmlformats.org/drawingml/2006/main" id="11" idx="3"/>
            <a:endCxn xmlns:a="http://schemas.openxmlformats.org/drawingml/2006/main" id="13" idx="1"/>
          </p:cNvCxnSpPr>
          <p:nvPr/>
        </p:nvCxnSpPr>
        <p:spPr>
          <a:xfrm xmlns:a="http://schemas.openxmlformats.org/drawingml/2006/main">
            <a:off x="8858250" y="2619375"/>
            <a:ext cx="609600" cy="0"/>
          </a:xfrm>
          <a:prstGeom xmlns:a="http://schemas.openxmlformats.org/drawingml/2006/main" prst="straightConnector1">
            <a:avLst/>
          </a:prstGeom>
          <a:ln xmlns:a="http://schemas.openxmlformats.org/drawingml/2006/main" w="19050">
            <a:solidFill>
              <a:srgbClr val="8AACA0"/>
            </a:solidFill>
            <a:tailEnd type="arrow" w="med" len="med"/>
          </a:ln>
        </p:spPr>
      </p:cxnSp>
      <p:cxnSp>
        <p:nvCxnSpPr>
          <p:cNvPr id="26" name=""/>
          <p:cNvCxnSpPr>
            <a:stCxn xmlns:a="http://schemas.openxmlformats.org/drawingml/2006/main" id="9" idx="3"/>
            <a:endCxn xmlns:a="http://schemas.openxmlformats.org/drawingml/2006/main" id="11" idx="1"/>
          </p:cNvCxnSpPr>
          <p:nvPr/>
        </p:nvCxnSpPr>
        <p:spPr>
          <a:xfrm xmlns:a="http://schemas.openxmlformats.org/drawingml/2006/main">
            <a:off x="6629400" y="2619375"/>
            <a:ext cx="609600" cy="0"/>
          </a:xfrm>
          <a:prstGeom xmlns:a="http://schemas.openxmlformats.org/drawingml/2006/main" prst="straightConnector1">
            <a:avLst/>
          </a:prstGeom>
          <a:ln xmlns:a="http://schemas.openxmlformats.org/drawingml/2006/main" w="19050">
            <a:solidFill>
              <a:srgbClr val="8AACA0"/>
            </a:solidFill>
            <a:tailEnd type="arrow" w="med" len="med"/>
          </a:ln>
        </p:spPr>
      </p:cxnSp>
      <p:cxnSp>
        <p:nvCxnSpPr>
          <p:cNvPr id="27" name=""/>
          <p:cNvCxnSpPr>
            <a:stCxn xmlns:a="http://schemas.openxmlformats.org/drawingml/2006/main" id="7" idx="3"/>
            <a:endCxn xmlns:a="http://schemas.openxmlformats.org/drawingml/2006/main" id="9" idx="1"/>
          </p:cNvCxnSpPr>
          <p:nvPr/>
        </p:nvCxnSpPr>
        <p:spPr>
          <a:xfrm xmlns:a="http://schemas.openxmlformats.org/drawingml/2006/main">
            <a:off x="4400550" y="2619375"/>
            <a:ext cx="609600" cy="0"/>
          </a:xfrm>
          <a:prstGeom xmlns:a="http://schemas.openxmlformats.org/drawingml/2006/main" prst="straightConnector1">
            <a:avLst/>
          </a:prstGeom>
          <a:ln xmlns:a="http://schemas.openxmlformats.org/drawingml/2006/main" w="19050">
            <a:solidFill>
              <a:srgbClr val="8AACA0"/>
            </a:solidFill>
            <a:tailEnd type="arrow" w="med" len="med"/>
          </a:ln>
        </p:spPr>
      </p:cxnSp>
      <p:cxnSp>
        <p:nvCxnSpPr>
          <p:cNvPr id="28" name=""/>
          <p:cNvCxnSpPr>
            <a:stCxn xmlns:a="http://schemas.openxmlformats.org/drawingml/2006/main" id="5" idx="3"/>
            <a:endCxn xmlns:a="http://schemas.openxmlformats.org/drawingml/2006/main" id="7" idx="1"/>
          </p:cNvCxnSpPr>
          <p:nvPr/>
        </p:nvCxnSpPr>
        <p:spPr>
          <a:xfrm xmlns:a="http://schemas.openxmlformats.org/drawingml/2006/main">
            <a:off x="2171700" y="2619375"/>
            <a:ext cx="609600" cy="0"/>
          </a:xfrm>
          <a:prstGeom xmlns:a="http://schemas.openxmlformats.org/drawingml/2006/main" prst="straightConnector1">
            <a:avLst/>
          </a:prstGeom>
          <a:ln xmlns:a="http://schemas.openxmlformats.org/drawingml/2006/main" w="19050">
            <a:solidFill>
              <a:srgbClr val="8AACA0"/>
            </a:solidFill>
            <a:tailEnd type="arrow" w="med" len="med"/>
          </a:ln>
        </p:spPr>
      </p:cxnSp>
      <p:sp>
        <p:nvSpPr>
          <p:cNvPr id="29" name="">
            <a:extLst xmlns:a="http://schemas.openxmlformats.org/drawingml/2006/main">
              <a:ext uri="{FF2B5EF4-FFF2-40B4-BE49-F238E27FC236}">
                <a16:creationId xmlns:a16="http://schemas.microsoft.com/office/drawing/2014/main" id="{692BE113-94EB-44CA-B71E-E8A8DE3B6D97}"/>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41F28D"/>
                </a:solidFill>
                <a:latin typeface="Avenir Next"/>
                <a:ea typeface="Avenir Next"/>
                <a:cs typeface="Avenir Next"/>
              </a:defRPr>
            </a:pPr>
            <a:r>
              <a:rPr sz="975" b="1">
                <a:solidFill>
                  <a:srgbClr val="41F28D"/>
                </a:solidFill>
                <a:latin typeface="Avenir Next"/>
                <a:ea typeface="Avenir Next"/>
                <a:cs typeface="Avenir Next"/>
              </a:rPr>
              <a:t>TECHNICAL ARCHITECTURE</a:t>
            </a:r>
          </a:p>
        </p:txBody>
      </p:sp>
      <p:sp>
        <p:nvSpPr>
          <p:cNvPr id="2" name="">
            <a:extLst xmlns:a="http://schemas.openxmlformats.org/drawingml/2006/main">
              <a:ext uri="{FF2B5EF4-FFF2-40B4-BE49-F238E27FC236}">
                <a16:creationId xmlns:a16="http://schemas.microsoft.com/office/drawing/2014/main" id="{7DBC8AA2-DF41-4B1A-90F4-D5625F1196CE}"/>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8AACA0"/>
                </a:solidFill>
                <a:latin typeface="Avenir Next"/>
                <a:ea typeface="Avenir Next"/>
                <a:cs typeface="Avenir Next"/>
              </a:defRPr>
            </a:pPr>
            <a:r>
              <a:rPr sz="975" b="1">
                <a:solidFill>
                  <a:srgbClr val="8AACA0"/>
                </a:solidFill>
                <a:latin typeface="Avenir Next"/>
                <a:ea typeface="Avenir Next"/>
                <a:cs typeface="Avenir Next"/>
              </a:rPr>
              <a:t>04</a:t>
            </a:r>
          </a:p>
        </p:txBody>
      </p:sp>
      <p:sp>
        <p:nvSpPr>
          <p:cNvPr id="3" name="">
            <a:extLst xmlns:a="http://schemas.openxmlformats.org/drawingml/2006/main">
              <a:ext uri="{FF2B5EF4-FFF2-40B4-BE49-F238E27FC236}">
                <a16:creationId xmlns:a16="http://schemas.microsoft.com/office/drawing/2014/main" id="{3B1FD499-422E-41A2-92D0-90FACDB4AFB0}"/>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24443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BED6118-2166-4DA3-84FC-6EAC0B032B80}"/>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311"/>
          </a:bodyPr>
          <a:lstStyle xmlns:a="http://schemas.openxmlformats.org/drawingml/2006/main"/>
          <a:p xmlns:a="http://schemas.openxmlformats.org/drawingml/2006/main">
            <a:pPr>
              <a:defRPr sz="3150" b="1">
                <a:solidFill>
                  <a:srgbClr val="EDFDF6"/>
                </a:solidFill>
                <a:latin typeface="Avenir Next"/>
                <a:ea typeface="Avenir Next"/>
                <a:cs typeface="Avenir Next"/>
              </a:defRPr>
            </a:pPr>
            <a:r>
              <a:rPr sz="3150" b="1">
                <a:solidFill>
                  <a:srgbClr val="EDFDF6"/>
                </a:solidFill>
                <a:latin typeface="Avenir Next"/>
                <a:ea typeface="Avenir Next"/>
                <a:cs typeface="Avenir Next"/>
              </a:rPr>
              <a:t>One pipeline separates perception from the safety decision</a:t>
            </a:r>
          </a:p>
        </p:txBody>
      </p:sp>
      <p:sp>
        <p:nvSpPr>
          <p:cNvPr id="5" name="">
            <a:extLst xmlns:a="http://schemas.openxmlformats.org/drawingml/2006/main">
              <a:ext uri="{FF2B5EF4-FFF2-40B4-BE49-F238E27FC236}">
                <a16:creationId xmlns:a16="http://schemas.microsoft.com/office/drawing/2014/main" id="{ABCA2B52-4A06-4501-8AE3-BFADACDA400F}"/>
              </a:ext>
            </a:extLst>
          </p:cNvPr>
          <p:cNvSpPr>
            <a:spLocks xmlns:a="http://schemas.openxmlformats.org/drawingml/2006/main" noGrp="1"/>
          </p:cNvSpPr>
          <p:nvPr/>
        </p:nvSpPr>
        <p:spPr>
          <a:xfrm xmlns:a="http://schemas.openxmlformats.org/drawingml/2006/main">
            <a:off x="552450" y="2266950"/>
            <a:ext cx="1619250" cy="704850"/>
          </a:xfrm>
          <a:prstGeom xmlns:a="http://schemas.openxmlformats.org/drawingml/2006/main" prst="roundRect">
            <a:avLst>
              <a:gd name="adj" fmla="val 18919"/>
            </a:avLst>
          </a:prstGeom>
          <a:solidFill xmlns:a="http://schemas.openxmlformats.org/drawingml/2006/main">
            <a:srgbClr val="102822"/>
          </a:solidFill>
          <a:ln xmlns:a="http://schemas.openxmlformats.org/drawingml/2006/main" w="9525">
            <a:solidFill>
              <a:srgbClr val="24443A"/>
            </a:solidFill>
          </a:ln>
        </p:spPr>
      </p:sp>
      <p:sp>
        <p:nvSpPr>
          <p:cNvPr id="6" name="">
            <a:extLst xmlns:a="http://schemas.openxmlformats.org/drawingml/2006/main">
              <a:ext uri="{FF2B5EF4-FFF2-40B4-BE49-F238E27FC236}">
                <a16:creationId xmlns:a16="http://schemas.microsoft.com/office/drawing/2014/main" id="{69E3E67C-838B-4DCB-9C22-354C4426B0D9}"/>
              </a:ext>
            </a:extLst>
          </p:cNvPr>
          <p:cNvSpPr>
            <a:spLocks xmlns:a="http://schemas.openxmlformats.org/drawingml/2006/main" noGrp="1"/>
          </p:cNvSpPr>
          <p:nvPr/>
        </p:nvSpPr>
        <p:spPr>
          <a:xfrm xmlns:a="http://schemas.openxmlformats.org/drawingml/2006/main">
            <a:off x="666750" y="2362200"/>
            <a:ext cx="1390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EDFDF6"/>
                </a:solidFill>
                <a:latin typeface="Avenir Next"/>
                <a:ea typeface="Avenir Next"/>
                <a:cs typeface="Avenir Next"/>
              </a:defRPr>
            </a:pPr>
            <a:r>
              <a:rPr sz="1275" b="1">
                <a:solidFill>
                  <a:srgbClr val="EDFDF6"/>
                </a:solidFill>
                <a:latin typeface="Avenir Next"/>
                <a:ea typeface="Avenir Next"/>
                <a:cs typeface="Avenir Next"/>
              </a:rPr>
              <a:t>VIDEO</a:t>
            </a:r>
          </a:p>
          <a:p xmlns:a="http://schemas.openxmlformats.org/drawingml/2006/main">
            <a:pPr>
              <a:defRPr sz="1275" b="1">
                <a:solidFill>
                  <a:srgbClr val="EDFDF6"/>
                </a:solidFill>
                <a:latin typeface="Avenir Next"/>
                <a:ea typeface="Avenir Next"/>
                <a:cs typeface="Avenir Next"/>
              </a:defRPr>
            </a:pPr>
            <a:r>
              <a:rPr sz="1275" b="1">
                <a:solidFill>
                  <a:srgbClr val="EDFDF6"/>
                </a:solidFill>
                <a:latin typeface="Avenir Next"/>
                <a:ea typeface="Avenir Next"/>
                <a:cs typeface="Avenir Next"/>
              </a:rPr>
              <a:t>source</a:t>
            </a:r>
          </a:p>
        </p:txBody>
      </p:sp>
      <p:sp>
        <p:nvSpPr>
          <p:cNvPr id="7" name="">
            <a:extLst xmlns:a="http://schemas.openxmlformats.org/drawingml/2006/main">
              <a:ext uri="{FF2B5EF4-FFF2-40B4-BE49-F238E27FC236}">
                <a16:creationId xmlns:a16="http://schemas.microsoft.com/office/drawing/2014/main" id="{DCC9F0B7-1C3A-4235-9225-8EBA52009CCA}"/>
              </a:ext>
            </a:extLst>
          </p:cNvPr>
          <p:cNvSpPr>
            <a:spLocks xmlns:a="http://schemas.openxmlformats.org/drawingml/2006/main" noGrp="1"/>
          </p:cNvSpPr>
          <p:nvPr/>
        </p:nvSpPr>
        <p:spPr>
          <a:xfrm xmlns:a="http://schemas.openxmlformats.org/drawingml/2006/main">
            <a:off x="2781300" y="2266950"/>
            <a:ext cx="1619250" cy="704850"/>
          </a:xfrm>
          <a:prstGeom xmlns:a="http://schemas.openxmlformats.org/drawingml/2006/main" prst="roundRect">
            <a:avLst>
              <a:gd name="adj" fmla="val 18919"/>
            </a:avLst>
          </a:prstGeom>
          <a:solidFill xmlns:a="http://schemas.openxmlformats.org/drawingml/2006/main">
            <a:srgbClr val="102822"/>
          </a:solidFill>
          <a:ln xmlns:a="http://schemas.openxmlformats.org/drawingml/2006/main" w="9525">
            <a:solidFill>
              <a:srgbClr val="24443A"/>
            </a:solidFill>
          </a:ln>
        </p:spPr>
      </p:sp>
      <p:sp>
        <p:nvSpPr>
          <p:cNvPr id="8" name="">
            <a:extLst xmlns:a="http://schemas.openxmlformats.org/drawingml/2006/main">
              <a:ext uri="{FF2B5EF4-FFF2-40B4-BE49-F238E27FC236}">
                <a16:creationId xmlns:a16="http://schemas.microsoft.com/office/drawing/2014/main" id="{FC3A03E4-C70C-423B-AA4D-4C3F6E6FEBE5}"/>
              </a:ext>
            </a:extLst>
          </p:cNvPr>
          <p:cNvSpPr>
            <a:spLocks xmlns:a="http://schemas.openxmlformats.org/drawingml/2006/main" noGrp="1"/>
          </p:cNvSpPr>
          <p:nvPr/>
        </p:nvSpPr>
        <p:spPr>
          <a:xfrm xmlns:a="http://schemas.openxmlformats.org/drawingml/2006/main">
            <a:off x="2895600" y="2362200"/>
            <a:ext cx="1390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174"/>
          </a:bodyPr>
          <a:lstStyle xmlns:a="http://schemas.openxmlformats.org/drawingml/2006/main"/>
          <a:p xmlns:a="http://schemas.openxmlformats.org/drawingml/2006/main">
            <a:pPr>
              <a:defRPr sz="1275" b="1">
                <a:solidFill>
                  <a:srgbClr val="EDFDF6"/>
                </a:solidFill>
                <a:latin typeface="Avenir Next"/>
                <a:ea typeface="Avenir Next"/>
                <a:cs typeface="Avenir Next"/>
              </a:defRPr>
            </a:pPr>
            <a:r>
              <a:rPr sz="1275" b="1">
                <a:solidFill>
                  <a:srgbClr val="EDFDF6"/>
                </a:solidFill>
                <a:latin typeface="Avenir Next"/>
                <a:ea typeface="Avenir Next"/>
                <a:cs typeface="Avenir Next"/>
              </a:rPr>
              <a:t>PERSON + HEAD</a:t>
            </a:r>
          </a:p>
          <a:p xmlns:a="http://schemas.openxmlformats.org/drawingml/2006/main">
            <a:pPr>
              <a:defRPr sz="1275" b="1">
                <a:solidFill>
                  <a:srgbClr val="EDFDF6"/>
                </a:solidFill>
                <a:latin typeface="Avenir Next"/>
                <a:ea typeface="Avenir Next"/>
                <a:cs typeface="Avenir Next"/>
              </a:defRPr>
            </a:pPr>
            <a:r>
              <a:rPr sz="1275" b="1">
                <a:solidFill>
                  <a:srgbClr val="EDFDF6"/>
                </a:solidFill>
                <a:latin typeface="Avenir Next"/>
                <a:ea typeface="Avenir Next"/>
                <a:cs typeface="Avenir Next"/>
              </a:rPr>
              <a:t>detector</a:t>
            </a:r>
          </a:p>
        </p:txBody>
      </p:sp>
      <p:sp>
        <p:nvSpPr>
          <p:cNvPr id="9" name="">
            <a:extLst xmlns:a="http://schemas.openxmlformats.org/drawingml/2006/main">
              <a:ext uri="{FF2B5EF4-FFF2-40B4-BE49-F238E27FC236}">
                <a16:creationId xmlns:a16="http://schemas.microsoft.com/office/drawing/2014/main" id="{BDF3A935-82E9-4567-A3B3-2CCDE24C6917}"/>
              </a:ext>
            </a:extLst>
          </p:cNvPr>
          <p:cNvSpPr>
            <a:spLocks xmlns:a="http://schemas.openxmlformats.org/drawingml/2006/main" noGrp="1"/>
          </p:cNvSpPr>
          <p:nvPr/>
        </p:nvSpPr>
        <p:spPr>
          <a:xfrm xmlns:a="http://schemas.openxmlformats.org/drawingml/2006/main">
            <a:off x="5010150" y="2266950"/>
            <a:ext cx="1619250" cy="704850"/>
          </a:xfrm>
          <a:prstGeom xmlns:a="http://schemas.openxmlformats.org/drawingml/2006/main" prst="roundRect">
            <a:avLst>
              <a:gd name="adj" fmla="val 18919"/>
            </a:avLst>
          </a:prstGeom>
          <a:solidFill xmlns:a="http://schemas.openxmlformats.org/drawingml/2006/main">
            <a:srgbClr val="102822"/>
          </a:solidFill>
          <a:ln xmlns:a="http://schemas.openxmlformats.org/drawingml/2006/main" w="9525">
            <a:solidFill>
              <a:srgbClr val="24443A"/>
            </a:solidFill>
          </a:ln>
        </p:spPr>
      </p:sp>
      <p:sp>
        <p:nvSpPr>
          <p:cNvPr id="10" name="">
            <a:extLst xmlns:a="http://schemas.openxmlformats.org/drawingml/2006/main">
              <a:ext uri="{FF2B5EF4-FFF2-40B4-BE49-F238E27FC236}">
                <a16:creationId xmlns:a16="http://schemas.microsoft.com/office/drawing/2014/main" id="{854B3C12-131F-4600-A66F-EEC39DCA9CF8}"/>
              </a:ext>
            </a:extLst>
          </p:cNvPr>
          <p:cNvSpPr>
            <a:spLocks xmlns:a="http://schemas.openxmlformats.org/drawingml/2006/main" noGrp="1"/>
          </p:cNvSpPr>
          <p:nvPr/>
        </p:nvSpPr>
        <p:spPr>
          <a:xfrm xmlns:a="http://schemas.openxmlformats.org/drawingml/2006/main">
            <a:off x="5124450" y="2362200"/>
            <a:ext cx="1390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EDFDF6"/>
                </a:solidFill>
                <a:latin typeface="Avenir Next"/>
                <a:ea typeface="Avenir Next"/>
                <a:cs typeface="Avenir Next"/>
              </a:defRPr>
            </a:pPr>
            <a:r>
              <a:rPr sz="1275" b="1">
                <a:solidFill>
                  <a:srgbClr val="EDFDF6"/>
                </a:solidFill>
                <a:latin typeface="Avenir Next"/>
                <a:ea typeface="Avenir Next"/>
                <a:cs typeface="Avenir Next"/>
              </a:rPr>
              <a:t>TRACK +</a:t>
            </a:r>
          </a:p>
          <a:p xmlns:a="http://schemas.openxmlformats.org/drawingml/2006/main">
            <a:pPr>
              <a:defRPr sz="1275" b="1">
                <a:solidFill>
                  <a:srgbClr val="EDFDF6"/>
                </a:solidFill>
                <a:latin typeface="Avenir Next"/>
                <a:ea typeface="Avenir Next"/>
                <a:cs typeface="Avenir Next"/>
              </a:defRPr>
            </a:pPr>
            <a:r>
              <a:rPr sz="1275" b="1">
                <a:solidFill>
                  <a:srgbClr val="EDFDF6"/>
                </a:solidFill>
                <a:latin typeface="Avenir Next"/>
                <a:ea typeface="Avenir Next"/>
                <a:cs typeface="Avenir Next"/>
              </a:rPr>
              <a:t>ID stitching</a:t>
            </a:r>
          </a:p>
        </p:txBody>
      </p:sp>
      <p:sp>
        <p:nvSpPr>
          <p:cNvPr id="11" name="">
            <a:extLst xmlns:a="http://schemas.openxmlformats.org/drawingml/2006/main">
              <a:ext uri="{FF2B5EF4-FFF2-40B4-BE49-F238E27FC236}">
                <a16:creationId xmlns:a16="http://schemas.microsoft.com/office/drawing/2014/main" id="{4F7053CC-9731-4E8F-A448-0A62B9D949D6}"/>
              </a:ext>
            </a:extLst>
          </p:cNvPr>
          <p:cNvSpPr>
            <a:spLocks xmlns:a="http://schemas.openxmlformats.org/drawingml/2006/main" noGrp="1"/>
          </p:cNvSpPr>
          <p:nvPr/>
        </p:nvSpPr>
        <p:spPr>
          <a:xfrm xmlns:a="http://schemas.openxmlformats.org/drawingml/2006/main">
            <a:off x="7239000" y="2266950"/>
            <a:ext cx="1619250" cy="704850"/>
          </a:xfrm>
          <a:prstGeom xmlns:a="http://schemas.openxmlformats.org/drawingml/2006/main" prst="roundRect">
            <a:avLst>
              <a:gd name="adj" fmla="val 18919"/>
            </a:avLst>
          </a:prstGeom>
          <a:solidFill xmlns:a="http://schemas.openxmlformats.org/drawingml/2006/main">
            <a:srgbClr val="102822"/>
          </a:solidFill>
          <a:ln xmlns:a="http://schemas.openxmlformats.org/drawingml/2006/main" w="9525">
            <a:solidFill>
              <a:srgbClr val="24443A"/>
            </a:solidFill>
          </a:ln>
        </p:spPr>
      </p:sp>
      <p:sp>
        <p:nvSpPr>
          <p:cNvPr id="12" name="">
            <a:extLst xmlns:a="http://schemas.openxmlformats.org/drawingml/2006/main">
              <a:ext uri="{FF2B5EF4-FFF2-40B4-BE49-F238E27FC236}">
                <a16:creationId xmlns:a16="http://schemas.microsoft.com/office/drawing/2014/main" id="{70E6E286-BB58-44AA-BC7A-C7057A0DF63B}"/>
              </a:ext>
            </a:extLst>
          </p:cNvPr>
          <p:cNvSpPr>
            <a:spLocks xmlns:a="http://schemas.openxmlformats.org/drawingml/2006/main" noGrp="1"/>
          </p:cNvSpPr>
          <p:nvPr/>
        </p:nvSpPr>
        <p:spPr>
          <a:xfrm xmlns:a="http://schemas.openxmlformats.org/drawingml/2006/main">
            <a:off x="7353300" y="2362200"/>
            <a:ext cx="1390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EDFDF6"/>
                </a:solidFill>
                <a:latin typeface="Avenir Next"/>
                <a:ea typeface="Avenir Next"/>
                <a:cs typeface="Avenir Next"/>
              </a:defRPr>
            </a:pPr>
            <a:r>
              <a:rPr sz="1275" b="1">
                <a:solidFill>
                  <a:srgbClr val="EDFDF6"/>
                </a:solidFill>
                <a:latin typeface="Avenir Next"/>
                <a:ea typeface="Avenir Next"/>
                <a:cs typeface="Avenir Next"/>
              </a:rPr>
              <a:t>EVENT</a:t>
            </a:r>
          </a:p>
          <a:p xmlns:a="http://schemas.openxmlformats.org/drawingml/2006/main">
            <a:pPr>
              <a:defRPr sz="1275" b="1">
                <a:solidFill>
                  <a:srgbClr val="EDFDF6"/>
                </a:solidFill>
                <a:latin typeface="Avenir Next"/>
                <a:ea typeface="Avenir Next"/>
                <a:cs typeface="Avenir Next"/>
              </a:defRPr>
            </a:pPr>
            <a:r>
              <a:rPr sz="1275" b="1">
                <a:solidFill>
                  <a:srgbClr val="EDFDF6"/>
                </a:solidFill>
                <a:latin typeface="Avenir Next"/>
                <a:ea typeface="Avenir Next"/>
                <a:cs typeface="Avenir Next"/>
              </a:rPr>
              <a:t>engine</a:t>
            </a:r>
          </a:p>
        </p:txBody>
      </p:sp>
      <p:sp>
        <p:nvSpPr>
          <p:cNvPr id="13" name="">
            <a:extLst xmlns:a="http://schemas.openxmlformats.org/drawingml/2006/main">
              <a:ext uri="{FF2B5EF4-FFF2-40B4-BE49-F238E27FC236}">
                <a16:creationId xmlns:a16="http://schemas.microsoft.com/office/drawing/2014/main" id="{326F7E06-F4C0-4DE4-88F0-903B8BBCE762}"/>
              </a:ext>
            </a:extLst>
          </p:cNvPr>
          <p:cNvSpPr>
            <a:spLocks xmlns:a="http://schemas.openxmlformats.org/drawingml/2006/main" noGrp="1"/>
          </p:cNvSpPr>
          <p:nvPr/>
        </p:nvSpPr>
        <p:spPr>
          <a:xfrm xmlns:a="http://schemas.openxmlformats.org/drawingml/2006/main">
            <a:off x="9467850" y="2266950"/>
            <a:ext cx="1619250" cy="704850"/>
          </a:xfrm>
          <a:prstGeom xmlns:a="http://schemas.openxmlformats.org/drawingml/2006/main" prst="roundRect">
            <a:avLst>
              <a:gd name="adj" fmla="val 18919"/>
            </a:avLst>
          </a:prstGeom>
          <a:solidFill xmlns:a="http://schemas.openxmlformats.org/drawingml/2006/main">
            <a:srgbClr val="0B1F1A"/>
          </a:solidFill>
          <a:ln xmlns:a="http://schemas.openxmlformats.org/drawingml/2006/main" w="19050">
            <a:solidFill>
              <a:srgbClr val="41F28D"/>
            </a:solidFill>
          </a:ln>
        </p:spPr>
      </p:sp>
      <p:sp>
        <p:nvSpPr>
          <p:cNvPr id="14" name="">
            <a:extLst xmlns:a="http://schemas.openxmlformats.org/drawingml/2006/main">
              <a:ext uri="{FF2B5EF4-FFF2-40B4-BE49-F238E27FC236}">
                <a16:creationId xmlns:a16="http://schemas.microsoft.com/office/drawing/2014/main" id="{B6C0F7C0-9329-4485-8D6E-80C232246FF1}"/>
              </a:ext>
            </a:extLst>
          </p:cNvPr>
          <p:cNvSpPr>
            <a:spLocks xmlns:a="http://schemas.openxmlformats.org/drawingml/2006/main" noGrp="1"/>
          </p:cNvSpPr>
          <p:nvPr/>
        </p:nvSpPr>
        <p:spPr>
          <a:xfrm xmlns:a="http://schemas.openxmlformats.org/drawingml/2006/main">
            <a:off x="9582150" y="2362200"/>
            <a:ext cx="13906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275" b="1">
                <a:solidFill>
                  <a:srgbClr val="41F28D"/>
                </a:solidFill>
                <a:latin typeface="Avenir Next"/>
                <a:ea typeface="Avenir Next"/>
                <a:cs typeface="Avenir Next"/>
              </a:defRPr>
            </a:pPr>
            <a:r>
              <a:rPr sz="1275" b="1">
                <a:solidFill>
                  <a:srgbClr val="41F28D"/>
                </a:solidFill>
                <a:latin typeface="Avenir Next"/>
                <a:ea typeface="Avenir Next"/>
                <a:cs typeface="Avenir Next"/>
              </a:rPr>
              <a:t>APP</a:t>
            </a:r>
          </a:p>
          <a:p xmlns:a="http://schemas.openxmlformats.org/drawingml/2006/main">
            <a:pPr>
              <a:defRPr sz="1275" b="1">
                <a:solidFill>
                  <a:srgbClr val="41F28D"/>
                </a:solidFill>
                <a:latin typeface="Avenir Next"/>
                <a:ea typeface="Avenir Next"/>
                <a:cs typeface="Avenir Next"/>
              </a:defRPr>
            </a:pPr>
            <a:r>
              <a:rPr sz="1275" b="1">
                <a:solidFill>
                  <a:srgbClr val="41F28D"/>
                </a:solidFill>
                <a:latin typeface="Avenir Next"/>
                <a:ea typeface="Avenir Next"/>
                <a:cs typeface="Avenir Next"/>
              </a:rPr>
              <a:t>overlay</a:t>
            </a:r>
          </a:p>
        </p:txBody>
      </p:sp>
      <p:sp>
        <p:nvSpPr>
          <p:cNvPr id="19" name="">
            <a:extLst xmlns:a="http://schemas.openxmlformats.org/drawingml/2006/main">
              <a:ext uri="{FF2B5EF4-FFF2-40B4-BE49-F238E27FC236}">
                <a16:creationId xmlns:a16="http://schemas.microsoft.com/office/drawing/2014/main" id="{659083F9-1E60-48BE-B158-DAC02EEFE541}"/>
              </a:ext>
            </a:extLst>
          </p:cNvPr>
          <p:cNvSpPr>
            <a:spLocks xmlns:a="http://schemas.openxmlformats.org/drawingml/2006/main" noGrp="1"/>
          </p:cNvSpPr>
          <p:nvPr/>
        </p:nvSpPr>
        <p:spPr>
          <a:xfrm xmlns:a="http://schemas.openxmlformats.org/drawingml/2006/main">
            <a:off x="3314700" y="4114800"/>
            <a:ext cx="5562600" cy="876300"/>
          </a:xfrm>
          <a:prstGeom xmlns:a="http://schemas.openxmlformats.org/drawingml/2006/main" prst="roundRect">
            <a:avLst>
              <a:gd name="adj" fmla="val 17391"/>
            </a:avLst>
          </a:prstGeom>
          <a:solidFill xmlns:a="http://schemas.openxmlformats.org/drawingml/2006/main">
            <a:srgbClr val="0B1F1A"/>
          </a:solidFill>
          <a:ln xmlns:a="http://schemas.openxmlformats.org/drawingml/2006/main" w="9525">
            <a:solidFill>
              <a:srgbClr val="64B7FF"/>
            </a:solidFill>
          </a:ln>
        </p:spPr>
      </p:sp>
      <p:sp>
        <p:nvSpPr>
          <p:cNvPr id="20" name="">
            <a:extLst xmlns:a="http://schemas.openxmlformats.org/drawingml/2006/main">
              <a:ext uri="{FF2B5EF4-FFF2-40B4-BE49-F238E27FC236}">
                <a16:creationId xmlns:a16="http://schemas.microsoft.com/office/drawing/2014/main" id="{BCD8D7F8-9C05-4457-814C-0368AB3DCA59}"/>
              </a:ext>
            </a:extLst>
          </p:cNvPr>
          <p:cNvSpPr>
            <a:spLocks xmlns:a="http://schemas.openxmlformats.org/drawingml/2006/main" noGrp="1"/>
          </p:cNvSpPr>
          <p:nvPr/>
        </p:nvSpPr>
        <p:spPr>
          <a:xfrm xmlns:a="http://schemas.openxmlformats.org/drawingml/2006/main">
            <a:off x="3543300" y="4267200"/>
            <a:ext cx="22098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64B7FF"/>
                </a:solidFill>
                <a:latin typeface="Avenir Next"/>
                <a:ea typeface="Avenir Next"/>
                <a:cs typeface="Avenir Next"/>
              </a:defRPr>
            </a:pPr>
            <a:r>
              <a:rPr sz="900" b="1">
                <a:solidFill>
                  <a:srgbClr val="64B7FF"/>
                </a:solidFill>
                <a:latin typeface="Avenir Next"/>
                <a:ea typeface="Avenir Next"/>
                <a:cs typeface="Avenir Next"/>
              </a:rPr>
              <a:t>SIMULATION TEST BENCH</a:t>
            </a:r>
          </a:p>
        </p:txBody>
      </p:sp>
      <p:sp>
        <p:nvSpPr>
          <p:cNvPr id="21" name="">
            <a:extLst xmlns:a="http://schemas.openxmlformats.org/drawingml/2006/main">
              <a:ext uri="{FF2B5EF4-FFF2-40B4-BE49-F238E27FC236}">
                <a16:creationId xmlns:a16="http://schemas.microsoft.com/office/drawing/2014/main" id="{A29E8DB3-E58E-4922-93E2-7D1993200387}"/>
              </a:ext>
            </a:extLst>
          </p:cNvPr>
          <p:cNvSpPr>
            <a:spLocks xmlns:a="http://schemas.openxmlformats.org/drawingml/2006/main" noGrp="1"/>
          </p:cNvSpPr>
          <p:nvPr/>
        </p:nvSpPr>
        <p:spPr>
          <a:xfrm xmlns:a="http://schemas.openxmlformats.org/drawingml/2006/main">
            <a:off x="3543300" y="4552950"/>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392"/>
          </a:bodyPr>
          <a:lstStyle xmlns:a="http://schemas.openxmlformats.org/drawingml/2006/main"/>
          <a:p xmlns:a="http://schemas.openxmlformats.org/drawingml/2006/main">
            <a:pPr>
              <a:defRPr sz="1275" b="0">
                <a:solidFill>
                  <a:srgbClr val="EDFDF6"/>
                </a:solidFill>
                <a:latin typeface="Avenir Next"/>
                <a:ea typeface="Avenir Next"/>
                <a:cs typeface="Avenir Next"/>
              </a:defRPr>
            </a:pPr>
            <a:r>
              <a:rPr sz="1275" b="0">
                <a:solidFill>
                  <a:srgbClr val="EDFDF6"/>
                </a:solidFill>
                <a:latin typeface="Avenir Next"/>
                <a:ea typeface="Avenir Next"/>
                <a:cs typeface="Avenir Next"/>
              </a:rPr>
              <a:t>training frames · exact boxes · head height · scoring</a:t>
            </a:r>
          </a:p>
        </p:txBody>
      </p:sp>
      <p:sp>
        <p:nvSpPr>
          <p:cNvPr id="22" name="">
            <a:extLst xmlns:a="http://schemas.openxmlformats.org/drawingml/2006/main">
              <a:ext uri="{FF2B5EF4-FFF2-40B4-BE49-F238E27FC236}">
                <a16:creationId xmlns:a16="http://schemas.microsoft.com/office/drawing/2014/main" id="{18A63C88-4AD1-440E-AA29-7DA56124EC6A}"/>
              </a:ext>
            </a:extLst>
          </p:cNvPr>
          <p:cNvSpPr>
            <a:spLocks xmlns:a="http://schemas.openxmlformats.org/drawingml/2006/main" noGrp="1"/>
          </p:cNvSpPr>
          <p:nvPr/>
        </p:nvSpPr>
        <p:spPr>
          <a:xfrm xmlns:a="http://schemas.openxmlformats.org/drawingml/2006/main">
            <a:off x="6096000" y="3067050"/>
            <a:ext cx="0" cy="933450"/>
          </a:xfrm>
          <a:prstGeom xmlns:a="http://schemas.openxmlformats.org/drawingml/2006/main" prst="line">
            <a:avLst/>
          </a:prstGeom>
          <a:noFill xmlns:a="http://schemas.openxmlformats.org/drawingml/2006/main"/>
          <a:ln xmlns:a="http://schemas.openxmlformats.org/drawingml/2006/main" w="19050">
            <a:solidFill>
              <a:srgbClr val="64B7FF"/>
            </a:solidFill>
          </a:ln>
        </p:spPr>
      </p:sp>
      <p:sp>
        <p:nvSpPr>
          <p:cNvPr id="23" name="">
            <a:extLst xmlns:a="http://schemas.openxmlformats.org/drawingml/2006/main">
              <a:ext uri="{FF2B5EF4-FFF2-40B4-BE49-F238E27FC236}">
                <a16:creationId xmlns:a16="http://schemas.microsoft.com/office/drawing/2014/main" id="{388EEE0F-7C0B-481A-9659-2B7F4BB13F86}"/>
              </a:ext>
            </a:extLst>
          </p:cNvPr>
          <p:cNvSpPr>
            <a:spLocks xmlns:a="http://schemas.openxmlformats.org/drawingml/2006/main" noGrp="1"/>
          </p:cNvSpPr>
          <p:nvPr/>
        </p:nvSpPr>
        <p:spPr>
          <a:xfrm xmlns:a="http://schemas.openxmlformats.org/drawingml/2006/main">
            <a:off x="2038350" y="5467350"/>
            <a:ext cx="811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8AACA0"/>
                </a:solidFill>
                <a:latin typeface="Avenir Next"/>
                <a:ea typeface="Avenir Next"/>
                <a:cs typeface="Avenir Next"/>
              </a:defRPr>
            </a:pPr>
            <a:r>
              <a:rPr sz="1500" b="0">
                <a:solidFill>
                  <a:srgbClr val="8AACA0"/>
                </a:solidFill>
                <a:latin typeface="Avenir Next"/>
                <a:ea typeface="Avenir Next"/>
                <a:cs typeface="Avenir Next"/>
              </a:rPr>
              <a:t>Prerecorded video and timestamped JSON keep the hackathon demo local and reliable.</a:t>
            </a:r>
          </a:p>
        </p:txBody>
      </p:sp>
      <p:sp>
        <p:nvSpPr>
          <p:cNvPr id="24" name="">
            <a:extLst xmlns:a="http://schemas.openxmlformats.org/drawingml/2006/main">
              <a:ext uri="{FF2B5EF4-FFF2-40B4-BE49-F238E27FC236}">
                <a16:creationId xmlns:a16="http://schemas.microsoft.com/office/drawing/2014/main" id="{E4E2BF94-4D44-496E-AE49-B4491B2D82E8}"/>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8AACA0"/>
                </a:solidFill>
                <a:latin typeface="Avenir Next"/>
                <a:ea typeface="Avenir Next"/>
                <a:cs typeface="Avenir Next"/>
              </a:defRPr>
            </a:pPr>
            <a:r>
              <a:rPr sz="675" b="0">
                <a:solidFill>
                  <a:srgbClr val="8AACA0"/>
                </a:solidFill>
                <a:latin typeface="Avenir Next"/>
                <a:ea typeface="Avenir Next"/>
                <a:cs typeface="Avenir Next"/>
              </a:rPr>
              <a:t>RESEARCH PROTOTYPE · SYNTHETIC RESULTS WHERE NOTED</a:t>
            </a:r>
          </a:p>
        </p:txBody>
      </p:sp>
    </p:spTree>
    <p:extLst>
      <p:ext uri="{BB962C8B-B14F-4D97-AF65-F5344CB8AC3E}">
        <p14:creationId xmlns:p14="http://schemas.microsoft.com/office/powerpoint/2010/main" val="1985842566"/>
      </p:ext>
    </p:extLst>
  </p:cSld>
</p:sld>
</file>

<file path=ppt/slides/slide5.xml><?xml version="1.0" encoding="utf-8"?>
<p:sld xmlns:p="http://schemas.openxmlformats.org/presentationml/2006/main">
  <p:cSld>
    <p:bg>
      <p:bgPr>
        <a:solidFill xmlns:a="http://schemas.openxmlformats.org/drawingml/2006/main">
          <a:srgbClr val="07141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9CAE1D6-7A65-4DDC-80E8-61B2B4F624A1}"/>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41F28D"/>
                </a:solidFill>
                <a:latin typeface="Avenir Next"/>
                <a:ea typeface="Avenir Next"/>
                <a:cs typeface="Avenir Next"/>
              </a:defRPr>
            </a:pPr>
            <a:r>
              <a:rPr sz="975" b="1">
                <a:solidFill>
                  <a:srgbClr val="41F28D"/>
                </a:solidFill>
                <a:latin typeface="Avenir Next"/>
                <a:ea typeface="Avenir Next"/>
                <a:cs typeface="Avenir Next"/>
              </a:rPr>
              <a:t>TEST DATA</a:t>
            </a:r>
          </a:p>
        </p:txBody>
      </p:sp>
      <p:sp>
        <p:nvSpPr>
          <p:cNvPr id="2" name="">
            <a:extLst xmlns:a="http://schemas.openxmlformats.org/drawingml/2006/main">
              <a:ext uri="{FF2B5EF4-FFF2-40B4-BE49-F238E27FC236}">
                <a16:creationId xmlns:a16="http://schemas.microsoft.com/office/drawing/2014/main" id="{24657939-4DEE-481D-9504-872654A27BF4}"/>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8AACA0"/>
                </a:solidFill>
                <a:latin typeface="Avenir Next"/>
                <a:ea typeface="Avenir Next"/>
                <a:cs typeface="Avenir Next"/>
              </a:defRPr>
            </a:pPr>
            <a:r>
              <a:rPr sz="975" b="1">
                <a:solidFill>
                  <a:srgbClr val="8AACA0"/>
                </a:solidFill>
                <a:latin typeface="Avenir Next"/>
                <a:ea typeface="Avenir Next"/>
                <a:cs typeface="Avenir Next"/>
              </a:rPr>
              <a:t>05</a:t>
            </a:r>
          </a:p>
        </p:txBody>
      </p:sp>
      <p:sp>
        <p:nvSpPr>
          <p:cNvPr id="3" name="">
            <a:extLst xmlns:a="http://schemas.openxmlformats.org/drawingml/2006/main">
              <a:ext uri="{FF2B5EF4-FFF2-40B4-BE49-F238E27FC236}">
                <a16:creationId xmlns:a16="http://schemas.microsoft.com/office/drawing/2014/main" id="{8B1EB17C-8E0F-4BBB-8F9D-834A7AAE9E85}"/>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24443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87CEC5A4-5232-4EFA-B622-ADFC3639AB9C}"/>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6923"/>
          </a:bodyPr>
          <a:lstStyle xmlns:a="http://schemas.openxmlformats.org/drawingml/2006/main"/>
          <a:p xmlns:a="http://schemas.openxmlformats.org/drawingml/2006/main">
            <a:pPr>
              <a:defRPr sz="3150" b="1">
                <a:solidFill>
                  <a:srgbClr val="EDFDF6"/>
                </a:solidFill>
                <a:latin typeface="Avenir Next"/>
                <a:ea typeface="Avenir Next"/>
                <a:cs typeface="Avenir Next"/>
              </a:defRPr>
            </a:pPr>
            <a:r>
              <a:rPr sz="3150" b="1">
                <a:solidFill>
                  <a:srgbClr val="EDFDF6"/>
                </a:solidFill>
                <a:latin typeface="Avenir Next"/>
                <a:ea typeface="Avenir Next"/>
                <a:cs typeface="Avenir Next"/>
              </a:rPr>
              <a:t>Simulation gives exact answers for cases we cannot film safely</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9e5d276fc0df41cb"/>
          <a:srcRect xmlns:a="http://schemas.openxmlformats.org/drawingml/2006/main" l="0" t="41" r="0" b="41"/>
          <a:stretch xmlns:a="http://schemas.openxmlformats.org/drawingml/2006/main">
            <a:fillRect l="0" t="0" r="0" b="0"/>
          </a:stretch>
        </p:blipFill>
        <p:spPr>
          <a:xfrm xmlns:a="http://schemas.openxmlformats.org/drawingml/2006/main">
            <a:off x="552450" y="1790700"/>
            <a:ext cx="5219700" cy="2933700"/>
          </a:xfrm>
          <a:prstGeom xmlns:a="http://schemas.openxmlformats.org/drawingml/2006/main" prst="roundRect">
            <a:avLst>
              <a:gd name="adj" fmla="val 5844"/>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06ede4f4113146a3"/>
          <a:srcRect xmlns:a="http://schemas.openxmlformats.org/drawingml/2006/main" l="5000" t="2000" r="25000" b="4000"/>
          <a:stretch xmlns:a="http://schemas.openxmlformats.org/drawingml/2006/main"/>
        </p:blipFill>
        <p:spPr>
          <a:xfrm xmlns:a="http://schemas.openxmlformats.org/drawingml/2006/main">
            <a:off x="6419850" y="1790700"/>
            <a:ext cx="5219700" cy="2933700"/>
          </a:xfrm>
          <a:prstGeom xmlns:a="http://schemas.openxmlformats.org/drawingml/2006/main" prst="roundRect">
            <a:avLst>
              <a:gd name="adj" fmla="val 5844"/>
            </a:avLst>
          </a:prstGeom>
        </p:spPr>
      </p:pic>
      <p:sp>
        <p:nvSpPr>
          <p:cNvPr id="7" name="">
            <a:extLst xmlns:a="http://schemas.openxmlformats.org/drawingml/2006/main">
              <a:ext uri="{FF2B5EF4-FFF2-40B4-BE49-F238E27FC236}">
                <a16:creationId xmlns:a16="http://schemas.microsoft.com/office/drawing/2014/main" id="{8E31020B-B906-42DC-A2D5-A3FFB7D19829}"/>
              </a:ext>
            </a:extLst>
          </p:cNvPr>
          <p:cNvSpPr>
            <a:spLocks xmlns:a="http://schemas.openxmlformats.org/drawingml/2006/main" noGrp="1"/>
          </p:cNvSpPr>
          <p:nvPr/>
        </p:nvSpPr>
        <p:spPr>
          <a:xfrm xmlns:a="http://schemas.openxmlformats.org/drawingml/2006/main">
            <a:off x="552450" y="491490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41F28D"/>
                </a:solidFill>
                <a:latin typeface="Avenir Next"/>
                <a:ea typeface="Avenir Next"/>
                <a:cs typeface="Avenir Next"/>
              </a:defRPr>
            </a:pPr>
            <a:r>
              <a:rPr sz="900" b="1">
                <a:solidFill>
                  <a:srgbClr val="41F28D"/>
                </a:solidFill>
                <a:latin typeface="Avenir Next"/>
                <a:ea typeface="Avenir Next"/>
                <a:cs typeface="Avenir Next"/>
              </a:rPr>
              <a:t>MUJOCO</a:t>
            </a:r>
          </a:p>
        </p:txBody>
      </p:sp>
      <p:sp>
        <p:nvSpPr>
          <p:cNvPr id="8" name="">
            <a:extLst xmlns:a="http://schemas.openxmlformats.org/drawingml/2006/main">
              <a:ext uri="{FF2B5EF4-FFF2-40B4-BE49-F238E27FC236}">
                <a16:creationId xmlns:a16="http://schemas.microsoft.com/office/drawing/2014/main" id="{1D1E1C07-760E-42FB-A44B-A4A8C47CD7EB}"/>
              </a:ext>
            </a:extLst>
          </p:cNvPr>
          <p:cNvSpPr>
            <a:spLocks xmlns:a="http://schemas.openxmlformats.org/drawingml/2006/main" noGrp="1"/>
          </p:cNvSpPr>
          <p:nvPr/>
        </p:nvSpPr>
        <p:spPr>
          <a:xfrm xmlns:a="http://schemas.openxmlformats.org/drawingml/2006/main">
            <a:off x="552450" y="521970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EDFDF6"/>
                </a:solidFill>
                <a:latin typeface="Avenir Next"/>
                <a:ea typeface="Avenir Next"/>
                <a:cs typeface="Avenir Next"/>
              </a:defRPr>
            </a:pPr>
            <a:r>
              <a:rPr sz="1425" b="0">
                <a:solidFill>
                  <a:srgbClr val="EDFDF6"/>
                </a:solidFill>
                <a:latin typeface="Avenir Next"/>
                <a:ea typeface="Avenir Next"/>
                <a:cs typeface="Avenir Next"/>
              </a:rPr>
              <a:t>Physics, buoyancy, exact boxes and head height</a:t>
            </a:r>
          </a:p>
        </p:txBody>
      </p:sp>
      <p:sp>
        <p:nvSpPr>
          <p:cNvPr id="9" name="">
            <a:extLst xmlns:a="http://schemas.openxmlformats.org/drawingml/2006/main">
              <a:ext uri="{FF2B5EF4-FFF2-40B4-BE49-F238E27FC236}">
                <a16:creationId xmlns:a16="http://schemas.microsoft.com/office/drawing/2014/main" id="{5F89C807-5BA1-4555-8640-0D9FAFA65752}"/>
              </a:ext>
            </a:extLst>
          </p:cNvPr>
          <p:cNvSpPr>
            <a:spLocks xmlns:a="http://schemas.openxmlformats.org/drawingml/2006/main" noGrp="1"/>
          </p:cNvSpPr>
          <p:nvPr/>
        </p:nvSpPr>
        <p:spPr>
          <a:xfrm xmlns:a="http://schemas.openxmlformats.org/drawingml/2006/main">
            <a:off x="6419850" y="4914900"/>
            <a:ext cx="161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64B7FF"/>
                </a:solidFill>
                <a:latin typeface="Avenir Next"/>
                <a:ea typeface="Avenir Next"/>
                <a:cs typeface="Avenir Next"/>
              </a:defRPr>
            </a:pPr>
            <a:r>
              <a:rPr sz="900" b="1">
                <a:solidFill>
                  <a:srgbClr val="64B7FF"/>
                </a:solidFill>
                <a:latin typeface="Avenir Next"/>
                <a:ea typeface="Avenir Next"/>
                <a:cs typeface="Avenir Next"/>
              </a:rPr>
              <a:t>ISAAC SIM</a:t>
            </a:r>
          </a:p>
        </p:txBody>
      </p:sp>
      <p:sp>
        <p:nvSpPr>
          <p:cNvPr id="10" name="">
            <a:extLst xmlns:a="http://schemas.openxmlformats.org/drawingml/2006/main">
              <a:ext uri="{FF2B5EF4-FFF2-40B4-BE49-F238E27FC236}">
                <a16:creationId xmlns:a16="http://schemas.microsoft.com/office/drawing/2014/main" id="{CAF1EED8-8178-43B2-8CE6-E1F0C5800E09}"/>
              </a:ext>
            </a:extLst>
          </p:cNvPr>
          <p:cNvSpPr>
            <a:spLocks xmlns:a="http://schemas.openxmlformats.org/drawingml/2006/main" noGrp="1"/>
          </p:cNvSpPr>
          <p:nvPr/>
        </p:nvSpPr>
        <p:spPr>
          <a:xfrm xmlns:a="http://schemas.openxmlformats.org/drawingml/2006/main">
            <a:off x="6419850" y="5219700"/>
            <a:ext cx="4953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425" b="0">
                <a:solidFill>
                  <a:srgbClr val="EDFDF6"/>
                </a:solidFill>
                <a:latin typeface="Avenir Next"/>
                <a:ea typeface="Avenir Next"/>
                <a:cs typeface="Avenir Next"/>
              </a:defRPr>
            </a:pPr>
            <a:r>
              <a:rPr sz="1425" b="0">
                <a:solidFill>
                  <a:srgbClr val="EDFDF6"/>
                </a:solidFill>
                <a:latin typeface="Avenir Next"/>
                <a:ea typeface="Avenir Next"/>
                <a:cs typeface="Avenir Next"/>
              </a:rPr>
              <a:t>More realistic people, lighting, water and held-out video</a:t>
            </a:r>
          </a:p>
        </p:txBody>
      </p:sp>
      <p:sp>
        <p:nvSpPr>
          <p:cNvPr id="11" name="">
            <a:extLst xmlns:a="http://schemas.openxmlformats.org/drawingml/2006/main">
              <a:ext uri="{FF2B5EF4-FFF2-40B4-BE49-F238E27FC236}">
                <a16:creationId xmlns:a16="http://schemas.microsoft.com/office/drawing/2014/main" id="{423FCA7A-3054-4636-9D0D-DF03A1A515B8}"/>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8AACA0"/>
                </a:solidFill>
                <a:latin typeface="Avenir Next"/>
                <a:ea typeface="Avenir Next"/>
                <a:cs typeface="Avenir Next"/>
              </a:defRPr>
            </a:pPr>
            <a:r>
              <a:rPr sz="675" b="0">
                <a:solidFill>
                  <a:srgbClr val="8AACA0"/>
                </a:solidFill>
                <a:latin typeface="Avenir Next"/>
                <a:ea typeface="Avenir Next"/>
                <a:cs typeface="Avenir Next"/>
              </a:rPr>
              <a:t>SAFE TESTING · AUTOMATIC LABELS · SYNTHETIC ONLY</a:t>
            </a:r>
          </a:p>
        </p:txBody>
      </p:sp>
    </p:spTree>
    <p:extLst>
      <p:ext uri="{BB962C8B-B14F-4D97-AF65-F5344CB8AC3E}">
        <p14:creationId xmlns:p14="http://schemas.microsoft.com/office/powerpoint/2010/main" val="1094270590"/>
      </p:ext>
    </p:extLst>
  </p:cSld>
</p:sld>
</file>

<file path=ppt/slides/slide6.xml><?xml version="1.0" encoding="utf-8"?>
<p:sld xmlns:p="http://schemas.openxmlformats.org/presentationml/2006/main">
  <p:cSld>
    <p:bg>
      <p:bgPr>
        <a:solidFill xmlns:a="http://schemas.openxmlformats.org/drawingml/2006/main">
          <a:srgbClr val="07141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284945C-14D3-4159-9A19-71ECE2DCBAC3}"/>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41F28D"/>
                </a:solidFill>
                <a:latin typeface="Avenir Next"/>
                <a:ea typeface="Avenir Next"/>
                <a:cs typeface="Avenir Next"/>
              </a:defRPr>
            </a:pPr>
            <a:r>
              <a:rPr sz="975" b="1">
                <a:solidFill>
                  <a:srgbClr val="41F28D"/>
                </a:solidFill>
                <a:latin typeface="Avenir Next"/>
                <a:ea typeface="Avenir Next"/>
                <a:cs typeface="Avenir Next"/>
              </a:rPr>
              <a:t>MODEL EVIDENCE</a:t>
            </a:r>
          </a:p>
        </p:txBody>
      </p:sp>
      <p:sp>
        <p:nvSpPr>
          <p:cNvPr id="2" name="">
            <a:extLst xmlns:a="http://schemas.openxmlformats.org/drawingml/2006/main">
              <a:ext uri="{FF2B5EF4-FFF2-40B4-BE49-F238E27FC236}">
                <a16:creationId xmlns:a16="http://schemas.microsoft.com/office/drawing/2014/main" id="{D02FEC03-D02B-433E-8BD2-F1D7DEE5173C}"/>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8AACA0"/>
                </a:solidFill>
                <a:latin typeface="Avenir Next"/>
                <a:ea typeface="Avenir Next"/>
                <a:cs typeface="Avenir Next"/>
              </a:defRPr>
            </a:pPr>
            <a:r>
              <a:rPr sz="975" b="1">
                <a:solidFill>
                  <a:srgbClr val="8AACA0"/>
                </a:solidFill>
                <a:latin typeface="Avenir Next"/>
                <a:ea typeface="Avenir Next"/>
                <a:cs typeface="Avenir Next"/>
              </a:rPr>
              <a:t>06</a:t>
            </a:r>
          </a:p>
        </p:txBody>
      </p:sp>
      <p:sp>
        <p:nvSpPr>
          <p:cNvPr id="3" name="">
            <a:extLst xmlns:a="http://schemas.openxmlformats.org/drawingml/2006/main">
              <a:ext uri="{FF2B5EF4-FFF2-40B4-BE49-F238E27FC236}">
                <a16:creationId xmlns:a16="http://schemas.microsoft.com/office/drawing/2014/main" id="{11C11454-33C4-457E-B590-BFA54E4064B7}"/>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24443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2EE99B4-54B6-4054-9947-C507F0632972}"/>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7227"/>
          </a:bodyPr>
          <a:lstStyle xmlns:a="http://schemas.openxmlformats.org/drawingml/2006/main"/>
          <a:p xmlns:a="http://schemas.openxmlformats.org/drawingml/2006/main">
            <a:pPr>
              <a:defRPr sz="3150" b="1">
                <a:solidFill>
                  <a:srgbClr val="EDFDF6"/>
                </a:solidFill>
                <a:latin typeface="Avenir Next"/>
                <a:ea typeface="Avenir Next"/>
                <a:cs typeface="Avenir Next"/>
              </a:defRPr>
            </a:pPr>
            <a:r>
              <a:rPr sz="3150" b="1">
                <a:solidFill>
                  <a:srgbClr val="EDFDF6"/>
                </a:solidFill>
                <a:latin typeface="Avenir Next"/>
                <a:ea typeface="Avenir Next"/>
                <a:cs typeface="Avenir Next"/>
              </a:rPr>
              <a:t>Fine-tuning improved underwater recall on held-out synthetic footage</a:t>
            </a:r>
          </a:p>
        </p:txBody>
      </p:sp>
      <p:graphicFrame>
        <p:nvGraphicFramePr>
          <p:cNvPr id="16" name="Chart"/>
          <p:cNvGraphicFramePr/>
          <p:nvPr/>
        </p:nvGraphicFramePr>
        <p:xfrm>
          <a:off xmlns:a="http://schemas.openxmlformats.org/drawingml/2006/main" x="552450" y="1809750"/>
          <a:ext xmlns:a="http://schemas.openxmlformats.org/drawingml/2006/main" cx="7524750" cy="3810000"/>
        </p:xfrm>
        <a:graphic xmlns:a="http://schemas.openxmlformats.org/drawingml/2006/main">
          <a:graphicData uri="http://schemas.openxmlformats.org/drawingml/2006/chart">
            <c:chart xmlns:r="http://schemas.openxmlformats.org/officeDocument/2006/relationships" xmlns:c="http://schemas.openxmlformats.org/drawingml/2006/chart" r:id="Rdff9ed7235974191"/>
          </a:graphicData>
        </a:graphic>
      </p:graphicFrame>
      <p:sp>
        <p:nvSpPr>
          <p:cNvPr id="6" name="">
            <a:extLst xmlns:a="http://schemas.openxmlformats.org/drawingml/2006/main">
              <a:ext uri="{FF2B5EF4-FFF2-40B4-BE49-F238E27FC236}">
                <a16:creationId xmlns:a16="http://schemas.microsoft.com/office/drawing/2014/main" id="{B93004FB-B32F-4663-9EF7-6384C946AF06}"/>
              </a:ext>
            </a:extLst>
          </p:cNvPr>
          <p:cNvSpPr>
            <a:spLocks xmlns:a="http://schemas.openxmlformats.org/drawingml/2006/main" noGrp="1"/>
          </p:cNvSpPr>
          <p:nvPr/>
        </p:nvSpPr>
        <p:spPr>
          <a:xfrm xmlns:a="http://schemas.openxmlformats.org/drawingml/2006/main">
            <a:off x="8591550" y="2076450"/>
            <a:ext cx="3048000" cy="1828800"/>
          </a:xfrm>
          <a:prstGeom xmlns:a="http://schemas.openxmlformats.org/drawingml/2006/main" prst="roundRect">
            <a:avLst>
              <a:gd name="adj" fmla="val 9375"/>
            </a:avLst>
          </a:prstGeom>
          <a:solidFill xmlns:a="http://schemas.openxmlformats.org/drawingml/2006/main">
            <a:srgbClr val="102822"/>
          </a:solidFill>
          <a:ln xmlns:a="http://schemas.openxmlformats.org/drawingml/2006/main" w="9525">
            <a:solidFill>
              <a:srgbClr val="24443A"/>
            </a:solidFill>
          </a:ln>
        </p:spPr>
      </p:sp>
      <p:sp>
        <p:nvSpPr>
          <p:cNvPr id="7" name="">
            <a:extLst xmlns:a="http://schemas.openxmlformats.org/drawingml/2006/main">
              <a:ext uri="{FF2B5EF4-FFF2-40B4-BE49-F238E27FC236}">
                <a16:creationId xmlns:a16="http://schemas.microsoft.com/office/drawing/2014/main" id="{9D38E77A-42EC-4158-8491-71B0D203A4DB}"/>
              </a:ext>
            </a:extLst>
          </p:cNvPr>
          <p:cNvSpPr>
            <a:spLocks xmlns:a="http://schemas.openxmlformats.org/drawingml/2006/main" noGrp="1"/>
          </p:cNvSpPr>
          <p:nvPr/>
        </p:nvSpPr>
        <p:spPr>
          <a:xfrm xmlns:a="http://schemas.openxmlformats.org/drawingml/2006/main">
            <a:off x="8858250" y="2266950"/>
            <a:ext cx="2476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000"/>
          </a:bodyPr>
          <a:lstStyle xmlns:a="http://schemas.openxmlformats.org/drawingml/2006/main"/>
          <a:p xmlns:a="http://schemas.openxmlformats.org/drawingml/2006/main">
            <a:pPr>
              <a:defRPr sz="3750" b="1">
                <a:solidFill>
                  <a:srgbClr val="41F28D"/>
                </a:solidFill>
                <a:latin typeface="Avenir Next"/>
                <a:ea typeface="Avenir Next"/>
                <a:cs typeface="Avenir Next"/>
              </a:defRPr>
            </a:pPr>
            <a:r>
              <a:rPr sz="3750" b="1">
                <a:solidFill>
                  <a:srgbClr val="41F28D"/>
                </a:solidFill>
                <a:latin typeface="Avenir Next"/>
                <a:ea typeface="Avenir Next"/>
                <a:cs typeface="Avenir Next"/>
              </a:rPr>
              <a:t>95%</a:t>
            </a:r>
          </a:p>
        </p:txBody>
      </p:sp>
      <p:sp>
        <p:nvSpPr>
          <p:cNvPr id="8" name="">
            <a:extLst xmlns:a="http://schemas.openxmlformats.org/drawingml/2006/main">
              <a:ext uri="{FF2B5EF4-FFF2-40B4-BE49-F238E27FC236}">
                <a16:creationId xmlns:a16="http://schemas.microsoft.com/office/drawing/2014/main" id="{123DE426-95F0-4DDA-9893-1FD6AB03BCCC}"/>
              </a:ext>
            </a:extLst>
          </p:cNvPr>
          <p:cNvSpPr>
            <a:spLocks xmlns:a="http://schemas.openxmlformats.org/drawingml/2006/main" noGrp="1"/>
          </p:cNvSpPr>
          <p:nvPr/>
        </p:nvSpPr>
        <p:spPr>
          <a:xfrm xmlns:a="http://schemas.openxmlformats.org/drawingml/2006/main">
            <a:off x="8877300" y="29051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196"/>
          </a:bodyPr>
          <a:lstStyle xmlns:a="http://schemas.openxmlformats.org/drawingml/2006/main"/>
          <a:p xmlns:a="http://schemas.openxmlformats.org/drawingml/2006/main">
            <a:pPr>
              <a:defRPr sz="1275" b="1">
                <a:solidFill>
                  <a:srgbClr val="EDFDF6"/>
                </a:solidFill>
                <a:latin typeface="Avenir Next"/>
                <a:ea typeface="Avenir Next"/>
                <a:cs typeface="Avenir Next"/>
              </a:defRPr>
            </a:pPr>
            <a:r>
              <a:rPr sz="1275" b="1">
                <a:solidFill>
                  <a:srgbClr val="EDFDF6"/>
                </a:solidFill>
                <a:latin typeface="Avenir Next"/>
                <a:ea typeface="Avenir Next"/>
                <a:cs typeface="Avenir Next"/>
              </a:rPr>
              <a:t>underwater recall</a:t>
            </a:r>
          </a:p>
        </p:txBody>
      </p:sp>
      <p:sp>
        <p:nvSpPr>
          <p:cNvPr id="9" name="">
            <a:extLst xmlns:a="http://schemas.openxmlformats.org/drawingml/2006/main">
              <a:ext uri="{FF2B5EF4-FFF2-40B4-BE49-F238E27FC236}">
                <a16:creationId xmlns:a16="http://schemas.microsoft.com/office/drawing/2014/main" id="{18BD0B27-2998-4EDB-8AE8-D8BEF0A8463A}"/>
              </a:ext>
            </a:extLst>
          </p:cNvPr>
          <p:cNvSpPr>
            <a:spLocks xmlns:a="http://schemas.openxmlformats.org/drawingml/2006/main" noGrp="1"/>
          </p:cNvSpPr>
          <p:nvPr/>
        </p:nvSpPr>
        <p:spPr>
          <a:xfrm xmlns:a="http://schemas.openxmlformats.org/drawingml/2006/main">
            <a:off x="8877300" y="3305175"/>
            <a:ext cx="2381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125" b="0">
                <a:solidFill>
                  <a:srgbClr val="8AACA0"/>
                </a:solidFill>
                <a:latin typeface="Avenir Next"/>
                <a:ea typeface="Avenir Next"/>
                <a:cs typeface="Avenir Next"/>
              </a:defRPr>
            </a:pPr>
            <a:r>
              <a:rPr sz="1125" b="0">
                <a:solidFill>
                  <a:srgbClr val="8AACA0"/>
                </a:solidFill>
                <a:latin typeface="Avenir Next"/>
                <a:ea typeface="Avenir Next"/>
                <a:cs typeface="Avenir Next"/>
              </a:rPr>
              <a:t>Precision: 95%</a:t>
            </a:r>
          </a:p>
          <a:p xmlns:a="http://schemas.openxmlformats.org/drawingml/2006/main">
            <a:pPr>
              <a:defRPr sz="1125" b="0">
                <a:solidFill>
                  <a:srgbClr val="8AACA0"/>
                </a:solidFill>
                <a:latin typeface="Avenir Next"/>
                <a:ea typeface="Avenir Next"/>
                <a:cs typeface="Avenir Next"/>
              </a:defRPr>
            </a:pPr>
            <a:r>
              <a:rPr sz="1125" b="0">
                <a:solidFill>
                  <a:srgbClr val="8AACA0"/>
                </a:solidFill>
                <a:latin typeface="Avenir Next"/>
                <a:ea typeface="Avenir Next"/>
                <a:cs typeface="Avenir Next"/>
              </a:rPr>
              <a:t>261 Isaac training frames</a:t>
            </a:r>
          </a:p>
          <a:p xmlns:a="http://schemas.openxmlformats.org/drawingml/2006/main">
            <a:pPr>
              <a:defRPr sz="1125" b="0">
                <a:solidFill>
                  <a:srgbClr val="8AACA0"/>
                </a:solidFill>
                <a:latin typeface="Avenir Next"/>
                <a:ea typeface="Avenir Next"/>
                <a:cs typeface="Avenir Next"/>
              </a:defRPr>
            </a:pPr>
            <a:r>
              <a:rPr sz="1125" b="0">
                <a:solidFill>
                  <a:srgbClr val="8AACA0"/>
                </a:solidFill>
                <a:latin typeface="Avenir Next"/>
                <a:ea typeface="Avenir Next"/>
                <a:cs typeface="Avenir Next"/>
              </a:rPr>
              <a:t>Held-out seed-0 clip</a:t>
            </a:r>
          </a:p>
        </p:txBody>
      </p:sp>
      <p:sp>
        <p:nvSpPr>
          <p:cNvPr id="10" name="">
            <a:extLst xmlns:a="http://schemas.openxmlformats.org/drawingml/2006/main">
              <a:ext uri="{FF2B5EF4-FFF2-40B4-BE49-F238E27FC236}">
                <a16:creationId xmlns:a16="http://schemas.microsoft.com/office/drawing/2014/main" id="{62DA0B45-2C9D-4D83-8FD3-E21755DE85A6}"/>
              </a:ext>
            </a:extLst>
          </p:cNvPr>
          <p:cNvSpPr>
            <a:spLocks xmlns:a="http://schemas.openxmlformats.org/drawingml/2006/main" noGrp="1"/>
          </p:cNvSpPr>
          <p:nvPr/>
        </p:nvSpPr>
        <p:spPr>
          <a:xfrm xmlns:a="http://schemas.openxmlformats.org/drawingml/2006/main">
            <a:off x="8591550" y="4381500"/>
            <a:ext cx="304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275" b="1">
                <a:solidFill>
                  <a:srgbClr val="FFD447"/>
                </a:solidFill>
                <a:latin typeface="Avenir Next"/>
                <a:ea typeface="Avenir Next"/>
                <a:cs typeface="Avenir Next"/>
              </a:defRPr>
            </a:pPr>
            <a:r>
              <a:rPr sz="1275" b="1">
                <a:solidFill>
                  <a:srgbClr val="FFD447"/>
                </a:solidFill>
                <a:latin typeface="Avenir Next"/>
                <a:ea typeface="Avenir Next"/>
                <a:cs typeface="Avenir Next"/>
              </a:rPr>
              <a:t>Synthetic-only result. Same scene and character set. This validates the pipeline, not real-world accuracy.</a:t>
            </a:r>
          </a:p>
        </p:txBody>
      </p:sp>
      <p:sp>
        <p:nvSpPr>
          <p:cNvPr id="11" name="">
            <a:extLst xmlns:a="http://schemas.openxmlformats.org/drawingml/2006/main">
              <a:ext uri="{FF2B5EF4-FFF2-40B4-BE49-F238E27FC236}">
                <a16:creationId xmlns:a16="http://schemas.microsoft.com/office/drawing/2014/main" id="{7449907D-05ED-4401-856A-E3C18403A9FC}"/>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8AACA0"/>
                </a:solidFill>
                <a:latin typeface="Avenir Next"/>
                <a:ea typeface="Avenir Next"/>
                <a:cs typeface="Avenir Next"/>
              </a:defRPr>
            </a:pPr>
            <a:r>
              <a:rPr sz="675" b="0">
                <a:solidFill>
                  <a:srgbClr val="8AACA0"/>
                </a:solidFill>
                <a:latin typeface="Avenir Next"/>
                <a:ea typeface="Avenir Next"/>
                <a:cs typeface="Avenir Next"/>
              </a:rPr>
              <a:t>HELD-OUT ISAAC SIM CLIP · 526 BOXES WITH HEAD FULLY UNDER WATER</a:t>
            </a:r>
          </a:p>
        </p:txBody>
      </p:sp>
    </p:spTree>
    <p:extLst>
      <p:ext uri="{BB962C8B-B14F-4D97-AF65-F5344CB8AC3E}">
        <p14:creationId xmlns:p14="http://schemas.microsoft.com/office/powerpoint/2010/main" val="760084019"/>
      </p:ext>
    </p:extLst>
  </p:cSld>
</p:sld>
</file>

<file path=ppt/slides/slide7.xml><?xml version="1.0" encoding="utf-8"?>
<p:sld xmlns:p="http://schemas.openxmlformats.org/presentationml/2006/main">
  <p:cSld>
    <p:bg>
      <p:bgPr>
        <a:solidFill xmlns:a="http://schemas.openxmlformats.org/drawingml/2006/main">
          <a:srgbClr val="071411"/>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0973D26-A008-47A9-A207-C78A7CDCA660}"/>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41F28D"/>
                </a:solidFill>
                <a:latin typeface="Avenir Next"/>
                <a:ea typeface="Avenir Next"/>
                <a:cs typeface="Avenir Next"/>
              </a:defRPr>
            </a:pPr>
            <a:r>
              <a:rPr sz="975" b="1">
                <a:solidFill>
                  <a:srgbClr val="41F28D"/>
                </a:solidFill>
                <a:latin typeface="Avenir Next"/>
                <a:ea typeface="Avenir Next"/>
                <a:cs typeface="Avenir Next"/>
              </a:rPr>
              <a:t>TRACKING</a:t>
            </a:r>
          </a:p>
        </p:txBody>
      </p:sp>
      <p:sp>
        <p:nvSpPr>
          <p:cNvPr id="2" name="">
            <a:extLst xmlns:a="http://schemas.openxmlformats.org/drawingml/2006/main">
              <a:ext uri="{FF2B5EF4-FFF2-40B4-BE49-F238E27FC236}">
                <a16:creationId xmlns:a16="http://schemas.microsoft.com/office/drawing/2014/main" id="{F064F0E1-40A5-40B3-ACE5-663D0CE5932A}"/>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8AACA0"/>
                </a:solidFill>
                <a:latin typeface="Avenir Next"/>
                <a:ea typeface="Avenir Next"/>
                <a:cs typeface="Avenir Next"/>
              </a:defRPr>
            </a:pPr>
            <a:r>
              <a:rPr sz="975" b="1">
                <a:solidFill>
                  <a:srgbClr val="8AACA0"/>
                </a:solidFill>
                <a:latin typeface="Avenir Next"/>
                <a:ea typeface="Avenir Next"/>
                <a:cs typeface="Avenir Next"/>
              </a:rPr>
              <a:t>07</a:t>
            </a:r>
          </a:p>
        </p:txBody>
      </p:sp>
      <p:sp>
        <p:nvSpPr>
          <p:cNvPr id="3" name="">
            <a:extLst xmlns:a="http://schemas.openxmlformats.org/drawingml/2006/main">
              <a:ext uri="{FF2B5EF4-FFF2-40B4-BE49-F238E27FC236}">
                <a16:creationId xmlns:a16="http://schemas.microsoft.com/office/drawing/2014/main" id="{5E64D280-EF61-4C26-B8E5-EF4A333D5476}"/>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24443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649BFCC3-2EBB-4844-9C4D-85CFC1B16836}"/>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806"/>
          </a:bodyPr>
          <a:lstStyle xmlns:a="http://schemas.openxmlformats.org/drawingml/2006/main"/>
          <a:p xmlns:a="http://schemas.openxmlformats.org/drawingml/2006/main">
            <a:pPr>
              <a:defRPr sz="3150" b="1">
                <a:solidFill>
                  <a:srgbClr val="EDFDF6"/>
                </a:solidFill>
                <a:latin typeface="Avenir Next"/>
                <a:ea typeface="Avenir Next"/>
                <a:cs typeface="Avenir Next"/>
              </a:defRPr>
            </a:pPr>
            <a:r>
              <a:rPr sz="3150" b="1">
                <a:solidFill>
                  <a:srgbClr val="EDFDF6"/>
                </a:solidFill>
                <a:latin typeface="Avenir Next"/>
                <a:ea typeface="Avenir Next"/>
                <a:cs typeface="Avenir Next"/>
              </a:rPr>
              <a:t>A strong detector still failed when the identity changed</a:t>
            </a:r>
          </a:p>
        </p:txBody>
      </p:sp>
      <p:sp>
        <p:nvSpPr>
          <p:cNvPr id="5" name="">
            <a:extLst xmlns:a="http://schemas.openxmlformats.org/drawingml/2006/main">
              <a:ext uri="{FF2B5EF4-FFF2-40B4-BE49-F238E27FC236}">
                <a16:creationId xmlns:a16="http://schemas.microsoft.com/office/drawing/2014/main" id="{900777E2-63A7-436F-9E70-CB929D08DBB4}"/>
              </a:ext>
            </a:extLst>
          </p:cNvPr>
          <p:cNvSpPr>
            <a:spLocks xmlns:a="http://schemas.openxmlformats.org/drawingml/2006/main" noGrp="1"/>
          </p:cNvSpPr>
          <p:nvPr/>
        </p:nvSpPr>
        <p:spPr>
          <a:xfrm xmlns:a="http://schemas.openxmlformats.org/drawingml/2006/main">
            <a:off x="552450" y="1743075"/>
            <a:ext cx="1238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29"/>
          </a:bodyPr>
          <a:lstStyle xmlns:a="http://schemas.openxmlformats.org/drawingml/2006/main"/>
          <a:p xmlns:a="http://schemas.openxmlformats.org/drawingml/2006/main">
            <a:pPr>
              <a:defRPr sz="4350" b="1">
                <a:solidFill>
                  <a:srgbClr val="FF4E5C"/>
                </a:solidFill>
                <a:latin typeface="Avenir Next"/>
                <a:ea typeface="Avenir Next"/>
                <a:cs typeface="Avenir Next"/>
              </a:defRPr>
            </a:pPr>
            <a:r>
              <a:rPr sz="4350" b="1">
                <a:solidFill>
                  <a:srgbClr val="FF4E5C"/>
                </a:solidFill>
                <a:latin typeface="Avenir Next"/>
                <a:ea typeface="Avenir Next"/>
                <a:cs typeface="Avenir Next"/>
              </a:rPr>
              <a:t>18</a:t>
            </a:r>
          </a:p>
        </p:txBody>
      </p:sp>
      <p:sp>
        <p:nvSpPr>
          <p:cNvPr id="6" name="">
            <a:extLst xmlns:a="http://schemas.openxmlformats.org/drawingml/2006/main">
              <a:ext uri="{FF2B5EF4-FFF2-40B4-BE49-F238E27FC236}">
                <a16:creationId xmlns:a16="http://schemas.microsoft.com/office/drawing/2014/main" id="{983C75E6-7E32-4CA6-9950-6B07033CF9A4}"/>
              </a:ext>
            </a:extLst>
          </p:cNvPr>
          <p:cNvSpPr>
            <a:spLocks xmlns:a="http://schemas.openxmlformats.org/drawingml/2006/main" noGrp="1"/>
          </p:cNvSpPr>
          <p:nvPr/>
        </p:nvSpPr>
        <p:spPr>
          <a:xfrm xmlns:a="http://schemas.openxmlformats.org/drawingml/2006/main">
            <a:off x="1752600" y="1876425"/>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EDFDF6"/>
                </a:solidFill>
                <a:latin typeface="Avenir Next"/>
                <a:ea typeface="Avenir Next"/>
                <a:cs typeface="Avenir Next"/>
              </a:defRPr>
            </a:pPr>
            <a:r>
              <a:rPr sz="1500" b="1">
                <a:solidFill>
                  <a:srgbClr val="EDFDF6"/>
                </a:solidFill>
                <a:latin typeface="Avenir Next"/>
                <a:ea typeface="Avenir Next"/>
                <a:cs typeface="Avenir Next"/>
              </a:rPr>
              <a:t>IDs for four people</a:t>
            </a:r>
          </a:p>
        </p:txBody>
      </p:sp>
      <p:sp>
        <p:nvSpPr>
          <p:cNvPr id="7" name="">
            <a:extLst xmlns:a="http://schemas.openxmlformats.org/drawingml/2006/main">
              <a:ext uri="{FF2B5EF4-FFF2-40B4-BE49-F238E27FC236}">
                <a16:creationId xmlns:a16="http://schemas.microsoft.com/office/drawing/2014/main" id="{569CE5A8-0217-4C7D-8E3F-52C2D044CE2A}"/>
              </a:ext>
            </a:extLst>
          </p:cNvPr>
          <p:cNvSpPr>
            <a:spLocks xmlns:a="http://schemas.openxmlformats.org/drawingml/2006/main" noGrp="1"/>
          </p:cNvSpPr>
          <p:nvPr/>
        </p:nvSpPr>
        <p:spPr>
          <a:xfrm xmlns:a="http://schemas.openxmlformats.org/drawingml/2006/main">
            <a:off x="4391025" y="1876425"/>
            <a:ext cx="85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0">
                <a:solidFill>
                  <a:srgbClr val="8AACA0"/>
                </a:solidFill>
                <a:latin typeface="Avenir Next"/>
                <a:ea typeface="Avenir Next"/>
                <a:cs typeface="Avenir Next"/>
              </a:defRPr>
            </a:pPr>
            <a:r>
              <a:rPr sz="1350" b="0">
                <a:solidFill>
                  <a:srgbClr val="8AACA0"/>
                </a:solidFill>
                <a:latin typeface="Avenir Next"/>
                <a:ea typeface="Avenir Next"/>
                <a:cs typeface="Avenir Next"/>
              </a:rPr>
              <a:t>became</a:t>
            </a:r>
          </a:p>
        </p:txBody>
      </p:sp>
      <p:sp>
        <p:nvSpPr>
          <p:cNvPr id="8" name="">
            <a:extLst xmlns:a="http://schemas.openxmlformats.org/drawingml/2006/main">
              <a:ext uri="{FF2B5EF4-FFF2-40B4-BE49-F238E27FC236}">
                <a16:creationId xmlns:a16="http://schemas.microsoft.com/office/drawing/2014/main" id="{2A9D04CD-2745-4D32-B68E-6D72BD325F0A}"/>
              </a:ext>
            </a:extLst>
          </p:cNvPr>
          <p:cNvSpPr>
            <a:spLocks xmlns:a="http://schemas.openxmlformats.org/drawingml/2006/main" noGrp="1"/>
          </p:cNvSpPr>
          <p:nvPr/>
        </p:nvSpPr>
        <p:spPr>
          <a:xfrm xmlns:a="http://schemas.openxmlformats.org/drawingml/2006/main">
            <a:off x="5524500" y="1743075"/>
            <a:ext cx="876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529"/>
          </a:bodyPr>
          <a:lstStyle xmlns:a="http://schemas.openxmlformats.org/drawingml/2006/main"/>
          <a:p xmlns:a="http://schemas.openxmlformats.org/drawingml/2006/main">
            <a:pPr>
              <a:defRPr sz="4350" b="1">
                <a:solidFill>
                  <a:srgbClr val="41F28D"/>
                </a:solidFill>
                <a:latin typeface="Avenir Next"/>
                <a:ea typeface="Avenir Next"/>
                <a:cs typeface="Avenir Next"/>
              </a:defRPr>
            </a:pPr>
            <a:r>
              <a:rPr sz="4350" b="1">
                <a:solidFill>
                  <a:srgbClr val="41F28D"/>
                </a:solidFill>
                <a:latin typeface="Avenir Next"/>
                <a:ea typeface="Avenir Next"/>
                <a:cs typeface="Avenir Next"/>
              </a:rPr>
              <a:t>4</a:t>
            </a:r>
          </a:p>
        </p:txBody>
      </p:sp>
      <p:sp>
        <p:nvSpPr>
          <p:cNvPr id="9" name="">
            <a:extLst xmlns:a="http://schemas.openxmlformats.org/drawingml/2006/main">
              <a:ext uri="{FF2B5EF4-FFF2-40B4-BE49-F238E27FC236}">
                <a16:creationId xmlns:a16="http://schemas.microsoft.com/office/drawing/2014/main" id="{119BDB5D-97F5-40ED-84D6-9E66FF827075}"/>
              </a:ext>
            </a:extLst>
          </p:cNvPr>
          <p:cNvSpPr>
            <a:spLocks xmlns:a="http://schemas.openxmlformats.org/drawingml/2006/main" noGrp="1"/>
          </p:cNvSpPr>
          <p:nvPr/>
        </p:nvSpPr>
        <p:spPr>
          <a:xfrm xmlns:a="http://schemas.openxmlformats.org/drawingml/2006/main">
            <a:off x="6400800" y="1876425"/>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EDFDF6"/>
                </a:solidFill>
                <a:latin typeface="Avenir Next"/>
                <a:ea typeface="Avenir Next"/>
                <a:cs typeface="Avenir Next"/>
              </a:defRPr>
            </a:pPr>
            <a:r>
              <a:rPr sz="1500" b="1">
                <a:solidFill>
                  <a:srgbClr val="EDFDF6"/>
                </a:solidFill>
                <a:latin typeface="Avenir Next"/>
                <a:ea typeface="Avenir Next"/>
                <a:cs typeface="Avenir Next"/>
              </a:rPr>
              <a:t>IDs with zero switches</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828a4db6ceb64d62"/>
          <a:stretch xmlns:a="http://schemas.openxmlformats.org/drawingml/2006/main"/>
        </p:blipFill>
        <p:spPr>
          <a:xfrm xmlns:a="http://schemas.openxmlformats.org/drawingml/2006/main">
            <a:off x="1016000" y="2724150"/>
            <a:ext cx="10160000" cy="2857500"/>
          </a:xfrm>
          <a:prstGeom xmlns:a="http://schemas.openxmlformats.org/drawingml/2006/main" prst="roundRect">
            <a:avLst>
              <a:gd name="adj" fmla="val 4667"/>
            </a:avLst>
          </a:prstGeom>
        </p:spPr>
      </p:pic>
      <p:sp>
        <p:nvSpPr>
          <p:cNvPr id="11" name="">
            <a:extLst xmlns:a="http://schemas.openxmlformats.org/drawingml/2006/main">
              <a:ext uri="{FF2B5EF4-FFF2-40B4-BE49-F238E27FC236}">
                <a16:creationId xmlns:a16="http://schemas.microsoft.com/office/drawing/2014/main" id="{EF32729F-FC0A-42C2-9414-C83CD1E89C5B}"/>
              </a:ext>
            </a:extLst>
          </p:cNvPr>
          <p:cNvSpPr>
            <a:spLocks xmlns:a="http://schemas.openxmlformats.org/drawingml/2006/main" noGrp="1"/>
          </p:cNvSpPr>
          <p:nvPr/>
        </p:nvSpPr>
        <p:spPr>
          <a:xfrm xmlns:a="http://schemas.openxmlformats.org/drawingml/2006/main">
            <a:off x="723900" y="2876550"/>
            <a:ext cx="2095500" cy="266700"/>
          </a:xfrm>
          <a:prstGeom xmlns:a="http://schemas.openxmlformats.org/drawingml/2006/main" prst="roundRect">
            <a:avLst>
              <a:gd name="adj" fmla="val 17857"/>
            </a:avLst>
          </a:prstGeom>
          <a:solidFill xmlns:a="http://schemas.openxmlformats.org/drawingml/2006/main">
            <a:srgbClr val="071411"/>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EDFDF6"/>
                </a:solidFill>
                <a:latin typeface="Avenir Next"/>
                <a:ea typeface="Avenir Next"/>
                <a:cs typeface="Avenir Next"/>
              </a:defRPr>
            </a:pPr>
            <a:r>
              <a:rPr sz="900" b="1">
                <a:solidFill>
                  <a:srgbClr val="EDFDF6"/>
                </a:solidFill>
                <a:latin typeface="Avenir Next"/>
                <a:ea typeface="Avenir Next"/>
                <a:cs typeface="Avenir Next"/>
              </a:rPr>
              <a:t>DEFAULT TRACKER</a:t>
            </a:r>
          </a:p>
        </p:txBody>
      </p:sp>
      <p:sp>
        <p:nvSpPr>
          <p:cNvPr id="12" name="">
            <a:extLst xmlns:a="http://schemas.openxmlformats.org/drawingml/2006/main">
              <a:ext uri="{FF2B5EF4-FFF2-40B4-BE49-F238E27FC236}">
                <a16:creationId xmlns:a16="http://schemas.microsoft.com/office/drawing/2014/main" id="{3D2B2138-9176-4C0E-B438-45EABE137804}"/>
              </a:ext>
            </a:extLst>
          </p:cNvPr>
          <p:cNvSpPr>
            <a:spLocks xmlns:a="http://schemas.openxmlformats.org/drawingml/2006/main" noGrp="1"/>
          </p:cNvSpPr>
          <p:nvPr/>
        </p:nvSpPr>
        <p:spPr>
          <a:xfrm xmlns:a="http://schemas.openxmlformats.org/drawingml/2006/main">
            <a:off x="6400800" y="2876550"/>
            <a:ext cx="2781300" cy="266700"/>
          </a:xfrm>
          <a:prstGeom xmlns:a="http://schemas.openxmlformats.org/drawingml/2006/main" prst="roundRect">
            <a:avLst>
              <a:gd name="adj" fmla="val 17857"/>
            </a:avLst>
          </a:prstGeom>
          <a:solidFill xmlns:a="http://schemas.openxmlformats.org/drawingml/2006/main">
            <a:srgbClr val="071411"/>
          </a:solidFill>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41F28D"/>
                </a:solidFill>
                <a:latin typeface="Avenir Next"/>
                <a:ea typeface="Avenir Next"/>
                <a:cs typeface="Avenir Next"/>
              </a:defRPr>
            </a:pPr>
            <a:r>
              <a:rPr sz="900" b="1">
                <a:solidFill>
                  <a:srgbClr val="41F28D"/>
                </a:solidFill>
                <a:latin typeface="Avenir Next"/>
                <a:ea typeface="Avenir Next"/>
                <a:cs typeface="Avenir Next"/>
              </a:rPr>
              <a:t>BOX CLEANUP + ID STITCHING</a:t>
            </a:r>
          </a:p>
        </p:txBody>
      </p:sp>
      <p:sp>
        <p:nvSpPr>
          <p:cNvPr id="13" name="">
            <a:extLst xmlns:a="http://schemas.openxmlformats.org/drawingml/2006/main">
              <a:ext uri="{FF2B5EF4-FFF2-40B4-BE49-F238E27FC236}">
                <a16:creationId xmlns:a16="http://schemas.microsoft.com/office/drawing/2014/main" id="{6EFB6826-ABC5-4840-9108-225E6FE4CDC6}"/>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8AACA0"/>
                </a:solidFill>
                <a:latin typeface="Avenir Next"/>
                <a:ea typeface="Avenir Next"/>
                <a:cs typeface="Avenir Next"/>
              </a:defRPr>
            </a:pPr>
            <a:r>
              <a:rPr sz="675" b="0">
                <a:solidFill>
                  <a:srgbClr val="8AACA0"/>
                </a:solidFill>
                <a:latin typeface="Avenir Next"/>
                <a:ea typeface="Avenir Next"/>
                <a:cs typeface="Avenir Next"/>
              </a:rPr>
              <a:t>FIVE MUJOCO SCENARIOS · SYNTHETIC ONLY</a:t>
            </a:r>
          </a:p>
        </p:txBody>
      </p:sp>
    </p:spTree>
    <p:extLst>
      <p:ext uri="{BB962C8B-B14F-4D97-AF65-F5344CB8AC3E}">
        <p14:creationId xmlns:p14="http://schemas.microsoft.com/office/powerpoint/2010/main" val="426054633"/>
      </p:ext>
    </p:extLst>
  </p:cSld>
</p:sld>
</file>

<file path=ppt/slides/slide8.xml><?xml version="1.0" encoding="utf-8"?>
<p:sld xmlns:p="http://schemas.openxmlformats.org/presentationml/2006/main">
  <p:cSld>
    <p:bg>
      <p:bgPr>
        <a:solidFill xmlns:a="http://schemas.openxmlformats.org/drawingml/2006/main">
          <a:srgbClr val="071411"/>
        </a:solidFill>
      </p:bgPr>
    </p:bg>
    <p:spTree>
      <p:nvGrpSpPr>
        <p:cNvPr id="1" name=""/>
        <p:cNvGrpSpPr/>
        <p:nvPr/>
      </p:nvGrpSpPr>
      <p:grpSpPr>
        <a:xfrm xmlns:a="http://schemas.openxmlformats.org/drawingml/2006/main"/>
      </p:grpSpPr>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76a4485e09484f4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7026EDD-3A8D-40CF-BBC2-5A5396C634EE}"/>
              </a:ext>
            </a:extLst>
          </p:cNvPr>
          <p:cNvSpPr>
            <a:spLocks xmlns:a="http://schemas.openxmlformats.org/drawingml/2006/main" noGrp="1"/>
          </p:cNvSpPr>
          <p:nvPr/>
        </p:nvSpPr>
        <p:spPr>
          <a:xfrm xmlns:a="http://schemas.openxmlformats.org/drawingml/2006/main">
            <a:off x="0" y="0"/>
            <a:ext cx="6191250" cy="6858000"/>
          </a:xfrm>
          <a:prstGeom xmlns:a="http://schemas.openxmlformats.org/drawingml/2006/main" prst="rect">
            <a:avLst/>
          </a:prstGeom>
          <a:solidFill xmlns:a="http://schemas.openxmlformats.org/drawingml/2006/main">
            <a:srgbClr val="071411"/>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B881B8F-2730-4F2D-B38C-8960D618BE4D}"/>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41F28D"/>
                </a:solidFill>
                <a:latin typeface="Avenir Next"/>
                <a:ea typeface="Avenir Next"/>
                <a:cs typeface="Avenir Next"/>
              </a:defRPr>
            </a:pPr>
            <a:r>
              <a:rPr sz="975" b="1">
                <a:solidFill>
                  <a:srgbClr val="41F28D"/>
                </a:solidFill>
                <a:latin typeface="Avenir Next"/>
                <a:ea typeface="Avenir Next"/>
                <a:cs typeface="Avenir Next"/>
              </a:rPr>
              <a:t>CAMERA INTEGRATION</a:t>
            </a:r>
          </a:p>
        </p:txBody>
      </p:sp>
      <p:sp>
        <p:nvSpPr>
          <p:cNvPr id="4" name="">
            <a:extLst xmlns:a="http://schemas.openxmlformats.org/drawingml/2006/main">
              <a:ext uri="{FF2B5EF4-FFF2-40B4-BE49-F238E27FC236}">
                <a16:creationId xmlns:a16="http://schemas.microsoft.com/office/drawing/2014/main" id="{3F1B0F3B-498A-402D-9840-FE41458EB46C}"/>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8AACA0"/>
                </a:solidFill>
                <a:latin typeface="Avenir Next"/>
                <a:ea typeface="Avenir Next"/>
                <a:cs typeface="Avenir Next"/>
              </a:defRPr>
            </a:pPr>
            <a:r>
              <a:rPr sz="975" b="1">
                <a:solidFill>
                  <a:srgbClr val="8AACA0"/>
                </a:solidFill>
                <a:latin typeface="Avenir Next"/>
                <a:ea typeface="Avenir Next"/>
                <a:cs typeface="Avenir Next"/>
              </a:rPr>
              <a:t>08</a:t>
            </a:r>
          </a:p>
        </p:txBody>
      </p:sp>
      <p:sp>
        <p:nvSpPr>
          <p:cNvPr id="5" name="">
            <a:extLst xmlns:a="http://schemas.openxmlformats.org/drawingml/2006/main">
              <a:ext uri="{FF2B5EF4-FFF2-40B4-BE49-F238E27FC236}">
                <a16:creationId xmlns:a16="http://schemas.microsoft.com/office/drawing/2014/main" id="{2237EFB1-50A9-456B-AF03-6D62362294E2}"/>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24443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2924B49-47CC-41C2-BD8A-9A37D66CC359}"/>
              </a:ext>
            </a:extLst>
          </p:cNvPr>
          <p:cNvSpPr>
            <a:spLocks xmlns:a="http://schemas.openxmlformats.org/drawingml/2006/main" noGrp="1"/>
          </p:cNvSpPr>
          <p:nvPr/>
        </p:nvSpPr>
        <p:spPr>
          <a:xfrm xmlns:a="http://schemas.openxmlformats.org/drawingml/2006/main">
            <a:off x="552450" y="914400"/>
            <a:ext cx="5334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5873"/>
          </a:bodyPr>
          <a:lstStyle xmlns:a="http://schemas.openxmlformats.org/drawingml/2006/main"/>
          <a:p xmlns:a="http://schemas.openxmlformats.org/drawingml/2006/main">
            <a:pPr>
              <a:defRPr sz="3150" b="1">
                <a:solidFill>
                  <a:srgbClr val="EDFDF6"/>
                </a:solidFill>
                <a:latin typeface="Avenir Next"/>
                <a:ea typeface="Avenir Next"/>
                <a:cs typeface="Avenir Next"/>
              </a:defRPr>
            </a:pPr>
            <a:r>
              <a:rPr sz="3150" b="1">
                <a:solidFill>
                  <a:srgbClr val="EDFDF6"/>
                </a:solidFill>
                <a:latin typeface="Avenir Next"/>
                <a:ea typeface="Avenir Next"/>
                <a:cs typeface="Avenir Next"/>
              </a:rPr>
              <a:t>One source adapter supports local video today and camera APIs later</a:t>
            </a:r>
          </a:p>
        </p:txBody>
      </p:sp>
      <p:sp>
        <p:nvSpPr>
          <p:cNvPr id="7" name="">
            <a:extLst xmlns:a="http://schemas.openxmlformats.org/drawingml/2006/main">
              <a:ext uri="{FF2B5EF4-FFF2-40B4-BE49-F238E27FC236}">
                <a16:creationId xmlns:a16="http://schemas.microsoft.com/office/drawing/2014/main" id="{99F16BCE-1FFC-40F9-8720-C20E4731DC33}"/>
              </a:ext>
            </a:extLst>
          </p:cNvPr>
          <p:cNvSpPr>
            <a:spLocks xmlns:a="http://schemas.openxmlformats.org/drawingml/2006/main" noGrp="1"/>
          </p:cNvSpPr>
          <p:nvPr/>
        </p:nvSpPr>
        <p:spPr>
          <a:xfrm xmlns:a="http://schemas.openxmlformats.org/drawingml/2006/main">
            <a:off x="552450" y="278130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41F28D"/>
                </a:solidFill>
                <a:latin typeface="Avenir Next"/>
                <a:ea typeface="Avenir Next"/>
                <a:cs typeface="Avenir Next"/>
              </a:defRPr>
            </a:pPr>
            <a:r>
              <a:rPr sz="750" b="1">
                <a:solidFill>
                  <a:srgbClr val="41F28D"/>
                </a:solidFill>
                <a:latin typeface="Avenir Next"/>
                <a:ea typeface="Avenir Next"/>
                <a:cs typeface="Avenir Next"/>
              </a:rPr>
              <a:t>NOW</a:t>
            </a:r>
          </a:p>
        </p:txBody>
      </p:sp>
      <p:sp>
        <p:nvSpPr>
          <p:cNvPr id="8" name="">
            <a:extLst xmlns:a="http://schemas.openxmlformats.org/drawingml/2006/main">
              <a:ext uri="{FF2B5EF4-FFF2-40B4-BE49-F238E27FC236}">
                <a16:creationId xmlns:a16="http://schemas.microsoft.com/office/drawing/2014/main" id="{BD7BC74A-5379-4A3F-8171-D9328FEF13F4}"/>
              </a:ext>
            </a:extLst>
          </p:cNvPr>
          <p:cNvSpPr>
            <a:spLocks xmlns:a="http://schemas.openxmlformats.org/drawingml/2006/main" noGrp="1"/>
          </p:cNvSpPr>
          <p:nvPr/>
        </p:nvSpPr>
        <p:spPr>
          <a:xfrm xmlns:a="http://schemas.openxmlformats.org/drawingml/2006/main">
            <a:off x="1390650" y="273367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EDFDF6"/>
                </a:solidFill>
                <a:latin typeface="Avenir Next"/>
                <a:ea typeface="Avenir Next"/>
                <a:cs typeface="Avenir Next"/>
              </a:defRPr>
            </a:pPr>
            <a:r>
              <a:rPr sz="1500" b="1">
                <a:solidFill>
                  <a:srgbClr val="EDFDF6"/>
                </a:solidFill>
                <a:latin typeface="Avenir Next"/>
                <a:ea typeface="Avenir Next"/>
                <a:cs typeface="Avenir Next"/>
              </a:rPr>
              <a:t>Uploaded video</a:t>
            </a:r>
          </a:p>
        </p:txBody>
      </p:sp>
      <p:sp>
        <p:nvSpPr>
          <p:cNvPr id="9" name="">
            <a:extLst xmlns:a="http://schemas.openxmlformats.org/drawingml/2006/main">
              <a:ext uri="{FF2B5EF4-FFF2-40B4-BE49-F238E27FC236}">
                <a16:creationId xmlns:a16="http://schemas.microsoft.com/office/drawing/2014/main" id="{09473308-3E28-4BCF-844B-AA2FBC3E2F7A}"/>
              </a:ext>
            </a:extLst>
          </p:cNvPr>
          <p:cNvSpPr>
            <a:spLocks xmlns:a="http://schemas.openxmlformats.org/drawingml/2006/main" noGrp="1"/>
          </p:cNvSpPr>
          <p:nvPr/>
        </p:nvSpPr>
        <p:spPr>
          <a:xfrm xmlns:a="http://schemas.openxmlformats.org/drawingml/2006/main">
            <a:off x="552450" y="3362325"/>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FFD447"/>
                </a:solidFill>
                <a:latin typeface="Avenir Next"/>
                <a:ea typeface="Avenir Next"/>
                <a:cs typeface="Avenir Next"/>
              </a:defRPr>
            </a:pPr>
            <a:r>
              <a:rPr sz="750" b="1">
                <a:solidFill>
                  <a:srgbClr val="FFD447"/>
                </a:solidFill>
                <a:latin typeface="Avenir Next"/>
                <a:ea typeface="Avenir Next"/>
                <a:cs typeface="Avenir Next"/>
              </a:rPr>
              <a:t>NEXT</a:t>
            </a:r>
          </a:p>
        </p:txBody>
      </p:sp>
      <p:sp>
        <p:nvSpPr>
          <p:cNvPr id="10" name="">
            <a:extLst xmlns:a="http://schemas.openxmlformats.org/drawingml/2006/main">
              <a:ext uri="{FF2B5EF4-FFF2-40B4-BE49-F238E27FC236}">
                <a16:creationId xmlns:a16="http://schemas.microsoft.com/office/drawing/2014/main" id="{E644C28C-A08A-488E-AE9E-3CC958BBBA6E}"/>
              </a:ext>
            </a:extLst>
          </p:cNvPr>
          <p:cNvSpPr>
            <a:spLocks xmlns:a="http://schemas.openxmlformats.org/drawingml/2006/main" noGrp="1"/>
          </p:cNvSpPr>
          <p:nvPr/>
        </p:nvSpPr>
        <p:spPr>
          <a:xfrm xmlns:a="http://schemas.openxmlformats.org/drawingml/2006/main">
            <a:off x="1390650" y="331470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EDFDF6"/>
                </a:solidFill>
                <a:latin typeface="Avenir Next"/>
                <a:ea typeface="Avenir Next"/>
                <a:cs typeface="Avenir Next"/>
              </a:defRPr>
            </a:pPr>
            <a:r>
              <a:rPr sz="1500" b="1">
                <a:solidFill>
                  <a:srgbClr val="EDFDF6"/>
                </a:solidFill>
                <a:latin typeface="Avenir Next"/>
                <a:ea typeface="Avenir Next"/>
                <a:cs typeface="Avenir Next"/>
              </a:rPr>
              <a:t>Webcam and RTSP</a:t>
            </a:r>
          </a:p>
        </p:txBody>
      </p:sp>
      <p:sp>
        <p:nvSpPr>
          <p:cNvPr id="11" name="">
            <a:extLst xmlns:a="http://schemas.openxmlformats.org/drawingml/2006/main">
              <a:ext uri="{FF2B5EF4-FFF2-40B4-BE49-F238E27FC236}">
                <a16:creationId xmlns:a16="http://schemas.microsoft.com/office/drawing/2014/main" id="{1A453F7C-0B16-43D1-B397-500BE3FBC065}"/>
              </a:ext>
            </a:extLst>
          </p:cNvPr>
          <p:cNvSpPr>
            <a:spLocks xmlns:a="http://schemas.openxmlformats.org/drawingml/2006/main" noGrp="1"/>
          </p:cNvSpPr>
          <p:nvPr/>
        </p:nvSpPr>
        <p:spPr>
          <a:xfrm xmlns:a="http://schemas.openxmlformats.org/drawingml/2006/main">
            <a:off x="552450" y="3943350"/>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64B7FF"/>
                </a:solidFill>
                <a:latin typeface="Avenir Next"/>
                <a:ea typeface="Avenir Next"/>
                <a:cs typeface="Avenir Next"/>
              </a:defRPr>
            </a:pPr>
            <a:r>
              <a:rPr sz="750" b="1">
                <a:solidFill>
                  <a:srgbClr val="64B7FF"/>
                </a:solidFill>
                <a:latin typeface="Avenir Next"/>
                <a:ea typeface="Avenir Next"/>
                <a:cs typeface="Avenir Next"/>
              </a:rPr>
              <a:t>LATER</a:t>
            </a:r>
          </a:p>
        </p:txBody>
      </p:sp>
      <p:sp>
        <p:nvSpPr>
          <p:cNvPr id="12" name="">
            <a:extLst xmlns:a="http://schemas.openxmlformats.org/drawingml/2006/main">
              <a:ext uri="{FF2B5EF4-FFF2-40B4-BE49-F238E27FC236}">
                <a16:creationId xmlns:a16="http://schemas.microsoft.com/office/drawing/2014/main" id="{7C97B858-BEDC-4BA7-B849-DFEDC31DD307}"/>
              </a:ext>
            </a:extLst>
          </p:cNvPr>
          <p:cNvSpPr>
            <a:spLocks xmlns:a="http://schemas.openxmlformats.org/drawingml/2006/main" noGrp="1"/>
          </p:cNvSpPr>
          <p:nvPr/>
        </p:nvSpPr>
        <p:spPr>
          <a:xfrm xmlns:a="http://schemas.openxmlformats.org/drawingml/2006/main">
            <a:off x="1390650" y="3895725"/>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EDFDF6"/>
                </a:solidFill>
                <a:latin typeface="Avenir Next"/>
                <a:ea typeface="Avenir Next"/>
                <a:cs typeface="Avenir Next"/>
              </a:defRPr>
            </a:pPr>
            <a:r>
              <a:rPr sz="1500" b="1">
                <a:solidFill>
                  <a:srgbClr val="EDFDF6"/>
                </a:solidFill>
                <a:latin typeface="Avenir Next"/>
                <a:ea typeface="Avenir Next"/>
                <a:cs typeface="Avenir Next"/>
              </a:rPr>
              <a:t>Ring WebRTC/WHEP</a:t>
            </a:r>
          </a:p>
        </p:txBody>
      </p:sp>
      <p:sp>
        <p:nvSpPr>
          <p:cNvPr id="13" name="">
            <a:extLst xmlns:a="http://schemas.openxmlformats.org/drawingml/2006/main">
              <a:ext uri="{FF2B5EF4-FFF2-40B4-BE49-F238E27FC236}">
                <a16:creationId xmlns:a16="http://schemas.microsoft.com/office/drawing/2014/main" id="{C26E0FF0-BB82-4246-9AF6-56982F28D2EA}"/>
              </a:ext>
            </a:extLst>
          </p:cNvPr>
          <p:cNvSpPr>
            <a:spLocks xmlns:a="http://schemas.openxmlformats.org/drawingml/2006/main" noGrp="1"/>
          </p:cNvSpPr>
          <p:nvPr/>
        </p:nvSpPr>
        <p:spPr>
          <a:xfrm xmlns:a="http://schemas.openxmlformats.org/drawingml/2006/main">
            <a:off x="552450" y="4524375"/>
            <a:ext cx="723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750" b="1">
                <a:solidFill>
                  <a:srgbClr val="64B7FF"/>
                </a:solidFill>
                <a:latin typeface="Avenir Next"/>
                <a:ea typeface="Avenir Next"/>
                <a:cs typeface="Avenir Next"/>
              </a:defRPr>
            </a:pPr>
            <a:r>
              <a:rPr sz="750" b="1">
                <a:solidFill>
                  <a:srgbClr val="64B7FF"/>
                </a:solidFill>
                <a:latin typeface="Avenir Next"/>
                <a:ea typeface="Avenir Next"/>
                <a:cs typeface="Avenir Next"/>
              </a:rPr>
              <a:t>LATER</a:t>
            </a:r>
          </a:p>
        </p:txBody>
      </p:sp>
      <p:sp>
        <p:nvSpPr>
          <p:cNvPr id="14" name="">
            <a:extLst xmlns:a="http://schemas.openxmlformats.org/drawingml/2006/main">
              <a:ext uri="{FF2B5EF4-FFF2-40B4-BE49-F238E27FC236}">
                <a16:creationId xmlns:a16="http://schemas.microsoft.com/office/drawing/2014/main" id="{7368DA0D-614D-45BF-A220-338CC85D9845}"/>
              </a:ext>
            </a:extLst>
          </p:cNvPr>
          <p:cNvSpPr>
            <a:spLocks xmlns:a="http://schemas.openxmlformats.org/drawingml/2006/main" noGrp="1"/>
          </p:cNvSpPr>
          <p:nvPr/>
        </p:nvSpPr>
        <p:spPr>
          <a:xfrm xmlns:a="http://schemas.openxmlformats.org/drawingml/2006/main">
            <a:off x="1390650" y="4476750"/>
            <a:ext cx="361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EDFDF6"/>
                </a:solidFill>
                <a:latin typeface="Avenir Next"/>
                <a:ea typeface="Avenir Next"/>
                <a:cs typeface="Avenir Next"/>
              </a:defRPr>
            </a:pPr>
            <a:r>
              <a:rPr sz="1500" b="1">
                <a:solidFill>
                  <a:srgbClr val="EDFDF6"/>
                </a:solidFill>
                <a:latin typeface="Avenir Next"/>
                <a:ea typeface="Avenir Next"/>
                <a:cs typeface="Avenir Next"/>
              </a:rPr>
              <a:t>Nest WebRTC or RTSP</a:t>
            </a:r>
          </a:p>
        </p:txBody>
      </p:sp>
      <p:sp>
        <p:nvSpPr>
          <p:cNvPr id="15" name="">
            <a:extLst xmlns:a="http://schemas.openxmlformats.org/drawingml/2006/main">
              <a:ext uri="{FF2B5EF4-FFF2-40B4-BE49-F238E27FC236}">
                <a16:creationId xmlns:a16="http://schemas.microsoft.com/office/drawing/2014/main" id="{B229F719-770A-4CB4-83D0-D41FBE9C3DED}"/>
              </a:ext>
            </a:extLst>
          </p:cNvPr>
          <p:cNvSpPr>
            <a:spLocks xmlns:a="http://schemas.openxmlformats.org/drawingml/2006/main" noGrp="1"/>
          </p:cNvSpPr>
          <p:nvPr/>
        </p:nvSpPr>
        <p:spPr>
          <a:xfrm xmlns:a="http://schemas.openxmlformats.org/drawingml/2006/main">
            <a:off x="552450" y="5448300"/>
            <a:ext cx="4876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8AACA0"/>
                </a:solidFill>
                <a:latin typeface="Avenir Next"/>
                <a:ea typeface="Avenir Next"/>
                <a:cs typeface="Avenir Next"/>
              </a:defRPr>
            </a:pPr>
            <a:r>
              <a:rPr sz="1350" b="0">
                <a:solidFill>
                  <a:srgbClr val="8AACA0"/>
                </a:solidFill>
                <a:latin typeface="Avenir Next"/>
                <a:ea typeface="Avenir Next"/>
                <a:cs typeface="Avenir Next"/>
              </a:rPr>
              <a:t>The overlay appears in our application. The native Ring or Google Home screen remains unchanged.</a:t>
            </a:r>
          </a:p>
        </p:txBody>
      </p:sp>
      <p:sp>
        <p:nvSpPr>
          <p:cNvPr id="16" name="">
            <a:extLst xmlns:a="http://schemas.openxmlformats.org/drawingml/2006/main">
              <a:ext uri="{FF2B5EF4-FFF2-40B4-BE49-F238E27FC236}">
                <a16:creationId xmlns:a16="http://schemas.microsoft.com/office/drawing/2014/main" id="{27AA452E-55CA-403C-A1E4-B0CDD3D20B90}"/>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8AACA0"/>
                </a:solidFill>
                <a:latin typeface="Avenir Next"/>
                <a:ea typeface="Avenir Next"/>
                <a:cs typeface="Avenir Next"/>
              </a:defRPr>
            </a:pPr>
            <a:r>
              <a:rPr sz="675" b="0">
                <a:solidFill>
                  <a:srgbClr val="8AACA0"/>
                </a:solidFill>
                <a:latin typeface="Avenir Next"/>
                <a:ea typeface="Avenir Next"/>
                <a:cs typeface="Avenir Next"/>
              </a:rPr>
              <a:t>AUTHORIZED ACCESS · ACCOUNT LINKING · PRIVACY REVIEW</a:t>
            </a:r>
          </a:p>
        </p:txBody>
      </p:sp>
    </p:spTree>
    <p:extLst>
      <p:ext uri="{BB962C8B-B14F-4D97-AF65-F5344CB8AC3E}">
        <p14:creationId xmlns:p14="http://schemas.microsoft.com/office/powerpoint/2010/main" val="426810714"/>
      </p:ext>
    </p:extLst>
  </p:cSld>
</p:sld>
</file>

<file path=ppt/slides/slide9.xml><?xml version="1.0" encoding="utf-8"?>
<p:sld xmlns:p="http://schemas.openxmlformats.org/presentationml/2006/main">
  <p:cSld>
    <p:bg>
      <p:bgPr>
        <a:solidFill xmlns:a="http://schemas.openxmlformats.org/drawingml/2006/main">
          <a:srgbClr val="07141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CCF635A-E6C5-43E0-8090-8B9533A04799}"/>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41F28D"/>
                </a:solidFill>
                <a:latin typeface="Avenir Next"/>
                <a:ea typeface="Avenir Next"/>
                <a:cs typeface="Avenir Next"/>
              </a:defRPr>
            </a:pPr>
            <a:r>
              <a:rPr sz="975" b="1">
                <a:solidFill>
                  <a:srgbClr val="41F28D"/>
                </a:solidFill>
                <a:latin typeface="Avenir Next"/>
                <a:ea typeface="Avenir Next"/>
                <a:cs typeface="Avenir Next"/>
              </a:rPr>
              <a:t>LIVE DEMO</a:t>
            </a:r>
          </a:p>
        </p:txBody>
      </p:sp>
      <p:sp>
        <p:nvSpPr>
          <p:cNvPr id="2" name="">
            <a:extLst xmlns:a="http://schemas.openxmlformats.org/drawingml/2006/main">
              <a:ext uri="{FF2B5EF4-FFF2-40B4-BE49-F238E27FC236}">
                <a16:creationId xmlns:a16="http://schemas.microsoft.com/office/drawing/2014/main" id="{F3F49E3D-DD41-4A23-8A79-8F7769225410}"/>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8AACA0"/>
                </a:solidFill>
                <a:latin typeface="Avenir Next"/>
                <a:ea typeface="Avenir Next"/>
                <a:cs typeface="Avenir Next"/>
              </a:defRPr>
            </a:pPr>
            <a:r>
              <a:rPr sz="975" b="1">
                <a:solidFill>
                  <a:srgbClr val="8AACA0"/>
                </a:solidFill>
                <a:latin typeface="Avenir Next"/>
                <a:ea typeface="Avenir Next"/>
                <a:cs typeface="Avenir Next"/>
              </a:rPr>
              <a:t>09</a:t>
            </a:r>
          </a:p>
        </p:txBody>
      </p:sp>
      <p:sp>
        <p:nvSpPr>
          <p:cNvPr id="3" name="">
            <a:extLst xmlns:a="http://schemas.openxmlformats.org/drawingml/2006/main">
              <a:ext uri="{FF2B5EF4-FFF2-40B4-BE49-F238E27FC236}">
                <a16:creationId xmlns:a16="http://schemas.microsoft.com/office/drawing/2014/main" id="{5A017BE3-91FE-4354-904F-820D43371600}"/>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24443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DE7DEAD-AC95-4D72-8E93-B9578A93DDF2}"/>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3150" b="1">
                <a:solidFill>
                  <a:srgbClr val="EDFDF6"/>
                </a:solidFill>
                <a:latin typeface="Avenir Next"/>
                <a:ea typeface="Avenir Next"/>
                <a:cs typeface="Avenir Next"/>
              </a:defRPr>
            </a:pPr>
            <a:r>
              <a:rPr sz="3150" b="1">
                <a:solidFill>
                  <a:srgbClr val="EDFDF6"/>
                </a:solidFill>
                <a:latin typeface="Avenir Next"/>
                <a:ea typeface="Avenir Next"/>
                <a:cs typeface="Avenir Next"/>
              </a:rPr>
              <a:t>Watch the state change, not just the box</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d8c3036bc16d4fd9"/>
          <a:srcRect xmlns:a="http://schemas.openxmlformats.org/drawingml/2006/main" l="0" t="90" r="0" b="90"/>
          <a:stretch xmlns:a="http://schemas.openxmlformats.org/drawingml/2006/main">
            <a:fillRect l="0" t="0" r="0" b="0"/>
          </a:stretch>
        </p:blipFill>
        <p:spPr>
          <a:xfrm xmlns:a="http://schemas.openxmlformats.org/drawingml/2006/main">
            <a:off x="552450" y="1790700"/>
            <a:ext cx="7667625" cy="4305300"/>
          </a:xfrm>
          <a:prstGeom xmlns:a="http://schemas.openxmlformats.org/drawingml/2006/main" prst="roundRect">
            <a:avLst>
              <a:gd name="adj" fmla="val 3982"/>
            </a:avLst>
          </a:prstGeom>
        </p:spPr>
      </p:pic>
      <p:sp>
        <p:nvSpPr>
          <p:cNvPr id="6" name="">
            <a:extLst xmlns:a="http://schemas.openxmlformats.org/drawingml/2006/main">
              <a:ext uri="{FF2B5EF4-FFF2-40B4-BE49-F238E27FC236}">
                <a16:creationId xmlns:a16="http://schemas.microsoft.com/office/drawing/2014/main" id="{EA762F0E-1A85-4695-A239-2F90AC2D0BCE}"/>
              </a:ext>
            </a:extLst>
          </p:cNvPr>
          <p:cNvSpPr>
            <a:spLocks xmlns:a="http://schemas.openxmlformats.org/drawingml/2006/main" noGrp="1"/>
          </p:cNvSpPr>
          <p:nvPr/>
        </p:nvSpPr>
        <p:spPr>
          <a:xfrm xmlns:a="http://schemas.openxmlformats.org/drawingml/2006/main">
            <a:off x="8496300" y="1790700"/>
            <a:ext cx="3143250" cy="4305300"/>
          </a:xfrm>
          <a:prstGeom xmlns:a="http://schemas.openxmlformats.org/drawingml/2006/main" prst="roundRect">
            <a:avLst>
              <a:gd name="adj" fmla="val 5455"/>
            </a:avLst>
          </a:prstGeom>
          <a:solidFill xmlns:a="http://schemas.openxmlformats.org/drawingml/2006/main">
            <a:srgbClr val="0B1F1A"/>
          </a:solidFill>
          <a:ln xmlns:a="http://schemas.openxmlformats.org/drawingml/2006/main" w="9525">
            <a:solidFill>
              <a:srgbClr val="24443A"/>
            </a:solidFill>
          </a:ln>
        </p:spPr>
      </p:sp>
      <p:sp>
        <p:nvSpPr>
          <p:cNvPr id="7" name="">
            <a:extLst xmlns:a="http://schemas.openxmlformats.org/drawingml/2006/main">
              <a:ext uri="{FF2B5EF4-FFF2-40B4-BE49-F238E27FC236}">
                <a16:creationId xmlns:a16="http://schemas.microsoft.com/office/drawing/2014/main" id="{F3CFBE26-0E88-42B8-9F97-DE3228961FAF}"/>
              </a:ext>
            </a:extLst>
          </p:cNvPr>
          <p:cNvSpPr>
            <a:spLocks xmlns:a="http://schemas.openxmlformats.org/drawingml/2006/main" noGrp="1"/>
          </p:cNvSpPr>
          <p:nvPr/>
        </p:nvSpPr>
        <p:spPr>
          <a:xfrm xmlns:a="http://schemas.openxmlformats.org/drawingml/2006/main">
            <a:off x="8763000" y="2038350"/>
            <a:ext cx="2571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41F28D"/>
                </a:solidFill>
                <a:latin typeface="Avenir Next"/>
                <a:ea typeface="Avenir Next"/>
                <a:cs typeface="Avenir Next"/>
              </a:defRPr>
            </a:pPr>
            <a:r>
              <a:rPr sz="900" b="1">
                <a:solidFill>
                  <a:srgbClr val="41F28D"/>
                </a:solidFill>
                <a:latin typeface="Avenir Next"/>
                <a:ea typeface="Avenir Next"/>
                <a:cs typeface="Avenir Next"/>
              </a:rPr>
              <a:t>DEMO RUN</a:t>
            </a:r>
          </a:p>
        </p:txBody>
      </p:sp>
      <p:sp>
        <p:nvSpPr>
          <p:cNvPr id="8" name="">
            <a:extLst xmlns:a="http://schemas.openxmlformats.org/drawingml/2006/main">
              <a:ext uri="{FF2B5EF4-FFF2-40B4-BE49-F238E27FC236}">
                <a16:creationId xmlns:a16="http://schemas.microsoft.com/office/drawing/2014/main" id="{204DAE76-3A50-44AD-BC5C-78DAAB5D4984}"/>
              </a:ext>
            </a:extLst>
          </p:cNvPr>
          <p:cNvSpPr>
            <a:spLocks xmlns:a="http://schemas.openxmlformats.org/drawingml/2006/main" noGrp="1"/>
          </p:cNvSpPr>
          <p:nvPr/>
        </p:nvSpPr>
        <p:spPr>
          <a:xfrm xmlns:a="http://schemas.openxmlformats.org/drawingml/2006/main">
            <a:off x="8763000" y="257175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8AACA0"/>
                </a:solidFill>
                <a:latin typeface="Avenir Next"/>
                <a:ea typeface="Avenir Next"/>
                <a:cs typeface="Avenir Next"/>
              </a:defRPr>
            </a:pPr>
            <a:r>
              <a:rPr sz="1500" b="1">
                <a:solidFill>
                  <a:srgbClr val="8AACA0"/>
                </a:solidFill>
                <a:latin typeface="Avenir Next"/>
                <a:ea typeface="Avenir Next"/>
                <a:cs typeface="Avenir Next"/>
              </a:rPr>
              <a:t>01</a:t>
            </a:r>
          </a:p>
        </p:txBody>
      </p:sp>
      <p:sp>
        <p:nvSpPr>
          <p:cNvPr id="9" name="">
            <a:extLst xmlns:a="http://schemas.openxmlformats.org/drawingml/2006/main">
              <a:ext uri="{FF2B5EF4-FFF2-40B4-BE49-F238E27FC236}">
                <a16:creationId xmlns:a16="http://schemas.microsoft.com/office/drawing/2014/main" id="{726844B9-8579-4C8D-8535-160EE600C05E}"/>
              </a:ext>
            </a:extLst>
          </p:cNvPr>
          <p:cNvSpPr>
            <a:spLocks xmlns:a="http://schemas.openxmlformats.org/drawingml/2006/main" noGrp="1"/>
          </p:cNvSpPr>
          <p:nvPr/>
        </p:nvSpPr>
        <p:spPr>
          <a:xfrm xmlns:a="http://schemas.openxmlformats.org/drawingml/2006/main">
            <a:off x="9277350" y="2543175"/>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EDFDF6"/>
                </a:solidFill>
                <a:latin typeface="Avenir Next"/>
                <a:ea typeface="Avenir Next"/>
                <a:cs typeface="Avenir Next"/>
              </a:defRPr>
            </a:pPr>
            <a:r>
              <a:rPr sz="1350" b="1">
                <a:solidFill>
                  <a:srgbClr val="EDFDF6"/>
                </a:solidFill>
                <a:latin typeface="Avenir Next"/>
                <a:ea typeface="Avenir Next"/>
                <a:cs typeface="Avenir Next"/>
              </a:rPr>
              <a:t>Activate monitoring</a:t>
            </a:r>
          </a:p>
        </p:txBody>
      </p:sp>
      <p:sp>
        <p:nvSpPr>
          <p:cNvPr id="10" name="">
            <a:extLst xmlns:a="http://schemas.openxmlformats.org/drawingml/2006/main">
              <a:ext uri="{FF2B5EF4-FFF2-40B4-BE49-F238E27FC236}">
                <a16:creationId xmlns:a16="http://schemas.microsoft.com/office/drawing/2014/main" id="{9000D7D4-BB56-475F-8F15-9FB91696D720}"/>
              </a:ext>
            </a:extLst>
          </p:cNvPr>
          <p:cNvSpPr>
            <a:spLocks xmlns:a="http://schemas.openxmlformats.org/drawingml/2006/main" noGrp="1"/>
          </p:cNvSpPr>
          <p:nvPr/>
        </p:nvSpPr>
        <p:spPr>
          <a:xfrm xmlns:a="http://schemas.openxmlformats.org/drawingml/2006/main">
            <a:off x="8763000" y="324802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8AACA0"/>
                </a:solidFill>
                <a:latin typeface="Avenir Next"/>
                <a:ea typeface="Avenir Next"/>
                <a:cs typeface="Avenir Next"/>
              </a:defRPr>
            </a:pPr>
            <a:r>
              <a:rPr sz="1500" b="1">
                <a:solidFill>
                  <a:srgbClr val="8AACA0"/>
                </a:solidFill>
                <a:latin typeface="Avenir Next"/>
                <a:ea typeface="Avenir Next"/>
                <a:cs typeface="Avenir Next"/>
              </a:rPr>
              <a:t>02</a:t>
            </a:r>
          </a:p>
        </p:txBody>
      </p:sp>
      <p:sp>
        <p:nvSpPr>
          <p:cNvPr id="11" name="">
            <a:extLst xmlns:a="http://schemas.openxmlformats.org/drawingml/2006/main">
              <a:ext uri="{FF2B5EF4-FFF2-40B4-BE49-F238E27FC236}">
                <a16:creationId xmlns:a16="http://schemas.microsoft.com/office/drawing/2014/main" id="{1CE0F500-3604-4FAA-BE2C-8C94DF7393D7}"/>
              </a:ext>
            </a:extLst>
          </p:cNvPr>
          <p:cNvSpPr>
            <a:spLocks xmlns:a="http://schemas.openxmlformats.org/drawingml/2006/main" noGrp="1"/>
          </p:cNvSpPr>
          <p:nvPr/>
        </p:nvSpPr>
        <p:spPr>
          <a:xfrm xmlns:a="http://schemas.openxmlformats.org/drawingml/2006/main">
            <a:off x="9277350" y="3219450"/>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414"/>
          </a:bodyPr>
          <a:lstStyle xmlns:a="http://schemas.openxmlformats.org/drawingml/2006/main"/>
          <a:p xmlns:a="http://schemas.openxmlformats.org/drawingml/2006/main">
            <a:pPr>
              <a:defRPr sz="1350" b="1">
                <a:solidFill>
                  <a:srgbClr val="FFD447"/>
                </a:solidFill>
                <a:latin typeface="Avenir Next"/>
                <a:ea typeface="Avenir Next"/>
                <a:cs typeface="Avenir Next"/>
              </a:defRPr>
            </a:pPr>
            <a:r>
              <a:rPr sz="1350" b="1">
                <a:solidFill>
                  <a:srgbClr val="FFD447"/>
                </a:solidFill>
                <a:latin typeface="Avenir Next"/>
                <a:ea typeface="Avenir Next"/>
                <a:cs typeface="Avenir Next"/>
              </a:rPr>
              <a:t>Green becomes yellow</a:t>
            </a:r>
          </a:p>
        </p:txBody>
      </p:sp>
      <p:sp>
        <p:nvSpPr>
          <p:cNvPr id="12" name="">
            <a:extLst xmlns:a="http://schemas.openxmlformats.org/drawingml/2006/main">
              <a:ext uri="{FF2B5EF4-FFF2-40B4-BE49-F238E27FC236}">
                <a16:creationId xmlns:a16="http://schemas.microsoft.com/office/drawing/2014/main" id="{B47F3D32-17F9-4783-9E49-0B94B8BBF83B}"/>
              </a:ext>
            </a:extLst>
          </p:cNvPr>
          <p:cNvSpPr>
            <a:spLocks xmlns:a="http://schemas.openxmlformats.org/drawingml/2006/main" noGrp="1"/>
          </p:cNvSpPr>
          <p:nvPr/>
        </p:nvSpPr>
        <p:spPr>
          <a:xfrm xmlns:a="http://schemas.openxmlformats.org/drawingml/2006/main">
            <a:off x="8763000" y="3924300"/>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8AACA0"/>
                </a:solidFill>
                <a:latin typeface="Avenir Next"/>
                <a:ea typeface="Avenir Next"/>
                <a:cs typeface="Avenir Next"/>
              </a:defRPr>
            </a:pPr>
            <a:r>
              <a:rPr sz="1500" b="1">
                <a:solidFill>
                  <a:srgbClr val="8AACA0"/>
                </a:solidFill>
                <a:latin typeface="Avenir Next"/>
                <a:ea typeface="Avenir Next"/>
                <a:cs typeface="Avenir Next"/>
              </a:rPr>
              <a:t>03</a:t>
            </a:r>
          </a:p>
        </p:txBody>
      </p:sp>
      <p:sp>
        <p:nvSpPr>
          <p:cNvPr id="13" name="">
            <a:extLst xmlns:a="http://schemas.openxmlformats.org/drawingml/2006/main">
              <a:ext uri="{FF2B5EF4-FFF2-40B4-BE49-F238E27FC236}">
                <a16:creationId xmlns:a16="http://schemas.microsoft.com/office/drawing/2014/main" id="{D23A5EC2-C28F-4886-92F5-48543BB92697}"/>
              </a:ext>
            </a:extLst>
          </p:cNvPr>
          <p:cNvSpPr>
            <a:spLocks xmlns:a="http://schemas.openxmlformats.org/drawingml/2006/main" noGrp="1"/>
          </p:cNvSpPr>
          <p:nvPr/>
        </p:nvSpPr>
        <p:spPr>
          <a:xfrm xmlns:a="http://schemas.openxmlformats.org/drawingml/2006/main">
            <a:off x="9277350" y="3895725"/>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FF4E5C"/>
                </a:solidFill>
                <a:latin typeface="Avenir Next"/>
                <a:ea typeface="Avenir Next"/>
                <a:cs typeface="Avenir Next"/>
              </a:defRPr>
            </a:pPr>
            <a:r>
              <a:rPr sz="1350" b="1">
                <a:solidFill>
                  <a:srgbClr val="FF4E5C"/>
                </a:solidFill>
                <a:latin typeface="Avenir Next"/>
                <a:ea typeface="Avenir Next"/>
                <a:cs typeface="Avenir Next"/>
              </a:rPr>
              <a:t>Timer reaches red</a:t>
            </a:r>
          </a:p>
        </p:txBody>
      </p:sp>
      <p:sp>
        <p:nvSpPr>
          <p:cNvPr id="14" name="">
            <a:extLst xmlns:a="http://schemas.openxmlformats.org/drawingml/2006/main">
              <a:ext uri="{FF2B5EF4-FFF2-40B4-BE49-F238E27FC236}">
                <a16:creationId xmlns:a16="http://schemas.microsoft.com/office/drawing/2014/main" id="{777B46E1-6F65-4ED0-BA3C-BB424ED069FB}"/>
              </a:ext>
            </a:extLst>
          </p:cNvPr>
          <p:cNvSpPr>
            <a:spLocks xmlns:a="http://schemas.openxmlformats.org/drawingml/2006/main" noGrp="1"/>
          </p:cNvSpPr>
          <p:nvPr/>
        </p:nvSpPr>
        <p:spPr>
          <a:xfrm xmlns:a="http://schemas.openxmlformats.org/drawingml/2006/main">
            <a:off x="8763000" y="4600575"/>
            <a:ext cx="457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8AACA0"/>
                </a:solidFill>
                <a:latin typeface="Avenir Next"/>
                <a:ea typeface="Avenir Next"/>
                <a:cs typeface="Avenir Next"/>
              </a:defRPr>
            </a:pPr>
            <a:r>
              <a:rPr sz="1500" b="1">
                <a:solidFill>
                  <a:srgbClr val="8AACA0"/>
                </a:solidFill>
                <a:latin typeface="Avenir Next"/>
                <a:ea typeface="Avenir Next"/>
                <a:cs typeface="Avenir Next"/>
              </a:rPr>
              <a:t>04</a:t>
            </a:r>
          </a:p>
        </p:txBody>
      </p:sp>
      <p:sp>
        <p:nvSpPr>
          <p:cNvPr id="15" name="">
            <a:extLst xmlns:a="http://schemas.openxmlformats.org/drawingml/2006/main">
              <a:ext uri="{FF2B5EF4-FFF2-40B4-BE49-F238E27FC236}">
                <a16:creationId xmlns:a16="http://schemas.microsoft.com/office/drawing/2014/main" id="{26FD275C-6EC5-493B-BFD7-4A46F5468AE6}"/>
              </a:ext>
            </a:extLst>
          </p:cNvPr>
          <p:cNvSpPr>
            <a:spLocks xmlns:a="http://schemas.openxmlformats.org/drawingml/2006/main" noGrp="1"/>
          </p:cNvSpPr>
          <p:nvPr/>
        </p:nvSpPr>
        <p:spPr>
          <a:xfrm xmlns:a="http://schemas.openxmlformats.org/drawingml/2006/main">
            <a:off x="9277350" y="4572000"/>
            <a:ext cx="2038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350" b="1">
                <a:solidFill>
                  <a:srgbClr val="EDFDF6"/>
                </a:solidFill>
                <a:latin typeface="Avenir Next"/>
                <a:ea typeface="Avenir Next"/>
                <a:cs typeface="Avenir Next"/>
              </a:defRPr>
            </a:pPr>
            <a:r>
              <a:rPr sz="1350" b="1">
                <a:solidFill>
                  <a:srgbClr val="EDFDF6"/>
                </a:solidFill>
                <a:latin typeface="Avenir Next"/>
                <a:ea typeface="Avenir Next"/>
                <a:cs typeface="Avenir Next"/>
              </a:rPr>
              <a:t>Explain and replay</a:t>
            </a:r>
          </a:p>
        </p:txBody>
      </p:sp>
      <p:sp>
        <p:nvSpPr>
          <p:cNvPr id="16" name="">
            <a:extLst xmlns:a="http://schemas.openxmlformats.org/drawingml/2006/main">
              <a:ext uri="{FF2B5EF4-FFF2-40B4-BE49-F238E27FC236}">
                <a16:creationId xmlns:a16="http://schemas.microsoft.com/office/drawing/2014/main" id="{C55B107E-F408-4576-82C3-45506B45AAA3}"/>
              </a:ext>
            </a:extLst>
          </p:cNvPr>
          <p:cNvSpPr>
            <a:spLocks xmlns:a="http://schemas.openxmlformats.org/drawingml/2006/main" noGrp="1"/>
          </p:cNvSpPr>
          <p:nvPr/>
        </p:nvSpPr>
        <p:spPr>
          <a:xfrm xmlns:a="http://schemas.openxmlformats.org/drawingml/2006/main">
            <a:off x="8763000" y="5276850"/>
            <a:ext cx="2571750"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000"/>
          </a:bodyPr>
          <a:lstStyle xmlns:a="http://schemas.openxmlformats.org/drawingml/2006/main"/>
          <a:p xmlns:a="http://schemas.openxmlformats.org/drawingml/2006/main">
            <a:pPr>
              <a:defRPr sz="750" b="1">
                <a:solidFill>
                  <a:srgbClr val="41F28D"/>
                </a:solidFill>
                <a:latin typeface="Avenir Next"/>
                <a:ea typeface="Avenir Next"/>
                <a:cs typeface="Avenir Next"/>
              </a:defRPr>
            </a:pPr>
            <a:r>
              <a:rPr sz="750" b="1">
                <a:solidFill>
                  <a:srgbClr val="41F28D"/>
                </a:solidFill>
                <a:latin typeface="Avenir Next"/>
                <a:ea typeface="Avenir Next"/>
                <a:cs typeface="Avenir Next"/>
              </a:rPr>
              <a:t>STATE THE MODE</a:t>
            </a:r>
          </a:p>
        </p:txBody>
      </p:sp>
      <p:sp>
        <p:nvSpPr>
          <p:cNvPr id="17" name="">
            <a:extLst xmlns:a="http://schemas.openxmlformats.org/drawingml/2006/main">
              <a:ext uri="{FF2B5EF4-FFF2-40B4-BE49-F238E27FC236}">
                <a16:creationId xmlns:a16="http://schemas.microsoft.com/office/drawing/2014/main" id="{EBE319BF-09DD-44DA-ADDD-DC69C7E7DBDA}"/>
              </a:ext>
            </a:extLst>
          </p:cNvPr>
          <p:cNvSpPr>
            <a:spLocks xmlns:a="http://schemas.openxmlformats.org/drawingml/2006/main" noGrp="1"/>
          </p:cNvSpPr>
          <p:nvPr/>
        </p:nvSpPr>
        <p:spPr>
          <a:xfrm xmlns:a="http://schemas.openxmlformats.org/drawingml/2006/main">
            <a:off x="8763000" y="5505450"/>
            <a:ext cx="2571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833"/>
          </a:bodyPr>
          <a:lstStyle xmlns:a="http://schemas.openxmlformats.org/drawingml/2006/main"/>
          <a:p xmlns:a="http://schemas.openxmlformats.org/drawingml/2006/main">
            <a:pPr>
              <a:defRPr sz="1200" b="0">
                <a:solidFill>
                  <a:srgbClr val="EDFDF6"/>
                </a:solidFill>
                <a:latin typeface="Avenir Next"/>
                <a:ea typeface="Avenir Next"/>
                <a:cs typeface="Avenir Next"/>
              </a:defRPr>
            </a:pPr>
            <a:r>
              <a:rPr sz="1200" b="0">
                <a:solidFill>
                  <a:srgbClr val="EDFDF6"/>
                </a:solidFill>
                <a:latin typeface="Avenir Next"/>
                <a:ea typeface="Avenir Next"/>
                <a:cs typeface="Avenir Next"/>
              </a:rPr>
              <a:t>Real · recorded · scripted</a:t>
            </a:r>
          </a:p>
        </p:txBody>
      </p:sp>
      <p:sp>
        <p:nvSpPr>
          <p:cNvPr id="18" name="">
            <a:extLst xmlns:a="http://schemas.openxmlformats.org/drawingml/2006/main">
              <a:ext uri="{FF2B5EF4-FFF2-40B4-BE49-F238E27FC236}">
                <a16:creationId xmlns:a16="http://schemas.microsoft.com/office/drawing/2014/main" id="{B7653D59-B36D-4C3C-B22B-078B909F3D63}"/>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8AACA0"/>
                </a:solidFill>
                <a:latin typeface="Avenir Next"/>
                <a:ea typeface="Avenir Next"/>
                <a:cs typeface="Avenir Next"/>
              </a:defRPr>
            </a:pPr>
            <a:r>
              <a:rPr sz="675" b="0">
                <a:solidFill>
                  <a:srgbClr val="8AACA0"/>
                </a:solidFill>
                <a:latin typeface="Avenir Next"/>
                <a:ea typeface="Avenir Next"/>
                <a:cs typeface="Avenir Next"/>
              </a:rPr>
              <a:t>SWITCH TO THE LOCAL FRONTEND NOW</a:t>
            </a:r>
          </a:p>
        </p:txBody>
      </p:sp>
    </p:spTree>
    <p:extLst>
      <p:ext uri="{BB962C8B-B14F-4D97-AF65-F5344CB8AC3E}">
        <p14:creationId xmlns:p14="http://schemas.microsoft.com/office/powerpoint/2010/main" val="167091475"/>
      </p:ext>
    </p:extLst>
  </p:cSld>
</p:sld>
</file>

<file path=ppt/slides/slide10.xml><?xml version="1.0" encoding="utf-8"?>
<p:sld xmlns:p="http://schemas.openxmlformats.org/presentationml/2006/main">
  <p:cSld>
    <p:bg>
      <p:bgPr>
        <a:solidFill xmlns:a="http://schemas.openxmlformats.org/drawingml/2006/main">
          <a:srgbClr val="07141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95E4EC9A-A1D4-42BE-B7AD-5EACB7FBAB0B}"/>
              </a:ext>
            </a:extLst>
          </p:cNvPr>
          <p:cNvSpPr>
            <a:spLocks xmlns:a="http://schemas.openxmlformats.org/drawingml/2006/main" noGrp="1"/>
          </p:cNvSpPr>
          <p:nvPr/>
        </p:nvSpPr>
        <p:spPr>
          <a:xfrm xmlns:a="http://schemas.openxmlformats.org/drawingml/2006/main">
            <a:off x="552450" y="295275"/>
            <a:ext cx="495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41F28D"/>
                </a:solidFill>
                <a:latin typeface="Avenir Next"/>
                <a:ea typeface="Avenir Next"/>
                <a:cs typeface="Avenir Next"/>
              </a:defRPr>
            </a:pPr>
            <a:r>
              <a:rPr sz="975" b="1">
                <a:solidFill>
                  <a:srgbClr val="41F28D"/>
                </a:solidFill>
                <a:latin typeface="Avenir Next"/>
                <a:ea typeface="Avenir Next"/>
                <a:cs typeface="Avenir Next"/>
              </a:rPr>
              <a:t>WHAT COMES NEXT</a:t>
            </a:r>
          </a:p>
        </p:txBody>
      </p:sp>
      <p:sp>
        <p:nvSpPr>
          <p:cNvPr id="2" name="">
            <a:extLst xmlns:a="http://schemas.openxmlformats.org/drawingml/2006/main">
              <a:ext uri="{FF2B5EF4-FFF2-40B4-BE49-F238E27FC236}">
                <a16:creationId xmlns:a16="http://schemas.microsoft.com/office/drawing/2014/main" id="{0C273F0F-5D43-48C0-A9D8-C0308A3C43E0}"/>
              </a:ext>
            </a:extLst>
          </p:cNvPr>
          <p:cNvSpPr>
            <a:spLocks xmlns:a="http://schemas.openxmlformats.org/drawingml/2006/main" noGrp="1"/>
          </p:cNvSpPr>
          <p:nvPr/>
        </p:nvSpPr>
        <p:spPr>
          <a:xfrm xmlns:a="http://schemas.openxmlformats.org/drawingml/2006/main">
            <a:off x="11144250" y="295275"/>
            <a:ext cx="4953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75" b="1">
                <a:solidFill>
                  <a:srgbClr val="8AACA0"/>
                </a:solidFill>
                <a:latin typeface="Avenir Next"/>
                <a:ea typeface="Avenir Next"/>
                <a:cs typeface="Avenir Next"/>
              </a:defRPr>
            </a:pPr>
            <a:r>
              <a:rPr sz="975" b="1">
                <a:solidFill>
                  <a:srgbClr val="8AACA0"/>
                </a:solidFill>
                <a:latin typeface="Avenir Next"/>
                <a:ea typeface="Avenir Next"/>
                <a:cs typeface="Avenir Next"/>
              </a:rPr>
              <a:t>10</a:t>
            </a:r>
          </a:p>
        </p:txBody>
      </p:sp>
      <p:sp>
        <p:nvSpPr>
          <p:cNvPr id="3" name="">
            <a:extLst xmlns:a="http://schemas.openxmlformats.org/drawingml/2006/main">
              <a:ext uri="{FF2B5EF4-FFF2-40B4-BE49-F238E27FC236}">
                <a16:creationId xmlns:a16="http://schemas.microsoft.com/office/drawing/2014/main" id="{4EC9B11F-BBA8-485D-9E0D-DEA716C79973}"/>
              </a:ext>
            </a:extLst>
          </p:cNvPr>
          <p:cNvSpPr>
            <a:spLocks xmlns:a="http://schemas.openxmlformats.org/drawingml/2006/main" noGrp="1"/>
          </p:cNvSpPr>
          <p:nvPr/>
        </p:nvSpPr>
        <p:spPr>
          <a:xfrm xmlns:a="http://schemas.openxmlformats.org/drawingml/2006/main">
            <a:off x="552450" y="657225"/>
            <a:ext cx="11087100" cy="9525"/>
          </a:xfrm>
          <a:prstGeom xmlns:a="http://schemas.openxmlformats.org/drawingml/2006/main" prst="rect">
            <a:avLst/>
          </a:prstGeom>
          <a:solidFill xmlns:a="http://schemas.openxmlformats.org/drawingml/2006/main">
            <a:srgbClr val="24443A"/>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49AB1FD-62EF-4920-9ADC-22FF13286B2B}"/>
              </a:ext>
            </a:extLst>
          </p:cNvPr>
          <p:cNvSpPr>
            <a:spLocks xmlns:a="http://schemas.openxmlformats.org/drawingml/2006/main" noGrp="1"/>
          </p:cNvSpPr>
          <p:nvPr/>
        </p:nvSpPr>
        <p:spPr>
          <a:xfrm xmlns:a="http://schemas.openxmlformats.org/drawingml/2006/main">
            <a:off x="552450" y="876300"/>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54"/>
          </a:bodyPr>
          <a:lstStyle xmlns:a="http://schemas.openxmlformats.org/drawingml/2006/main"/>
          <a:p xmlns:a="http://schemas.openxmlformats.org/drawingml/2006/main">
            <a:pPr>
              <a:defRPr sz="3150" b="1">
                <a:solidFill>
                  <a:srgbClr val="EDFDF6"/>
                </a:solidFill>
                <a:latin typeface="Avenir Next"/>
                <a:ea typeface="Avenir Next"/>
                <a:cs typeface="Avenir Next"/>
              </a:defRPr>
            </a:pPr>
            <a:r>
              <a:rPr sz="3150" b="1">
                <a:solidFill>
                  <a:srgbClr val="EDFDF6"/>
                </a:solidFill>
                <a:latin typeface="Avenir Next"/>
                <a:ea typeface="Avenir Next"/>
                <a:cs typeface="Avenir Next"/>
              </a:rPr>
              <a:t>The next test is real footage, separated by recording session</a:t>
            </a:r>
          </a:p>
        </p:txBody>
      </p:sp>
      <p:sp>
        <p:nvSpPr>
          <p:cNvPr id="5" name="">
            <a:extLst xmlns:a="http://schemas.openxmlformats.org/drawingml/2006/main">
              <a:ext uri="{FF2B5EF4-FFF2-40B4-BE49-F238E27FC236}">
                <a16:creationId xmlns:a16="http://schemas.microsoft.com/office/drawing/2014/main" id="{0F43B452-2023-452D-A46B-2693D672CE38}"/>
              </a:ext>
            </a:extLst>
          </p:cNvPr>
          <p:cNvSpPr>
            <a:spLocks xmlns:a="http://schemas.openxmlformats.org/drawingml/2006/main" noGrp="1"/>
          </p:cNvSpPr>
          <p:nvPr/>
        </p:nvSpPr>
        <p:spPr>
          <a:xfrm xmlns:a="http://schemas.openxmlformats.org/drawingml/2006/main">
            <a:off x="552450" y="19240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FF4E5C"/>
                </a:solidFill>
                <a:latin typeface="Avenir Next"/>
                <a:ea typeface="Avenir Next"/>
                <a:cs typeface="Avenir Next"/>
              </a:defRPr>
            </a:pPr>
            <a:r>
              <a:rPr sz="900" b="1">
                <a:solidFill>
                  <a:srgbClr val="FF4E5C"/>
                </a:solidFill>
                <a:latin typeface="Avenir Next"/>
                <a:ea typeface="Avenir Next"/>
                <a:cs typeface="Avenir Next"/>
              </a:rPr>
              <a:t>LIMITS TODAY</a:t>
            </a:r>
          </a:p>
        </p:txBody>
      </p:sp>
      <p:sp>
        <p:nvSpPr>
          <p:cNvPr id="6" name="">
            <a:extLst xmlns:a="http://schemas.openxmlformats.org/drawingml/2006/main">
              <a:ext uri="{FF2B5EF4-FFF2-40B4-BE49-F238E27FC236}">
                <a16:creationId xmlns:a16="http://schemas.microsoft.com/office/drawing/2014/main" id="{1FD49DC3-DC08-45B0-B1D6-802D689FB8F2}"/>
              </a:ext>
            </a:extLst>
          </p:cNvPr>
          <p:cNvSpPr>
            <a:spLocks xmlns:a="http://schemas.openxmlformats.org/drawingml/2006/main" noGrp="1"/>
          </p:cNvSpPr>
          <p:nvPr/>
        </p:nvSpPr>
        <p:spPr>
          <a:xfrm xmlns:a="http://schemas.openxmlformats.org/drawingml/2006/main">
            <a:off x="552450" y="236220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DFDF6"/>
                </a:solidFill>
                <a:latin typeface="Avenir Next"/>
                <a:ea typeface="Avenir Next"/>
                <a:cs typeface="Avenir Next"/>
              </a:defRPr>
            </a:pPr>
            <a:r>
              <a:rPr sz="1800" b="1">
                <a:solidFill>
                  <a:srgbClr val="EDFDF6"/>
                </a:solidFill>
                <a:latin typeface="Avenir Next"/>
                <a:ea typeface="Avenir Next"/>
                <a:cs typeface="Avenir Next"/>
              </a:rPr>
              <a:t>Synthetic accuracy only</a:t>
            </a:r>
          </a:p>
        </p:txBody>
      </p:sp>
      <p:sp>
        <p:nvSpPr>
          <p:cNvPr id="7" name="">
            <a:extLst xmlns:a="http://schemas.openxmlformats.org/drawingml/2006/main">
              <a:ext uri="{FF2B5EF4-FFF2-40B4-BE49-F238E27FC236}">
                <a16:creationId xmlns:a16="http://schemas.microsoft.com/office/drawing/2014/main" id="{919179F0-2670-4C3B-B391-AEBBD8BFC8EE}"/>
              </a:ext>
            </a:extLst>
          </p:cNvPr>
          <p:cNvSpPr>
            <a:spLocks xmlns:a="http://schemas.openxmlformats.org/drawingml/2006/main" noGrp="1"/>
          </p:cNvSpPr>
          <p:nvPr/>
        </p:nvSpPr>
        <p:spPr>
          <a:xfrm xmlns:a="http://schemas.openxmlformats.org/drawingml/2006/main">
            <a:off x="552450" y="2857500"/>
            <a:ext cx="4476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8AACA0"/>
                </a:solidFill>
                <a:latin typeface="Avenir Next"/>
                <a:ea typeface="Avenir Next"/>
                <a:cs typeface="Avenir Next"/>
              </a:defRPr>
            </a:pPr>
            <a:r>
              <a:rPr sz="1350" b="0">
                <a:solidFill>
                  <a:srgbClr val="8AACA0"/>
                </a:solidFill>
                <a:latin typeface="Avenir Next"/>
                <a:ea typeface="Avenir Next"/>
                <a:cs typeface="Avenir Next"/>
              </a:rPr>
              <a:t>No real glare, splash, compression or crowded-pool occlusion</a:t>
            </a:r>
          </a:p>
        </p:txBody>
      </p:sp>
      <p:sp>
        <p:nvSpPr>
          <p:cNvPr id="8" name="">
            <a:extLst xmlns:a="http://schemas.openxmlformats.org/drawingml/2006/main">
              <a:ext uri="{FF2B5EF4-FFF2-40B4-BE49-F238E27FC236}">
                <a16:creationId xmlns:a16="http://schemas.microsoft.com/office/drawing/2014/main" id="{2051470D-7F4D-4181-B6ED-1FB7370111BD}"/>
              </a:ext>
            </a:extLst>
          </p:cNvPr>
          <p:cNvSpPr>
            <a:spLocks xmlns:a="http://schemas.openxmlformats.org/drawingml/2006/main" noGrp="1"/>
          </p:cNvSpPr>
          <p:nvPr/>
        </p:nvSpPr>
        <p:spPr>
          <a:xfrm xmlns:a="http://schemas.openxmlformats.org/drawingml/2006/main">
            <a:off x="552450" y="376237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DFDF6"/>
                </a:solidFill>
                <a:latin typeface="Avenir Next"/>
                <a:ea typeface="Avenir Next"/>
                <a:cs typeface="Avenir Next"/>
              </a:defRPr>
            </a:pPr>
            <a:r>
              <a:rPr sz="1800" b="1">
                <a:solidFill>
                  <a:srgbClr val="EDFDF6"/>
                </a:solidFill>
                <a:latin typeface="Avenir Next"/>
                <a:ea typeface="Avenir Next"/>
                <a:cs typeface="Avenir Next"/>
              </a:rPr>
              <a:t>One person class</a:t>
            </a:r>
          </a:p>
        </p:txBody>
      </p:sp>
      <p:sp>
        <p:nvSpPr>
          <p:cNvPr id="9" name="">
            <a:extLst xmlns:a="http://schemas.openxmlformats.org/drawingml/2006/main">
              <a:ext uri="{FF2B5EF4-FFF2-40B4-BE49-F238E27FC236}">
                <a16:creationId xmlns:a16="http://schemas.microsoft.com/office/drawing/2014/main" id="{8BF4EA74-2099-4077-BCD7-2AA5D6F40DC8}"/>
              </a:ext>
            </a:extLst>
          </p:cNvPr>
          <p:cNvSpPr>
            <a:spLocks xmlns:a="http://schemas.openxmlformats.org/drawingml/2006/main" noGrp="1"/>
          </p:cNvSpPr>
          <p:nvPr/>
        </p:nvSpPr>
        <p:spPr>
          <a:xfrm xmlns:a="http://schemas.openxmlformats.org/drawingml/2006/main">
            <a:off x="552450" y="4257675"/>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8AACA0"/>
                </a:solidFill>
                <a:latin typeface="Avenir Next"/>
                <a:ea typeface="Avenir Next"/>
                <a:cs typeface="Avenir Next"/>
              </a:defRPr>
            </a:pPr>
            <a:r>
              <a:rPr sz="1350" b="0">
                <a:solidFill>
                  <a:srgbClr val="8AACA0"/>
                </a:solidFill>
                <a:latin typeface="Avenir Next"/>
                <a:ea typeface="Avenir Next"/>
                <a:cs typeface="Avenir Next"/>
              </a:rPr>
              <a:t>No age-specific claim and no medical diagnosis</a:t>
            </a:r>
          </a:p>
        </p:txBody>
      </p:sp>
      <p:sp>
        <p:nvSpPr>
          <p:cNvPr id="10" name="">
            <a:extLst xmlns:a="http://schemas.openxmlformats.org/drawingml/2006/main">
              <a:ext uri="{FF2B5EF4-FFF2-40B4-BE49-F238E27FC236}">
                <a16:creationId xmlns:a16="http://schemas.microsoft.com/office/drawing/2014/main" id="{C61A2C32-7329-48A5-9A0E-7D24D0F523EE}"/>
              </a:ext>
            </a:extLst>
          </p:cNvPr>
          <p:cNvSpPr>
            <a:spLocks xmlns:a="http://schemas.openxmlformats.org/drawingml/2006/main" noGrp="1"/>
          </p:cNvSpPr>
          <p:nvPr/>
        </p:nvSpPr>
        <p:spPr>
          <a:xfrm xmlns:a="http://schemas.openxmlformats.org/drawingml/2006/main">
            <a:off x="5924550" y="1866900"/>
            <a:ext cx="19050" cy="3429000"/>
          </a:xfrm>
          <a:prstGeom xmlns:a="http://schemas.openxmlformats.org/drawingml/2006/main" prst="rect">
            <a:avLst/>
          </a:prstGeom>
          <a:solidFill xmlns:a="http://schemas.openxmlformats.org/drawingml/2006/main">
            <a:srgbClr val="24443A"/>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E012C64-1EF8-42E2-8C63-06FEBA7B9796}"/>
              </a:ext>
            </a:extLst>
          </p:cNvPr>
          <p:cNvSpPr>
            <a:spLocks xmlns:a="http://schemas.openxmlformats.org/drawingml/2006/main" noGrp="1"/>
          </p:cNvSpPr>
          <p:nvPr/>
        </p:nvSpPr>
        <p:spPr>
          <a:xfrm xmlns:a="http://schemas.openxmlformats.org/drawingml/2006/main">
            <a:off x="6515100" y="1924050"/>
            <a:ext cx="3143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900" b="1">
                <a:solidFill>
                  <a:srgbClr val="41F28D"/>
                </a:solidFill>
                <a:latin typeface="Avenir Next"/>
                <a:ea typeface="Avenir Next"/>
                <a:cs typeface="Avenir Next"/>
              </a:defRPr>
            </a:pPr>
            <a:r>
              <a:rPr sz="900" b="1">
                <a:solidFill>
                  <a:srgbClr val="41F28D"/>
                </a:solidFill>
                <a:latin typeface="Avenir Next"/>
                <a:ea typeface="Avenir Next"/>
                <a:cs typeface="Avenir Next"/>
              </a:rPr>
              <a:t>NEXT EXPERIMENT</a:t>
            </a:r>
          </a:p>
        </p:txBody>
      </p:sp>
      <p:sp>
        <p:nvSpPr>
          <p:cNvPr id="12" name="">
            <a:extLst xmlns:a="http://schemas.openxmlformats.org/drawingml/2006/main">
              <a:ext uri="{FF2B5EF4-FFF2-40B4-BE49-F238E27FC236}">
                <a16:creationId xmlns:a16="http://schemas.microsoft.com/office/drawing/2014/main" id="{718BF72D-4C7A-4FBA-BFFE-84107BA7C913}"/>
              </a:ext>
            </a:extLst>
          </p:cNvPr>
          <p:cNvSpPr>
            <a:spLocks xmlns:a="http://schemas.openxmlformats.org/drawingml/2006/main" noGrp="1"/>
          </p:cNvSpPr>
          <p:nvPr/>
        </p:nvSpPr>
        <p:spPr>
          <a:xfrm xmlns:a="http://schemas.openxmlformats.org/drawingml/2006/main">
            <a:off x="6515100" y="2362200"/>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DFDF6"/>
                </a:solidFill>
                <a:latin typeface="Avenir Next"/>
                <a:ea typeface="Avenir Next"/>
                <a:cs typeface="Avenir Next"/>
              </a:defRPr>
            </a:pPr>
            <a:r>
              <a:rPr sz="1800" b="1">
                <a:solidFill>
                  <a:srgbClr val="EDFDF6"/>
                </a:solidFill>
                <a:latin typeface="Avenir Next"/>
                <a:ea typeface="Avenir Next"/>
                <a:cs typeface="Avenir Next"/>
              </a:rPr>
              <a:t>Record and label real pool clips</a:t>
            </a:r>
          </a:p>
        </p:txBody>
      </p:sp>
      <p:sp>
        <p:nvSpPr>
          <p:cNvPr id="13" name="">
            <a:extLst xmlns:a="http://schemas.openxmlformats.org/drawingml/2006/main">
              <a:ext uri="{FF2B5EF4-FFF2-40B4-BE49-F238E27FC236}">
                <a16:creationId xmlns:a16="http://schemas.microsoft.com/office/drawing/2014/main" id="{ABAB4380-96B9-465E-9696-D65DAA073BF1}"/>
              </a:ext>
            </a:extLst>
          </p:cNvPr>
          <p:cNvSpPr>
            <a:spLocks xmlns:a="http://schemas.openxmlformats.org/drawingml/2006/main" noGrp="1"/>
          </p:cNvSpPr>
          <p:nvPr/>
        </p:nvSpPr>
        <p:spPr>
          <a:xfrm xmlns:a="http://schemas.openxmlformats.org/drawingml/2006/main">
            <a:off x="6515100" y="2857500"/>
            <a:ext cx="4572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8AACA0"/>
                </a:solidFill>
                <a:latin typeface="Avenir Next"/>
                <a:ea typeface="Avenir Next"/>
                <a:cs typeface="Avenir Next"/>
              </a:defRPr>
            </a:pPr>
            <a:r>
              <a:rPr sz="1350" b="0">
                <a:solidFill>
                  <a:srgbClr val="8AACA0"/>
                </a:solidFill>
                <a:latin typeface="Avenir Next"/>
                <a:ea typeface="Avenir Next"/>
                <a:cs typeface="Avenir Next"/>
              </a:rPr>
              <a:t>Fine-tune on training sessions and test only on separate sessions</a:t>
            </a:r>
          </a:p>
        </p:txBody>
      </p:sp>
      <p:sp>
        <p:nvSpPr>
          <p:cNvPr id="14" name="">
            <a:extLst xmlns:a="http://schemas.openxmlformats.org/drawingml/2006/main">
              <a:ext uri="{FF2B5EF4-FFF2-40B4-BE49-F238E27FC236}">
                <a16:creationId xmlns:a16="http://schemas.microsoft.com/office/drawing/2014/main" id="{292426AB-DCB5-447B-BD1B-C22B1F35AB20}"/>
              </a:ext>
            </a:extLst>
          </p:cNvPr>
          <p:cNvSpPr>
            <a:spLocks xmlns:a="http://schemas.openxmlformats.org/drawingml/2006/main" noGrp="1"/>
          </p:cNvSpPr>
          <p:nvPr/>
        </p:nvSpPr>
        <p:spPr>
          <a:xfrm xmlns:a="http://schemas.openxmlformats.org/drawingml/2006/main">
            <a:off x="6515100" y="37623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EDFDF6"/>
                </a:solidFill>
                <a:latin typeface="Avenir Next"/>
                <a:ea typeface="Avenir Next"/>
                <a:cs typeface="Avenir Next"/>
              </a:defRPr>
            </a:pPr>
            <a:r>
              <a:rPr sz="1800" b="1">
                <a:solidFill>
                  <a:srgbClr val="EDFDF6"/>
                </a:solidFill>
                <a:latin typeface="Avenir Next"/>
                <a:ea typeface="Avenir Next"/>
                <a:cs typeface="Avenir Next"/>
              </a:rPr>
              <a:t>Measure operational errors</a:t>
            </a:r>
          </a:p>
        </p:txBody>
      </p:sp>
      <p:sp>
        <p:nvSpPr>
          <p:cNvPr id="15" name="">
            <a:extLst xmlns:a="http://schemas.openxmlformats.org/drawingml/2006/main">
              <a:ext uri="{FF2B5EF4-FFF2-40B4-BE49-F238E27FC236}">
                <a16:creationId xmlns:a16="http://schemas.microsoft.com/office/drawing/2014/main" id="{E65B4204-EA88-4C87-88C3-A91B511FA046}"/>
              </a:ext>
            </a:extLst>
          </p:cNvPr>
          <p:cNvSpPr>
            <a:spLocks xmlns:a="http://schemas.openxmlformats.org/drawingml/2006/main" noGrp="1"/>
          </p:cNvSpPr>
          <p:nvPr/>
        </p:nvSpPr>
        <p:spPr>
          <a:xfrm xmlns:a="http://schemas.openxmlformats.org/drawingml/2006/main">
            <a:off x="6515100" y="4257675"/>
            <a:ext cx="4572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350" b="0">
                <a:solidFill>
                  <a:srgbClr val="8AACA0"/>
                </a:solidFill>
                <a:latin typeface="Avenir Next"/>
                <a:ea typeface="Avenir Next"/>
                <a:cs typeface="Avenir Next"/>
              </a:defRPr>
            </a:pPr>
            <a:r>
              <a:rPr sz="1350" b="0">
                <a:solidFill>
                  <a:srgbClr val="8AACA0"/>
                </a:solidFill>
                <a:latin typeface="Avenir Next"/>
                <a:ea typeface="Avenir Next"/>
                <a:cs typeface="Avenir Next"/>
              </a:rPr>
              <a:t>Detection delay · missed events · false warnings per hour · ID continuity</a:t>
            </a:r>
          </a:p>
        </p:txBody>
      </p:sp>
      <p:sp>
        <p:nvSpPr>
          <p:cNvPr id="16" name="">
            <a:extLst xmlns:a="http://schemas.openxmlformats.org/drawingml/2006/main">
              <a:ext uri="{FF2B5EF4-FFF2-40B4-BE49-F238E27FC236}">
                <a16:creationId xmlns:a16="http://schemas.microsoft.com/office/drawing/2014/main" id="{D59973A3-3133-4C98-9C8E-3DA4333A1691}"/>
              </a:ext>
            </a:extLst>
          </p:cNvPr>
          <p:cNvSpPr>
            <a:spLocks xmlns:a="http://schemas.openxmlformats.org/drawingml/2006/main" noGrp="1"/>
          </p:cNvSpPr>
          <p:nvPr/>
        </p:nvSpPr>
        <p:spPr>
          <a:xfrm xmlns:a="http://schemas.openxmlformats.org/drawingml/2006/main">
            <a:off x="552450" y="5600700"/>
            <a:ext cx="11087100" cy="609600"/>
          </a:xfrm>
          <a:prstGeom xmlns:a="http://schemas.openxmlformats.org/drawingml/2006/main" prst="roundRect">
            <a:avLst>
              <a:gd name="adj" fmla="val 21875"/>
            </a:avLst>
          </a:prstGeom>
          <a:solidFill xmlns:a="http://schemas.openxmlformats.org/drawingml/2006/main">
            <a:srgbClr val="102822"/>
          </a:solidFill>
          <a:ln xmlns:a="http://schemas.openxmlformats.org/drawingml/2006/main" w="9525">
            <a:solidFill>
              <a:srgbClr val="41F28D"/>
            </a:solidFill>
          </a:ln>
        </p:spPr>
      </p:sp>
      <p:sp>
        <p:nvSpPr>
          <p:cNvPr id="17" name="">
            <a:extLst xmlns:a="http://schemas.openxmlformats.org/drawingml/2006/main">
              <a:ext uri="{FF2B5EF4-FFF2-40B4-BE49-F238E27FC236}">
                <a16:creationId xmlns:a16="http://schemas.microsoft.com/office/drawing/2014/main" id="{8FB1925C-7FD8-4D5C-9AC9-A86A35081BFE}"/>
              </a:ext>
            </a:extLst>
          </p:cNvPr>
          <p:cNvSpPr>
            <a:spLocks xmlns:a="http://schemas.openxmlformats.org/drawingml/2006/main" noGrp="1"/>
          </p:cNvSpPr>
          <p:nvPr/>
        </p:nvSpPr>
        <p:spPr>
          <a:xfrm xmlns:a="http://schemas.openxmlformats.org/drawingml/2006/main">
            <a:off x="800100" y="5705475"/>
            <a:ext cx="10591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EDFDF6"/>
                </a:solidFill>
                <a:latin typeface="Avenir Next"/>
                <a:ea typeface="Avenir Next"/>
                <a:cs typeface="Avenir Next"/>
              </a:defRPr>
            </a:pPr>
            <a:r>
              <a:rPr sz="1500" b="1">
                <a:solidFill>
                  <a:srgbClr val="EDFDF6"/>
                </a:solidFill>
                <a:latin typeface="Avenir Next"/>
                <a:ea typeface="Avenir Next"/>
                <a:cs typeface="Avenir Next"/>
              </a:rPr>
              <a:t>A supervision aid. It does not replace watching children, pool fences, or lifeguards.</a:t>
            </a:r>
          </a:p>
        </p:txBody>
      </p:sp>
      <p:sp>
        <p:nvSpPr>
          <p:cNvPr id="18" name="">
            <a:extLst xmlns:a="http://schemas.openxmlformats.org/drawingml/2006/main">
              <a:ext uri="{FF2B5EF4-FFF2-40B4-BE49-F238E27FC236}">
                <a16:creationId xmlns:a16="http://schemas.microsoft.com/office/drawing/2014/main" id="{B5261E38-7F80-47E3-B649-94312714795B}"/>
              </a:ext>
            </a:extLst>
          </p:cNvPr>
          <p:cNvSpPr>
            <a:spLocks xmlns:a="http://schemas.openxmlformats.org/drawingml/2006/main" noGrp="1"/>
          </p:cNvSpPr>
          <p:nvPr/>
        </p:nvSpPr>
        <p:spPr>
          <a:xfrm xmlns:a="http://schemas.openxmlformats.org/drawingml/2006/main">
            <a:off x="552450" y="6515100"/>
            <a:ext cx="9525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7778"/>
          </a:bodyPr>
          <a:lstStyle xmlns:a="http://schemas.openxmlformats.org/drawingml/2006/main"/>
          <a:p xmlns:a="http://schemas.openxmlformats.org/drawingml/2006/main">
            <a:pPr>
              <a:defRPr sz="675" b="0">
                <a:solidFill>
                  <a:srgbClr val="8AACA0"/>
                </a:solidFill>
                <a:latin typeface="Avenir Next"/>
                <a:ea typeface="Avenir Next"/>
                <a:cs typeface="Avenir Next"/>
              </a:defRPr>
            </a:pPr>
            <a:r>
              <a:rPr sz="675" b="0">
                <a:solidFill>
                  <a:srgbClr val="8AACA0"/>
                </a:solidFill>
                <a:latin typeface="Avenir Next"/>
                <a:ea typeface="Avenir Next"/>
                <a:cs typeface="Avenir Next"/>
              </a:rPr>
              <a:t>LIFE VISION · SECOND SET OF EYES, NOT A SAFETY GUARANTEE</a:t>
            </a:r>
          </a:p>
        </p:txBody>
      </p:sp>
    </p:spTree>
    <p:extLst>
      <p:ext uri="{BB962C8B-B14F-4D97-AF65-F5344CB8AC3E}">
        <p14:creationId xmlns:p14="http://schemas.microsoft.com/office/powerpoint/2010/main" val="17591359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2026-09-27T02:57:57.6130000Z</dcterms:created>
  <dcterms:modified xsi:type="dcterms:W3CDTF">2026-09-27T02:57:57.6130000Z</dcterms:modified>
</coreProperties>
</file>